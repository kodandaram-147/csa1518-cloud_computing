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0" autoAdjust="0"/>
    <p:restoredTop sz="94610"/>
  </p:normalViewPr>
  <p:slideViewPr>
    <p:cSldViewPr snapToGrid="0" snapToObjects="1">
      <p:cViewPr varScale="1">
        <p:scale>
          <a:sx n="75" d="100"/>
          <a:sy n="75" d="100"/>
        </p:scale>
        <p:origin x="72" y="6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1885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outlines the objectives of the presentation. We will define IAM, explain why it matters in the cloud, walk through key access control concepts, and finish with best practices for protecting cloud resources.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IAM is the framework that manages digital identities and their access rights. The AAA model captures the lifecycle: first the user is identified, then authenticated, then authorized for specific actions, and finally their activity is accounted for through audit logs.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foundational IAM building blocks. An identity has an account, is authenticated, then authorized against policies and roles. Principles like least privilege, RBAC, ABAC, MFA, SSO and federation are combined to enforce secure and scalable access.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how a user request flows through the IAM pipeline: from login portal, to an identity provider, through authentication and MFA, into the central IAM service where policies are evaluated, and finally to specific cloud resources like VMs, databases, storage, and applications.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access attempt travels through six steps: request, identify, authenticate with MFA, evaluate policies, receive a permit or deny decision, and finally access the resource. This deterministic flow is what makes cloud access auditable and repeatable.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cloud authentication rarely relies on passwords alone. MFA, biometrics, OTP, security keys, SSO and federation are combined to balance strong security with a smooth user experience. Passwordless techniques are becoming the industry direction.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Authorization models decide what an authenticated user can do. RBAC is easiest for structured teams, ABAC scales for dynamic scenarios, policy-based systems provide central control, least privilege limits damage, and Zero Trust unifies these into continuous verification.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IAM provides more than authentication — it strengthens compliance, reduces insider risk, gives centralized visibility, and enables safe remote work. Detailed audit logs turn every request into evidence for governance teams.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major cloud provider offers a mature IAM service. AWS uses users/roles/policies, Microsoft Entra ID centers on conditional access, Google Cloud uses a hierarchical principal-role-resource model, and IBM Cloud groups access via access groups and service IDs.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a university cloud portal. Students, faculty and administrators sign in with the same credentials, but IAM enforces different roles: students view assignments, faculty upload marks, and administrators manage users. This is RBAC applied to a real everyday system.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IAM is a foundational cloud security control. It faces challenges around configuration complexity and identity attacks, but the future is exciting — passwordless, AI-driven, and Zero Trust. IAM remains essential for every organization operating in the cloud.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official references consulted for this presentation. All content is based on vendor documentation from AWS, Microsoft, Google, IBM, and the NIST Digital Identity Guidelines.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1E5AA8">
              <a:alpha val="40000"/>
            </a:srgbClr>
          </a:solidFill>
          <a:ln w="12700">
            <a:solidFill>
              <a:srgbClr val="1E5AA8">
                <a:alpha val="0"/>
              </a:srgbClr>
            </a:solidFill>
            <a:prstDash val="solid"/>
          </a:ln>
        </p:spPr>
        <p:txBody>
          <a:bodyPr/>
          <a:lstStyle/>
          <a:p>
            <a:endParaRPr lang="en-IN"/>
          </a:p>
        </p:txBody>
      </p:sp>
      <p:sp>
        <p:nvSpPr>
          <p:cNvPr id="3" name="Shape 1"/>
          <p:cNvSpPr/>
          <p:nvPr/>
        </p:nvSpPr>
        <p:spPr>
          <a:xfrm>
            <a:off x="9418320" y="4114800"/>
            <a:ext cx="4572000" cy="4572000"/>
          </a:xfrm>
          <a:prstGeom prst="ellipse">
            <a:avLst/>
          </a:prstGeom>
          <a:solidFill>
            <a:srgbClr val="2E86DE">
              <a:alpha val="30000"/>
            </a:srgbClr>
          </a:solidFill>
          <a:ln w="12700">
            <a:solidFill>
              <a:srgbClr val="2E86DE">
                <a:alpha val="0"/>
              </a:srgbClr>
            </a:solidFill>
            <a:prstDash val="solid"/>
          </a:ln>
        </p:spPr>
        <p:txBody>
          <a:bodyPr/>
          <a:lstStyle/>
          <a:p>
            <a:endParaRPr lang="en-IN"/>
          </a:p>
        </p:txBody>
      </p:sp>
      <p:sp>
        <p:nvSpPr>
          <p:cNvPr id="4" name="Shape 2"/>
          <p:cNvSpPr/>
          <p:nvPr/>
        </p:nvSpPr>
        <p:spPr>
          <a:xfrm>
            <a:off x="7589520" y="-1371600"/>
            <a:ext cx="2743200" cy="2743200"/>
          </a:xfrm>
          <a:prstGeom prst="ellipse">
            <a:avLst/>
          </a:prstGeom>
          <a:solidFill>
            <a:srgbClr val="2E86DE">
              <a:alpha val="20000"/>
            </a:srgbClr>
          </a:solidFill>
          <a:ln w="12700">
            <a:solidFill>
              <a:srgbClr val="2E86DE">
                <a:alpha val="0"/>
              </a:srgbClr>
            </a:solidFill>
            <a:prstDash val="solid"/>
          </a:ln>
        </p:spPr>
        <p:txBody>
          <a:bodyPr/>
          <a:lstStyle/>
          <a:p>
            <a:endParaRPr lang="en-IN"/>
          </a:p>
        </p:txBody>
      </p:sp>
      <p:sp>
        <p:nvSpPr>
          <p:cNvPr id="5" name="Shape 3"/>
          <p:cNvSpPr/>
          <p:nvPr/>
        </p:nvSpPr>
        <p:spPr>
          <a:xfrm>
            <a:off x="1005840" y="1828800"/>
            <a:ext cx="914400" cy="914400"/>
          </a:xfrm>
          <a:prstGeom prst="ellipse">
            <a:avLst/>
          </a:prstGeom>
          <a:solidFill>
            <a:srgbClr val="FFFFFF"/>
          </a:solidFill>
          <a:ln w="12700">
            <a:solidFill>
              <a:srgbClr val="FFFFFF"/>
            </a:solidFill>
            <a:prstDash val="solid"/>
          </a:ln>
        </p:spPr>
        <p:txBody>
          <a:bodyPr/>
          <a:lstStyle/>
          <a:p>
            <a:endParaRPr lang="en-IN"/>
          </a:p>
        </p:txBody>
      </p:sp>
      <p:sp>
        <p:nvSpPr>
          <p:cNvPr id="6" name="Shape 4"/>
          <p:cNvSpPr/>
          <p:nvPr/>
        </p:nvSpPr>
        <p:spPr>
          <a:xfrm>
            <a:off x="1645920" y="1600200"/>
            <a:ext cx="1005840" cy="1005840"/>
          </a:xfrm>
          <a:prstGeom prst="ellipse">
            <a:avLst/>
          </a:prstGeom>
          <a:solidFill>
            <a:srgbClr val="FFFFFF"/>
          </a:solidFill>
          <a:ln w="12700">
            <a:solidFill>
              <a:srgbClr val="FFFFFF"/>
            </a:solidFill>
            <a:prstDash val="solid"/>
          </a:ln>
        </p:spPr>
        <p:txBody>
          <a:bodyPr/>
          <a:lstStyle/>
          <a:p>
            <a:endParaRPr lang="en-IN"/>
          </a:p>
        </p:txBody>
      </p:sp>
      <p:sp>
        <p:nvSpPr>
          <p:cNvPr id="7" name="Shape 5"/>
          <p:cNvSpPr/>
          <p:nvPr/>
        </p:nvSpPr>
        <p:spPr>
          <a:xfrm>
            <a:off x="2377440" y="1743456"/>
            <a:ext cx="822960" cy="822960"/>
          </a:xfrm>
          <a:prstGeom prst="ellipse">
            <a:avLst/>
          </a:prstGeom>
          <a:solidFill>
            <a:srgbClr val="FFFFFF"/>
          </a:solidFill>
          <a:ln w="12700">
            <a:solidFill>
              <a:srgbClr val="FFFFFF"/>
            </a:solidFill>
            <a:prstDash val="solid"/>
          </a:ln>
        </p:spPr>
        <p:txBody>
          <a:bodyPr/>
          <a:lstStyle/>
          <a:p>
            <a:endParaRPr lang="en-IN"/>
          </a:p>
        </p:txBody>
      </p:sp>
      <p:sp>
        <p:nvSpPr>
          <p:cNvPr id="8" name="Shape 6"/>
          <p:cNvSpPr/>
          <p:nvPr/>
        </p:nvSpPr>
        <p:spPr>
          <a:xfrm>
            <a:off x="1188720" y="2414016"/>
            <a:ext cx="1828800" cy="457200"/>
          </a:xfrm>
          <a:prstGeom prst="rect">
            <a:avLst/>
          </a:prstGeom>
          <a:solidFill>
            <a:srgbClr val="FFFFFF"/>
          </a:solidFill>
          <a:ln w="12700">
            <a:solidFill>
              <a:srgbClr val="FFFFFF"/>
            </a:solidFill>
            <a:prstDash val="solid"/>
          </a:ln>
        </p:spPr>
        <p:txBody>
          <a:bodyPr/>
          <a:lstStyle/>
          <a:p>
            <a:endParaRPr lang="en-IN"/>
          </a:p>
        </p:txBody>
      </p:sp>
      <p:sp>
        <p:nvSpPr>
          <p:cNvPr id="9" name="Shape 7"/>
          <p:cNvSpPr/>
          <p:nvPr/>
        </p:nvSpPr>
        <p:spPr>
          <a:xfrm>
            <a:off x="1783080" y="2240280"/>
            <a:ext cx="640080" cy="502920"/>
          </a:xfrm>
          <a:prstGeom prst="roundRect">
            <a:avLst>
              <a:gd name="adj" fmla="val 10909"/>
            </a:avLst>
          </a:prstGeom>
          <a:solidFill>
            <a:srgbClr val="0B2545"/>
          </a:solidFill>
          <a:ln w="12700">
            <a:solidFill>
              <a:srgbClr val="0B2545"/>
            </a:solidFill>
            <a:prstDash val="solid"/>
          </a:ln>
        </p:spPr>
        <p:txBody>
          <a:bodyPr/>
          <a:lstStyle/>
          <a:p>
            <a:endParaRPr lang="en-IN"/>
          </a:p>
        </p:txBody>
      </p:sp>
      <p:sp>
        <p:nvSpPr>
          <p:cNvPr id="10" name="Shape 8"/>
          <p:cNvSpPr/>
          <p:nvPr/>
        </p:nvSpPr>
        <p:spPr>
          <a:xfrm>
            <a:off x="1901952" y="1997456"/>
            <a:ext cx="402336" cy="402336"/>
          </a:xfrm>
          <a:prstGeom prst="ellipse">
            <a:avLst/>
          </a:prstGeom>
          <a:solidFill>
            <a:srgbClr val="0B2545">
              <a:alpha val="0"/>
            </a:srgbClr>
          </a:solidFill>
          <a:ln w="50800">
            <a:solidFill>
              <a:srgbClr val="FFFFFF"/>
            </a:solidFill>
            <a:prstDash val="solid"/>
          </a:ln>
        </p:spPr>
        <p:txBody>
          <a:bodyPr/>
          <a:lstStyle/>
          <a:p>
            <a:endParaRPr lang="en-IN"/>
          </a:p>
        </p:txBody>
      </p:sp>
      <p:sp>
        <p:nvSpPr>
          <p:cNvPr id="11" name="Shape 9"/>
          <p:cNvSpPr/>
          <p:nvPr/>
        </p:nvSpPr>
        <p:spPr>
          <a:xfrm>
            <a:off x="2057400" y="2423160"/>
            <a:ext cx="91440" cy="182880"/>
          </a:xfrm>
          <a:prstGeom prst="rect">
            <a:avLst/>
          </a:prstGeom>
          <a:solidFill>
            <a:srgbClr val="2E86DE"/>
          </a:solidFill>
          <a:ln w="12700">
            <a:solidFill>
              <a:srgbClr val="2E86DE"/>
            </a:solidFill>
            <a:prstDash val="solid"/>
          </a:ln>
        </p:spPr>
        <p:txBody>
          <a:bodyPr/>
          <a:lstStyle/>
          <a:p>
            <a:endParaRPr lang="en-IN"/>
          </a:p>
        </p:txBody>
      </p:sp>
      <p:sp>
        <p:nvSpPr>
          <p:cNvPr id="12" name="Text 10"/>
          <p:cNvSpPr/>
          <p:nvPr/>
        </p:nvSpPr>
        <p:spPr>
          <a:xfrm>
            <a:off x="731520" y="3291840"/>
            <a:ext cx="10972800" cy="457200"/>
          </a:xfrm>
          <a:prstGeom prst="rect">
            <a:avLst/>
          </a:prstGeom>
          <a:noFill/>
          <a:ln/>
        </p:spPr>
        <p:txBody>
          <a:bodyPr wrap="square" lIns="0" tIns="0" rIns="0" bIns="0" rtlCol="0" anchor="ctr"/>
          <a:lstStyle/>
          <a:p>
            <a:pPr marL="0" indent="0">
              <a:buNone/>
            </a:pPr>
            <a:r>
              <a:rPr lang="en-US" sz="1400" b="1" kern="0" spc="800" dirty="0">
                <a:solidFill>
                  <a:srgbClr val="2E86DE"/>
                </a:solidFill>
                <a:latin typeface="Calibri" pitchFamily="34" charset="0"/>
                <a:ea typeface="Calibri" pitchFamily="34" charset="-122"/>
                <a:cs typeface="Calibri" pitchFamily="34" charset="-120"/>
              </a:rPr>
              <a:t>IDENTITY &amp; ACCESS MANAGEMENT</a:t>
            </a:r>
            <a:endParaRPr lang="en-US" sz="1400" dirty="0"/>
          </a:p>
        </p:txBody>
      </p:sp>
      <p:sp>
        <p:nvSpPr>
          <p:cNvPr id="13" name="Text 11"/>
          <p:cNvSpPr/>
          <p:nvPr/>
        </p:nvSpPr>
        <p:spPr>
          <a:xfrm>
            <a:off x="731520" y="3749040"/>
            <a:ext cx="10972800" cy="100584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IAM in Cloud Environments</a:t>
            </a:r>
            <a:endParaRPr lang="en-US" sz="4800" dirty="0"/>
          </a:p>
        </p:txBody>
      </p:sp>
      <p:sp>
        <p:nvSpPr>
          <p:cNvPr id="14" name="Shape 12"/>
          <p:cNvSpPr/>
          <p:nvPr/>
        </p:nvSpPr>
        <p:spPr>
          <a:xfrm>
            <a:off x="731520" y="4846320"/>
            <a:ext cx="1371600" cy="0"/>
          </a:xfrm>
          <a:prstGeom prst="line">
            <a:avLst/>
          </a:prstGeom>
          <a:noFill/>
          <a:ln w="38100">
            <a:solidFill>
              <a:srgbClr val="2E86DE"/>
            </a:solidFill>
            <a:prstDash val="solid"/>
          </a:ln>
        </p:spPr>
        <p:txBody>
          <a:bodyPr/>
          <a:lstStyle/>
          <a:p>
            <a:endParaRPr lang="en-IN"/>
          </a:p>
        </p:txBody>
      </p:sp>
      <p:sp>
        <p:nvSpPr>
          <p:cNvPr id="15" name="Text 13"/>
          <p:cNvSpPr/>
          <p:nvPr/>
        </p:nvSpPr>
        <p:spPr>
          <a:xfrm>
            <a:off x="731520" y="4983480"/>
            <a:ext cx="9144000" cy="548640"/>
          </a:xfrm>
          <a:prstGeom prst="rect">
            <a:avLst/>
          </a:prstGeom>
          <a:noFill/>
          <a:ln/>
        </p:spPr>
        <p:txBody>
          <a:bodyPr wrap="square" lIns="0" tIns="0" rIns="0" bIns="0" rtlCol="0" anchor="ctr"/>
          <a:lstStyle/>
          <a:p>
            <a:pPr marL="0" indent="0">
              <a:buNone/>
            </a:pPr>
            <a:r>
              <a:rPr lang="en-US" sz="1500" i="1" dirty="0">
                <a:solidFill>
                  <a:srgbClr val="C6D4E8"/>
                </a:solidFill>
                <a:latin typeface="Calibri" pitchFamily="34" charset="0"/>
                <a:ea typeface="Calibri" pitchFamily="34" charset="-122"/>
                <a:cs typeface="Calibri" pitchFamily="34" charset="-120"/>
              </a:rPr>
              <a:t>Securing digital identities and protecting cloud resources through modern access controls.</a:t>
            </a:r>
            <a:endParaRPr lang="en-US" sz="1500" dirty="0"/>
          </a:p>
        </p:txBody>
      </p:sp>
      <p:sp>
        <p:nvSpPr>
          <p:cNvPr id="16" name="Shape 14"/>
          <p:cNvSpPr/>
          <p:nvPr/>
        </p:nvSpPr>
        <p:spPr>
          <a:xfrm>
            <a:off x="731520" y="5715000"/>
            <a:ext cx="10515600" cy="822960"/>
          </a:xfrm>
          <a:prstGeom prst="rect">
            <a:avLst/>
          </a:prstGeom>
          <a:solidFill>
            <a:srgbClr val="FFFFFF">
              <a:alpha val="15000"/>
            </a:srgbClr>
          </a:solidFill>
          <a:ln w="12700">
            <a:solidFill>
              <a:srgbClr val="FFFFFF">
                <a:alpha val="30000"/>
              </a:srgbClr>
            </a:solidFill>
            <a:prstDash val="solid"/>
          </a:ln>
        </p:spPr>
        <p:txBody>
          <a:bodyPr/>
          <a:lstStyle/>
          <a:p>
            <a:endParaRPr lang="en-IN"/>
          </a:p>
        </p:txBody>
      </p:sp>
      <p:sp>
        <p:nvSpPr>
          <p:cNvPr id="17" name="Text 15"/>
          <p:cNvSpPr/>
          <p:nvPr/>
        </p:nvSpPr>
        <p:spPr>
          <a:xfrm>
            <a:off x="822960" y="5806440"/>
            <a:ext cx="2537460" cy="274320"/>
          </a:xfrm>
          <a:prstGeom prst="rect">
            <a:avLst/>
          </a:prstGeom>
          <a:noFill/>
          <a:ln/>
        </p:spPr>
        <p:txBody>
          <a:bodyPr wrap="square" lIns="0" tIns="0" rIns="0" bIns="0" rtlCol="0" anchor="ctr"/>
          <a:lstStyle/>
          <a:p>
            <a:pPr marL="0" indent="0">
              <a:buNone/>
            </a:pPr>
            <a:r>
              <a:rPr lang="en-US" sz="900" b="1" kern="0" spc="300" dirty="0">
                <a:solidFill>
                  <a:srgbClr val="2E86DE"/>
                </a:solidFill>
                <a:latin typeface="Calibri" pitchFamily="34" charset="0"/>
                <a:ea typeface="Calibri" pitchFamily="34" charset="-122"/>
                <a:cs typeface="Calibri" pitchFamily="34" charset="-120"/>
              </a:rPr>
              <a:t>STUDENT NAME</a:t>
            </a:r>
            <a:endParaRPr lang="en-US" sz="900" dirty="0"/>
          </a:p>
        </p:txBody>
      </p:sp>
      <p:sp>
        <p:nvSpPr>
          <p:cNvPr id="18" name="Text 16"/>
          <p:cNvSpPr/>
          <p:nvPr/>
        </p:nvSpPr>
        <p:spPr>
          <a:xfrm>
            <a:off x="822960" y="6080760"/>
            <a:ext cx="253746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 Kodanda ram</a:t>
            </a:r>
            <a:endParaRPr lang="en-US" sz="1400" dirty="0"/>
          </a:p>
        </p:txBody>
      </p:sp>
      <p:sp>
        <p:nvSpPr>
          <p:cNvPr id="19" name="Text 17"/>
          <p:cNvSpPr/>
          <p:nvPr/>
        </p:nvSpPr>
        <p:spPr>
          <a:xfrm>
            <a:off x="3451860" y="5806440"/>
            <a:ext cx="2537460" cy="274320"/>
          </a:xfrm>
          <a:prstGeom prst="rect">
            <a:avLst/>
          </a:prstGeom>
          <a:noFill/>
          <a:ln/>
        </p:spPr>
        <p:txBody>
          <a:bodyPr wrap="square" lIns="0" tIns="0" rIns="0" bIns="0" rtlCol="0" anchor="ctr"/>
          <a:lstStyle/>
          <a:p>
            <a:pPr marL="0" indent="0">
              <a:buNone/>
            </a:pPr>
            <a:r>
              <a:rPr lang="en-US" sz="900" b="1" kern="0" spc="300" dirty="0">
                <a:solidFill>
                  <a:srgbClr val="2E86DE"/>
                </a:solidFill>
                <a:latin typeface="Calibri" pitchFamily="34" charset="0"/>
                <a:ea typeface="Calibri" pitchFamily="34" charset="-122"/>
                <a:cs typeface="Calibri" pitchFamily="34" charset="-120"/>
              </a:rPr>
              <a:t>REGISTER NO.</a:t>
            </a:r>
            <a:endParaRPr lang="en-US" sz="900" dirty="0"/>
          </a:p>
        </p:txBody>
      </p:sp>
      <p:sp>
        <p:nvSpPr>
          <p:cNvPr id="20" name="Text 18"/>
          <p:cNvSpPr/>
          <p:nvPr/>
        </p:nvSpPr>
        <p:spPr>
          <a:xfrm>
            <a:off x="3451860" y="6080760"/>
            <a:ext cx="253746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192524162</a:t>
            </a:r>
            <a:endParaRPr lang="en-US" sz="1400" dirty="0"/>
          </a:p>
        </p:txBody>
      </p:sp>
      <p:sp>
        <p:nvSpPr>
          <p:cNvPr id="21" name="Text 19"/>
          <p:cNvSpPr/>
          <p:nvPr/>
        </p:nvSpPr>
        <p:spPr>
          <a:xfrm>
            <a:off x="6080760" y="5806440"/>
            <a:ext cx="2537460" cy="274320"/>
          </a:xfrm>
          <a:prstGeom prst="rect">
            <a:avLst/>
          </a:prstGeom>
          <a:noFill/>
          <a:ln/>
        </p:spPr>
        <p:txBody>
          <a:bodyPr wrap="square" lIns="0" tIns="0" rIns="0" bIns="0" rtlCol="0" anchor="ctr"/>
          <a:lstStyle/>
          <a:p>
            <a:pPr marL="0" indent="0">
              <a:buNone/>
            </a:pPr>
            <a:r>
              <a:rPr lang="en-US" sz="900" b="1" kern="0" spc="300" dirty="0">
                <a:solidFill>
                  <a:srgbClr val="2E86DE"/>
                </a:solidFill>
                <a:latin typeface="Calibri" pitchFamily="34" charset="0"/>
                <a:ea typeface="Calibri" pitchFamily="34" charset="-122"/>
                <a:cs typeface="Calibri" pitchFamily="34" charset="-120"/>
              </a:rPr>
              <a:t>DEPARTMENT</a:t>
            </a:r>
            <a:endParaRPr lang="en-US" sz="900" dirty="0"/>
          </a:p>
        </p:txBody>
      </p:sp>
      <p:sp>
        <p:nvSpPr>
          <p:cNvPr id="22" name="Text 20"/>
          <p:cNvSpPr/>
          <p:nvPr/>
        </p:nvSpPr>
        <p:spPr>
          <a:xfrm>
            <a:off x="6080760" y="6080760"/>
            <a:ext cx="2537460" cy="411480"/>
          </a:xfrm>
          <a:prstGeom prst="rect">
            <a:avLst/>
          </a:prstGeom>
          <a:noFill/>
          <a:ln/>
        </p:spPr>
        <p:txBody>
          <a:bodyPr wrap="square" lIns="0" tIns="0" rIns="0" bIns="0" rtlCol="0" anchor="ctr"/>
          <a:lstStyle/>
          <a:p>
            <a:pPr marL="0" indent="0">
              <a:buNone/>
            </a:pPr>
            <a:r>
              <a:rPr lang="en-US" sz="1400" b="1" dirty="0">
                <a:solidFill>
                  <a:schemeClr val="bg2"/>
                </a:solidFill>
              </a:rPr>
              <a:t>AI&amp;DS</a:t>
            </a:r>
          </a:p>
        </p:txBody>
      </p:sp>
      <p:sp>
        <p:nvSpPr>
          <p:cNvPr id="23" name="Text 21"/>
          <p:cNvSpPr/>
          <p:nvPr/>
        </p:nvSpPr>
        <p:spPr>
          <a:xfrm>
            <a:off x="8709660" y="5806440"/>
            <a:ext cx="2537460" cy="274320"/>
          </a:xfrm>
          <a:prstGeom prst="rect">
            <a:avLst/>
          </a:prstGeom>
          <a:noFill/>
          <a:ln/>
        </p:spPr>
        <p:txBody>
          <a:bodyPr wrap="square" lIns="0" tIns="0" rIns="0" bIns="0" rtlCol="0" anchor="ctr"/>
          <a:lstStyle/>
          <a:p>
            <a:pPr marL="0" indent="0">
              <a:buNone/>
            </a:pPr>
            <a:r>
              <a:rPr lang="en-US" sz="900" b="1" kern="0" spc="300" dirty="0">
                <a:solidFill>
                  <a:srgbClr val="2E86DE"/>
                </a:solidFill>
                <a:latin typeface="Calibri" pitchFamily="34" charset="0"/>
                <a:ea typeface="Calibri" pitchFamily="34" charset="-122"/>
                <a:cs typeface="Calibri" pitchFamily="34" charset="-120"/>
              </a:rPr>
              <a:t>COURSE</a:t>
            </a:r>
            <a:endParaRPr lang="en-US" sz="900" dirty="0"/>
          </a:p>
        </p:txBody>
      </p:sp>
      <p:sp>
        <p:nvSpPr>
          <p:cNvPr id="24" name="Text 22"/>
          <p:cNvSpPr/>
          <p:nvPr/>
        </p:nvSpPr>
        <p:spPr>
          <a:xfrm>
            <a:off x="8709660" y="6080760"/>
            <a:ext cx="253746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Cloud Computing (CSA1518</a:t>
            </a:r>
            <a:r>
              <a:rPr lang="en-US" sz="1200" b="1" dirty="0">
                <a:solidFill>
                  <a:srgbClr val="FFFFFF"/>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D"/>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B2545"/>
          </a:solidFill>
          <a:ln w="12700">
            <a:solidFill>
              <a:srgbClr val="0B2545"/>
            </a:solidFill>
            <a:prstDash val="solid"/>
          </a:ln>
        </p:spPr>
        <p:txBody>
          <a:bodyPr/>
          <a:lstStyle/>
          <a:p>
            <a:endParaRPr lang="en-IN"/>
          </a:p>
        </p:txBody>
      </p:sp>
      <p:sp>
        <p:nvSpPr>
          <p:cNvPr id="3" name="Shape 1"/>
          <p:cNvSpPr/>
          <p:nvPr/>
        </p:nvSpPr>
        <p:spPr>
          <a:xfrm>
            <a:off x="0" y="320040"/>
            <a:ext cx="12161520" cy="45720"/>
          </a:xfrm>
          <a:prstGeom prst="rect">
            <a:avLst/>
          </a:prstGeom>
          <a:solidFill>
            <a:srgbClr val="2E86DE"/>
          </a:solidFill>
          <a:ln w="12700">
            <a:solidFill>
              <a:srgbClr val="2E86DE"/>
            </a:solidFill>
            <a:prstDash val="solid"/>
          </a:ln>
        </p:spPr>
        <p:txBody>
          <a:bodyPr/>
          <a:lstStyle/>
          <a:p>
            <a:endParaRPr lang="en-IN"/>
          </a:p>
        </p:txBody>
      </p:sp>
      <p:sp>
        <p:nvSpPr>
          <p:cNvPr id="4" name="Text 2"/>
          <p:cNvSpPr/>
          <p:nvPr/>
        </p:nvSpPr>
        <p:spPr>
          <a:xfrm>
            <a:off x="548640" y="502920"/>
            <a:ext cx="7315200" cy="320040"/>
          </a:xfrm>
          <a:prstGeom prst="rect">
            <a:avLst/>
          </a:prstGeom>
          <a:noFill/>
          <a:ln/>
        </p:spPr>
        <p:txBody>
          <a:bodyPr wrap="square" lIns="0" tIns="0" rIns="0" bIns="0" rtlCol="0" anchor="ctr"/>
          <a:lstStyle/>
          <a:p>
            <a:pPr marL="0" indent="0">
              <a:buNone/>
            </a:pPr>
            <a:r>
              <a:rPr lang="en-US" sz="1100" b="1" kern="0" spc="400" dirty="0">
                <a:solidFill>
                  <a:srgbClr val="2E86DE"/>
                </a:solidFill>
                <a:latin typeface="Calibri" pitchFamily="34" charset="0"/>
                <a:ea typeface="Calibri" pitchFamily="34" charset="-122"/>
                <a:cs typeface="Calibri" pitchFamily="34" charset="-120"/>
              </a:rPr>
              <a:t>SLIDE 02</a:t>
            </a:r>
            <a:endParaRPr lang="en-US" sz="1100" dirty="0"/>
          </a:p>
        </p:txBody>
      </p:sp>
      <p:sp>
        <p:nvSpPr>
          <p:cNvPr id="5" name="Text 3"/>
          <p:cNvSpPr/>
          <p:nvPr/>
        </p:nvSpPr>
        <p:spPr>
          <a:xfrm>
            <a:off x="548640" y="777240"/>
            <a:ext cx="10972800" cy="64008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Objectives</a:t>
            </a:r>
            <a:endParaRPr lang="en-US" sz="3000" dirty="0"/>
          </a:p>
        </p:txBody>
      </p:sp>
      <p:sp>
        <p:nvSpPr>
          <p:cNvPr id="6" name="Shape 4"/>
          <p:cNvSpPr/>
          <p:nvPr/>
        </p:nvSpPr>
        <p:spPr>
          <a:xfrm>
            <a:off x="548640" y="1463040"/>
            <a:ext cx="1097280" cy="0"/>
          </a:xfrm>
          <a:prstGeom prst="line">
            <a:avLst/>
          </a:prstGeom>
          <a:noFill/>
          <a:ln w="38100">
            <a:solidFill>
              <a:srgbClr val="2E86DE"/>
            </a:solidFill>
            <a:prstDash val="solid"/>
          </a:ln>
        </p:spPr>
        <p:txBody>
          <a:bodyPr/>
          <a:lstStyle/>
          <a:p>
            <a:endParaRPr lang="en-IN"/>
          </a:p>
        </p:txBody>
      </p:sp>
      <p:sp>
        <p:nvSpPr>
          <p:cNvPr id="7" name="Shape 5"/>
          <p:cNvSpPr/>
          <p:nvPr/>
        </p:nvSpPr>
        <p:spPr>
          <a:xfrm>
            <a:off x="0" y="6583680"/>
            <a:ext cx="12161520" cy="274320"/>
          </a:xfrm>
          <a:prstGeom prst="rect">
            <a:avLst/>
          </a:prstGeom>
          <a:solidFill>
            <a:srgbClr val="0B2545"/>
          </a:solidFill>
          <a:ln w="12700">
            <a:solidFill>
              <a:srgbClr val="0B2545"/>
            </a:solidFill>
            <a:prstDash val="solid"/>
          </a:ln>
        </p:spPr>
        <p:txBody>
          <a:bodyPr/>
          <a:lstStyle/>
          <a:p>
            <a:endParaRPr lang="en-IN"/>
          </a:p>
        </p:txBody>
      </p:sp>
      <p:sp>
        <p:nvSpPr>
          <p:cNvPr id="8" name="Text 6"/>
          <p:cNvSpPr/>
          <p:nvPr/>
        </p:nvSpPr>
        <p:spPr>
          <a:xfrm>
            <a:off x="548640" y="6583680"/>
            <a:ext cx="7315200" cy="27432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IAM in Cloud Environments  •  CSA15</a:t>
            </a:r>
            <a:endParaRPr lang="en-US" sz="900" dirty="0"/>
          </a:p>
        </p:txBody>
      </p:sp>
      <p:sp>
        <p:nvSpPr>
          <p:cNvPr id="9" name="Text 7"/>
          <p:cNvSpPr/>
          <p:nvPr/>
        </p:nvSpPr>
        <p:spPr>
          <a:xfrm>
            <a:off x="10789920" y="6583680"/>
            <a:ext cx="822960" cy="27432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 / 12</a:t>
            </a:r>
            <a:endParaRPr lang="en-US" sz="900" dirty="0"/>
          </a:p>
        </p:txBody>
      </p:sp>
      <p:sp>
        <p:nvSpPr>
          <p:cNvPr id="10" name="Shape 8"/>
          <p:cNvSpPr/>
          <p:nvPr/>
        </p:nvSpPr>
        <p:spPr>
          <a:xfrm>
            <a:off x="548640" y="1828800"/>
            <a:ext cx="5394960" cy="196596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11" name="Shape 9"/>
          <p:cNvSpPr/>
          <p:nvPr/>
        </p:nvSpPr>
        <p:spPr>
          <a:xfrm>
            <a:off x="548640" y="1828800"/>
            <a:ext cx="73152" cy="1965960"/>
          </a:xfrm>
          <a:prstGeom prst="rect">
            <a:avLst/>
          </a:prstGeom>
          <a:solidFill>
            <a:srgbClr val="2E86DE"/>
          </a:solidFill>
          <a:ln w="12700">
            <a:solidFill>
              <a:srgbClr val="2E86DE"/>
            </a:solidFill>
            <a:prstDash val="solid"/>
          </a:ln>
        </p:spPr>
        <p:txBody>
          <a:bodyPr/>
          <a:lstStyle/>
          <a:p>
            <a:endParaRPr lang="en-IN"/>
          </a:p>
        </p:txBody>
      </p:sp>
      <p:sp>
        <p:nvSpPr>
          <p:cNvPr id="12" name="Shape 10"/>
          <p:cNvSpPr/>
          <p:nvPr/>
        </p:nvSpPr>
        <p:spPr>
          <a:xfrm>
            <a:off x="868680" y="2148840"/>
            <a:ext cx="777240" cy="777240"/>
          </a:xfrm>
          <a:prstGeom prst="ellipse">
            <a:avLst/>
          </a:prstGeom>
          <a:solidFill>
            <a:srgbClr val="E8F1FB"/>
          </a:solidFill>
          <a:ln w="12700">
            <a:solidFill>
              <a:srgbClr val="E8F1FB"/>
            </a:solidFill>
            <a:prstDash val="solid"/>
          </a:ln>
        </p:spPr>
        <p:txBody>
          <a:bodyPr/>
          <a:lstStyle/>
          <a:p>
            <a:endParaRPr lang="en-IN"/>
          </a:p>
        </p:txBody>
      </p:sp>
      <p:sp>
        <p:nvSpPr>
          <p:cNvPr id="13" name="Text 11"/>
          <p:cNvSpPr/>
          <p:nvPr/>
        </p:nvSpPr>
        <p:spPr>
          <a:xfrm>
            <a:off x="868680" y="2148840"/>
            <a:ext cx="777240" cy="777240"/>
          </a:xfrm>
          <a:prstGeom prst="rect">
            <a:avLst/>
          </a:prstGeom>
          <a:noFill/>
          <a:ln/>
        </p:spPr>
        <p:txBody>
          <a:bodyPr wrap="square" lIns="0" tIns="0" rIns="0" bIns="0" rtlCol="0" anchor="ctr"/>
          <a:lstStyle/>
          <a:p>
            <a:pPr marL="0" indent="0" algn="ctr">
              <a:buNone/>
            </a:pPr>
            <a:r>
              <a:rPr lang="en-US" sz="2000" b="1" dirty="0">
                <a:solidFill>
                  <a:srgbClr val="1E5AA8"/>
                </a:solidFill>
                <a:latin typeface="Calibri" pitchFamily="34" charset="0"/>
                <a:ea typeface="Calibri" pitchFamily="34" charset="-122"/>
                <a:cs typeface="Calibri" pitchFamily="34" charset="-120"/>
              </a:rPr>
              <a:t>01</a:t>
            </a:r>
            <a:endParaRPr lang="en-US" sz="2000" dirty="0"/>
          </a:p>
        </p:txBody>
      </p:sp>
      <p:sp>
        <p:nvSpPr>
          <p:cNvPr id="14" name="Text 12"/>
          <p:cNvSpPr/>
          <p:nvPr/>
        </p:nvSpPr>
        <p:spPr>
          <a:xfrm>
            <a:off x="1828800" y="2148840"/>
            <a:ext cx="3931920" cy="45720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Understand IAM</a:t>
            </a:r>
            <a:endParaRPr lang="en-US" sz="1800" dirty="0"/>
          </a:p>
        </p:txBody>
      </p:sp>
      <p:sp>
        <p:nvSpPr>
          <p:cNvPr id="15" name="Text 13"/>
          <p:cNvSpPr/>
          <p:nvPr/>
        </p:nvSpPr>
        <p:spPr>
          <a:xfrm>
            <a:off x="1828800" y="2651760"/>
            <a:ext cx="3931920" cy="9601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Define Identity and Access Management and its scope in modern cloud environments.</a:t>
            </a:r>
            <a:endParaRPr lang="en-US" sz="1200" dirty="0"/>
          </a:p>
        </p:txBody>
      </p:sp>
      <p:sp>
        <p:nvSpPr>
          <p:cNvPr id="16" name="Shape 14"/>
          <p:cNvSpPr/>
          <p:nvPr/>
        </p:nvSpPr>
        <p:spPr>
          <a:xfrm>
            <a:off x="6217920" y="1828800"/>
            <a:ext cx="5394960" cy="196596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17" name="Shape 15"/>
          <p:cNvSpPr/>
          <p:nvPr/>
        </p:nvSpPr>
        <p:spPr>
          <a:xfrm>
            <a:off x="6217920" y="1828800"/>
            <a:ext cx="73152" cy="1965960"/>
          </a:xfrm>
          <a:prstGeom prst="rect">
            <a:avLst/>
          </a:prstGeom>
          <a:solidFill>
            <a:srgbClr val="2E86DE"/>
          </a:solidFill>
          <a:ln w="12700">
            <a:solidFill>
              <a:srgbClr val="2E86DE"/>
            </a:solidFill>
            <a:prstDash val="solid"/>
          </a:ln>
        </p:spPr>
        <p:txBody>
          <a:bodyPr/>
          <a:lstStyle/>
          <a:p>
            <a:endParaRPr lang="en-IN"/>
          </a:p>
        </p:txBody>
      </p:sp>
      <p:sp>
        <p:nvSpPr>
          <p:cNvPr id="18" name="Shape 16"/>
          <p:cNvSpPr/>
          <p:nvPr/>
        </p:nvSpPr>
        <p:spPr>
          <a:xfrm>
            <a:off x="6537960" y="2148840"/>
            <a:ext cx="777240" cy="777240"/>
          </a:xfrm>
          <a:prstGeom prst="ellipse">
            <a:avLst/>
          </a:prstGeom>
          <a:solidFill>
            <a:srgbClr val="E8F1FB"/>
          </a:solidFill>
          <a:ln w="12700">
            <a:solidFill>
              <a:srgbClr val="E8F1FB"/>
            </a:solidFill>
            <a:prstDash val="solid"/>
          </a:ln>
        </p:spPr>
        <p:txBody>
          <a:bodyPr/>
          <a:lstStyle/>
          <a:p>
            <a:endParaRPr lang="en-IN"/>
          </a:p>
        </p:txBody>
      </p:sp>
      <p:sp>
        <p:nvSpPr>
          <p:cNvPr id="19" name="Text 17"/>
          <p:cNvSpPr/>
          <p:nvPr/>
        </p:nvSpPr>
        <p:spPr>
          <a:xfrm>
            <a:off x="6537960" y="2148840"/>
            <a:ext cx="777240" cy="777240"/>
          </a:xfrm>
          <a:prstGeom prst="rect">
            <a:avLst/>
          </a:prstGeom>
          <a:noFill/>
          <a:ln/>
        </p:spPr>
        <p:txBody>
          <a:bodyPr wrap="square" lIns="0" tIns="0" rIns="0" bIns="0" rtlCol="0" anchor="ctr"/>
          <a:lstStyle/>
          <a:p>
            <a:pPr marL="0" indent="0" algn="ctr">
              <a:buNone/>
            </a:pPr>
            <a:r>
              <a:rPr lang="en-US" sz="2000" b="1" dirty="0">
                <a:solidFill>
                  <a:srgbClr val="1E5AA8"/>
                </a:solidFill>
                <a:latin typeface="Calibri" pitchFamily="34" charset="0"/>
                <a:ea typeface="Calibri" pitchFamily="34" charset="-122"/>
                <a:cs typeface="Calibri" pitchFamily="34" charset="-120"/>
              </a:rPr>
              <a:t>02</a:t>
            </a:r>
            <a:endParaRPr lang="en-US" sz="2000" dirty="0"/>
          </a:p>
        </p:txBody>
      </p:sp>
      <p:sp>
        <p:nvSpPr>
          <p:cNvPr id="20" name="Text 18"/>
          <p:cNvSpPr/>
          <p:nvPr/>
        </p:nvSpPr>
        <p:spPr>
          <a:xfrm>
            <a:off x="7498080" y="2148840"/>
            <a:ext cx="3931920" cy="45720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Cloud Importance</a:t>
            </a:r>
            <a:endParaRPr lang="en-US" sz="1800" dirty="0"/>
          </a:p>
        </p:txBody>
      </p:sp>
      <p:sp>
        <p:nvSpPr>
          <p:cNvPr id="21" name="Text 19"/>
          <p:cNvSpPr/>
          <p:nvPr/>
        </p:nvSpPr>
        <p:spPr>
          <a:xfrm>
            <a:off x="7498080" y="2651760"/>
            <a:ext cx="3931920" cy="9601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Explain why IAM is critical for securing multi-tenant cloud infrastructure.</a:t>
            </a:r>
            <a:endParaRPr lang="en-US" sz="1200" dirty="0"/>
          </a:p>
        </p:txBody>
      </p:sp>
      <p:sp>
        <p:nvSpPr>
          <p:cNvPr id="22" name="Shape 20"/>
          <p:cNvSpPr/>
          <p:nvPr/>
        </p:nvSpPr>
        <p:spPr>
          <a:xfrm>
            <a:off x="548640" y="4069080"/>
            <a:ext cx="5394960" cy="196596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23" name="Shape 21"/>
          <p:cNvSpPr/>
          <p:nvPr/>
        </p:nvSpPr>
        <p:spPr>
          <a:xfrm>
            <a:off x="548640" y="4069080"/>
            <a:ext cx="73152" cy="1965960"/>
          </a:xfrm>
          <a:prstGeom prst="rect">
            <a:avLst/>
          </a:prstGeom>
          <a:solidFill>
            <a:srgbClr val="2E86DE"/>
          </a:solidFill>
          <a:ln w="12700">
            <a:solidFill>
              <a:srgbClr val="2E86DE"/>
            </a:solidFill>
            <a:prstDash val="solid"/>
          </a:ln>
        </p:spPr>
        <p:txBody>
          <a:bodyPr/>
          <a:lstStyle/>
          <a:p>
            <a:endParaRPr lang="en-IN"/>
          </a:p>
        </p:txBody>
      </p:sp>
      <p:sp>
        <p:nvSpPr>
          <p:cNvPr id="24" name="Shape 22"/>
          <p:cNvSpPr/>
          <p:nvPr/>
        </p:nvSpPr>
        <p:spPr>
          <a:xfrm>
            <a:off x="868680" y="4389120"/>
            <a:ext cx="777240" cy="777240"/>
          </a:xfrm>
          <a:prstGeom prst="ellipse">
            <a:avLst/>
          </a:prstGeom>
          <a:solidFill>
            <a:srgbClr val="E8F1FB"/>
          </a:solidFill>
          <a:ln w="12700">
            <a:solidFill>
              <a:srgbClr val="E8F1FB"/>
            </a:solidFill>
            <a:prstDash val="solid"/>
          </a:ln>
        </p:spPr>
        <p:txBody>
          <a:bodyPr/>
          <a:lstStyle/>
          <a:p>
            <a:endParaRPr lang="en-IN"/>
          </a:p>
        </p:txBody>
      </p:sp>
      <p:sp>
        <p:nvSpPr>
          <p:cNvPr id="25" name="Text 23"/>
          <p:cNvSpPr/>
          <p:nvPr/>
        </p:nvSpPr>
        <p:spPr>
          <a:xfrm>
            <a:off x="868680" y="4389120"/>
            <a:ext cx="777240" cy="777240"/>
          </a:xfrm>
          <a:prstGeom prst="rect">
            <a:avLst/>
          </a:prstGeom>
          <a:noFill/>
          <a:ln/>
        </p:spPr>
        <p:txBody>
          <a:bodyPr wrap="square" lIns="0" tIns="0" rIns="0" bIns="0" rtlCol="0" anchor="ctr"/>
          <a:lstStyle/>
          <a:p>
            <a:pPr marL="0" indent="0" algn="ctr">
              <a:buNone/>
            </a:pPr>
            <a:r>
              <a:rPr lang="en-US" sz="2000" b="1" dirty="0">
                <a:solidFill>
                  <a:srgbClr val="1E5AA8"/>
                </a:solidFill>
                <a:latin typeface="Calibri" pitchFamily="34" charset="0"/>
                <a:ea typeface="Calibri" pitchFamily="34" charset="-122"/>
                <a:cs typeface="Calibri" pitchFamily="34" charset="-120"/>
              </a:rPr>
              <a:t>03</a:t>
            </a:r>
            <a:endParaRPr lang="en-US" sz="2000" dirty="0"/>
          </a:p>
        </p:txBody>
      </p:sp>
      <p:sp>
        <p:nvSpPr>
          <p:cNvPr id="26" name="Text 24"/>
          <p:cNvSpPr/>
          <p:nvPr/>
        </p:nvSpPr>
        <p:spPr>
          <a:xfrm>
            <a:off x="1828800" y="4389120"/>
            <a:ext cx="3931920" cy="45720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Learning Goals</a:t>
            </a:r>
            <a:endParaRPr lang="en-US" sz="1800" dirty="0"/>
          </a:p>
        </p:txBody>
      </p:sp>
      <p:sp>
        <p:nvSpPr>
          <p:cNvPr id="27" name="Text 25"/>
          <p:cNvSpPr/>
          <p:nvPr/>
        </p:nvSpPr>
        <p:spPr>
          <a:xfrm>
            <a:off x="1828800" y="4892040"/>
            <a:ext cx="3931920" cy="9601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Explore authentication, authorization, and access control mechanisms.</a:t>
            </a:r>
            <a:endParaRPr lang="en-US" sz="1200" dirty="0"/>
          </a:p>
        </p:txBody>
      </p:sp>
      <p:sp>
        <p:nvSpPr>
          <p:cNvPr id="28" name="Shape 26"/>
          <p:cNvSpPr/>
          <p:nvPr/>
        </p:nvSpPr>
        <p:spPr>
          <a:xfrm>
            <a:off x="6217920" y="4069080"/>
            <a:ext cx="5394960" cy="196596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29" name="Shape 27"/>
          <p:cNvSpPr/>
          <p:nvPr/>
        </p:nvSpPr>
        <p:spPr>
          <a:xfrm>
            <a:off x="6217920" y="4069080"/>
            <a:ext cx="73152" cy="1965960"/>
          </a:xfrm>
          <a:prstGeom prst="rect">
            <a:avLst/>
          </a:prstGeom>
          <a:solidFill>
            <a:srgbClr val="2E86DE"/>
          </a:solidFill>
          <a:ln w="12700">
            <a:solidFill>
              <a:srgbClr val="2E86DE"/>
            </a:solidFill>
            <a:prstDash val="solid"/>
          </a:ln>
        </p:spPr>
        <p:txBody>
          <a:bodyPr/>
          <a:lstStyle/>
          <a:p>
            <a:endParaRPr lang="en-IN"/>
          </a:p>
        </p:txBody>
      </p:sp>
      <p:sp>
        <p:nvSpPr>
          <p:cNvPr id="30" name="Shape 28"/>
          <p:cNvSpPr/>
          <p:nvPr/>
        </p:nvSpPr>
        <p:spPr>
          <a:xfrm>
            <a:off x="6537960" y="4389120"/>
            <a:ext cx="777240" cy="777240"/>
          </a:xfrm>
          <a:prstGeom prst="ellipse">
            <a:avLst/>
          </a:prstGeom>
          <a:solidFill>
            <a:srgbClr val="E8F1FB"/>
          </a:solidFill>
          <a:ln w="12700">
            <a:solidFill>
              <a:srgbClr val="E8F1FB"/>
            </a:solidFill>
            <a:prstDash val="solid"/>
          </a:ln>
        </p:spPr>
        <p:txBody>
          <a:bodyPr/>
          <a:lstStyle/>
          <a:p>
            <a:endParaRPr lang="en-IN"/>
          </a:p>
        </p:txBody>
      </p:sp>
      <p:sp>
        <p:nvSpPr>
          <p:cNvPr id="31" name="Text 29"/>
          <p:cNvSpPr/>
          <p:nvPr/>
        </p:nvSpPr>
        <p:spPr>
          <a:xfrm>
            <a:off x="6537960" y="4389120"/>
            <a:ext cx="777240" cy="777240"/>
          </a:xfrm>
          <a:prstGeom prst="rect">
            <a:avLst/>
          </a:prstGeom>
          <a:noFill/>
          <a:ln/>
        </p:spPr>
        <p:txBody>
          <a:bodyPr wrap="square" lIns="0" tIns="0" rIns="0" bIns="0" rtlCol="0" anchor="ctr"/>
          <a:lstStyle/>
          <a:p>
            <a:pPr marL="0" indent="0" algn="ctr">
              <a:buNone/>
            </a:pPr>
            <a:r>
              <a:rPr lang="en-US" sz="2000" b="1" dirty="0">
                <a:solidFill>
                  <a:srgbClr val="1E5AA8"/>
                </a:solidFill>
                <a:latin typeface="Calibri" pitchFamily="34" charset="0"/>
                <a:ea typeface="Calibri" pitchFamily="34" charset="-122"/>
                <a:cs typeface="Calibri" pitchFamily="34" charset="-120"/>
              </a:rPr>
              <a:t>04</a:t>
            </a:r>
            <a:endParaRPr lang="en-US" sz="2000" dirty="0"/>
          </a:p>
        </p:txBody>
      </p:sp>
      <p:sp>
        <p:nvSpPr>
          <p:cNvPr id="32" name="Text 30"/>
          <p:cNvSpPr/>
          <p:nvPr/>
        </p:nvSpPr>
        <p:spPr>
          <a:xfrm>
            <a:off x="7498080" y="4389120"/>
            <a:ext cx="3931920" cy="45720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Resource Protection</a:t>
            </a:r>
            <a:endParaRPr lang="en-US" sz="1800" dirty="0"/>
          </a:p>
        </p:txBody>
      </p:sp>
      <p:sp>
        <p:nvSpPr>
          <p:cNvPr id="33" name="Text 31"/>
          <p:cNvSpPr/>
          <p:nvPr/>
        </p:nvSpPr>
        <p:spPr>
          <a:xfrm>
            <a:off x="7498080" y="4892040"/>
            <a:ext cx="3931920" cy="9601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Learn best practices for safeguarding cloud data, applications, and services.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D"/>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B2545"/>
          </a:solidFill>
          <a:ln w="12700">
            <a:solidFill>
              <a:srgbClr val="0B2545"/>
            </a:solidFill>
            <a:prstDash val="solid"/>
          </a:ln>
        </p:spPr>
        <p:txBody>
          <a:bodyPr/>
          <a:lstStyle/>
          <a:p>
            <a:endParaRPr lang="en-IN"/>
          </a:p>
        </p:txBody>
      </p:sp>
      <p:sp>
        <p:nvSpPr>
          <p:cNvPr id="3" name="Shape 1"/>
          <p:cNvSpPr/>
          <p:nvPr/>
        </p:nvSpPr>
        <p:spPr>
          <a:xfrm>
            <a:off x="0" y="320040"/>
            <a:ext cx="12161520" cy="45720"/>
          </a:xfrm>
          <a:prstGeom prst="rect">
            <a:avLst/>
          </a:prstGeom>
          <a:solidFill>
            <a:srgbClr val="2E86DE"/>
          </a:solidFill>
          <a:ln w="12700">
            <a:solidFill>
              <a:srgbClr val="2E86DE"/>
            </a:solidFill>
            <a:prstDash val="solid"/>
          </a:ln>
        </p:spPr>
        <p:txBody>
          <a:bodyPr/>
          <a:lstStyle/>
          <a:p>
            <a:endParaRPr lang="en-IN"/>
          </a:p>
        </p:txBody>
      </p:sp>
      <p:sp>
        <p:nvSpPr>
          <p:cNvPr id="4" name="Text 2"/>
          <p:cNvSpPr/>
          <p:nvPr/>
        </p:nvSpPr>
        <p:spPr>
          <a:xfrm>
            <a:off x="548640" y="502920"/>
            <a:ext cx="7315200" cy="320040"/>
          </a:xfrm>
          <a:prstGeom prst="rect">
            <a:avLst/>
          </a:prstGeom>
          <a:noFill/>
          <a:ln/>
        </p:spPr>
        <p:txBody>
          <a:bodyPr wrap="square" lIns="0" tIns="0" rIns="0" bIns="0" rtlCol="0" anchor="ctr"/>
          <a:lstStyle/>
          <a:p>
            <a:pPr marL="0" indent="0">
              <a:buNone/>
            </a:pPr>
            <a:r>
              <a:rPr lang="en-US" sz="1100" b="1" kern="0" spc="400" dirty="0">
                <a:solidFill>
                  <a:srgbClr val="2E86DE"/>
                </a:solidFill>
                <a:latin typeface="Calibri" pitchFamily="34" charset="0"/>
                <a:ea typeface="Calibri" pitchFamily="34" charset="-122"/>
                <a:cs typeface="Calibri" pitchFamily="34" charset="-120"/>
              </a:rPr>
              <a:t>SLIDE 03</a:t>
            </a:r>
            <a:endParaRPr lang="en-US" sz="1100" dirty="0"/>
          </a:p>
        </p:txBody>
      </p:sp>
      <p:sp>
        <p:nvSpPr>
          <p:cNvPr id="5" name="Text 3"/>
          <p:cNvSpPr/>
          <p:nvPr/>
        </p:nvSpPr>
        <p:spPr>
          <a:xfrm>
            <a:off x="548640" y="777240"/>
            <a:ext cx="10972800" cy="64008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Introduction to IAM</a:t>
            </a:r>
            <a:endParaRPr lang="en-US" sz="3000" dirty="0"/>
          </a:p>
        </p:txBody>
      </p:sp>
      <p:sp>
        <p:nvSpPr>
          <p:cNvPr id="6" name="Shape 4"/>
          <p:cNvSpPr/>
          <p:nvPr/>
        </p:nvSpPr>
        <p:spPr>
          <a:xfrm>
            <a:off x="548640" y="1463040"/>
            <a:ext cx="1097280" cy="0"/>
          </a:xfrm>
          <a:prstGeom prst="line">
            <a:avLst/>
          </a:prstGeom>
          <a:noFill/>
          <a:ln w="38100">
            <a:solidFill>
              <a:srgbClr val="2E86DE"/>
            </a:solidFill>
            <a:prstDash val="solid"/>
          </a:ln>
        </p:spPr>
        <p:txBody>
          <a:bodyPr/>
          <a:lstStyle/>
          <a:p>
            <a:endParaRPr lang="en-IN"/>
          </a:p>
        </p:txBody>
      </p:sp>
      <p:sp>
        <p:nvSpPr>
          <p:cNvPr id="7" name="Shape 5"/>
          <p:cNvSpPr/>
          <p:nvPr/>
        </p:nvSpPr>
        <p:spPr>
          <a:xfrm>
            <a:off x="0" y="6583680"/>
            <a:ext cx="12161520" cy="274320"/>
          </a:xfrm>
          <a:prstGeom prst="rect">
            <a:avLst/>
          </a:prstGeom>
          <a:solidFill>
            <a:srgbClr val="0B2545"/>
          </a:solidFill>
          <a:ln w="12700">
            <a:solidFill>
              <a:srgbClr val="0B2545"/>
            </a:solidFill>
            <a:prstDash val="solid"/>
          </a:ln>
        </p:spPr>
        <p:txBody>
          <a:bodyPr/>
          <a:lstStyle/>
          <a:p>
            <a:endParaRPr lang="en-IN"/>
          </a:p>
        </p:txBody>
      </p:sp>
      <p:sp>
        <p:nvSpPr>
          <p:cNvPr id="8" name="Text 6"/>
          <p:cNvSpPr/>
          <p:nvPr/>
        </p:nvSpPr>
        <p:spPr>
          <a:xfrm>
            <a:off x="548640" y="6583680"/>
            <a:ext cx="7315200" cy="27432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IAM in Cloud Environments  •  CSA15</a:t>
            </a:r>
            <a:endParaRPr lang="en-US" sz="900" dirty="0"/>
          </a:p>
        </p:txBody>
      </p:sp>
      <p:sp>
        <p:nvSpPr>
          <p:cNvPr id="9" name="Text 7"/>
          <p:cNvSpPr/>
          <p:nvPr/>
        </p:nvSpPr>
        <p:spPr>
          <a:xfrm>
            <a:off x="10789920" y="6583680"/>
            <a:ext cx="822960" cy="27432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 / 12</a:t>
            </a:r>
            <a:endParaRPr lang="en-US" sz="900" dirty="0"/>
          </a:p>
        </p:txBody>
      </p:sp>
      <p:sp>
        <p:nvSpPr>
          <p:cNvPr id="10" name="Shape 8"/>
          <p:cNvSpPr/>
          <p:nvPr/>
        </p:nvSpPr>
        <p:spPr>
          <a:xfrm>
            <a:off x="548640" y="1828800"/>
            <a:ext cx="4937760" cy="429768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11" name="Shape 9"/>
          <p:cNvSpPr/>
          <p:nvPr/>
        </p:nvSpPr>
        <p:spPr>
          <a:xfrm>
            <a:off x="548640" y="1828800"/>
            <a:ext cx="73152" cy="4297680"/>
          </a:xfrm>
          <a:prstGeom prst="rect">
            <a:avLst/>
          </a:prstGeom>
          <a:solidFill>
            <a:srgbClr val="1E5AA8"/>
          </a:solidFill>
          <a:ln w="12700">
            <a:solidFill>
              <a:srgbClr val="1E5AA8"/>
            </a:solidFill>
            <a:prstDash val="solid"/>
          </a:ln>
        </p:spPr>
        <p:txBody>
          <a:bodyPr/>
          <a:lstStyle/>
          <a:p>
            <a:endParaRPr lang="en-IN"/>
          </a:p>
        </p:txBody>
      </p:sp>
      <p:sp>
        <p:nvSpPr>
          <p:cNvPr id="12" name="Text 10"/>
          <p:cNvSpPr/>
          <p:nvPr/>
        </p:nvSpPr>
        <p:spPr>
          <a:xfrm>
            <a:off x="777240" y="2011680"/>
            <a:ext cx="4572000" cy="457200"/>
          </a:xfrm>
          <a:prstGeom prst="rect">
            <a:avLst/>
          </a:prstGeom>
          <a:noFill/>
          <a:ln/>
        </p:spPr>
        <p:txBody>
          <a:bodyPr wrap="square" lIns="0" tIns="0" rIns="0" bIns="0" rtlCol="0" anchor="ctr"/>
          <a:lstStyle/>
          <a:p>
            <a:pPr marL="0" indent="0">
              <a:buNone/>
            </a:pPr>
            <a:r>
              <a:rPr lang="en-US" sz="2000" b="1" dirty="0">
                <a:solidFill>
                  <a:srgbClr val="0B2545"/>
                </a:solidFill>
                <a:latin typeface="Calibri" pitchFamily="34" charset="0"/>
                <a:ea typeface="Calibri" pitchFamily="34" charset="-122"/>
                <a:cs typeface="Calibri" pitchFamily="34" charset="-120"/>
              </a:rPr>
              <a:t>What is IAM?</a:t>
            </a:r>
            <a:endParaRPr lang="en-US" sz="2000" dirty="0"/>
          </a:p>
        </p:txBody>
      </p:sp>
      <p:sp>
        <p:nvSpPr>
          <p:cNvPr id="13" name="Text 11"/>
          <p:cNvSpPr/>
          <p:nvPr/>
        </p:nvSpPr>
        <p:spPr>
          <a:xfrm>
            <a:off x="777240" y="2514600"/>
            <a:ext cx="4572000" cy="1371600"/>
          </a:xfrm>
          <a:prstGeom prst="rect">
            <a:avLst/>
          </a:prstGeom>
          <a:noFill/>
          <a:ln/>
        </p:spPr>
        <p:txBody>
          <a:bodyPr wrap="square" lIns="0" tIns="0" rIns="0" bIns="0" rtlCol="0" anchor="ctr"/>
          <a:lstStyle/>
          <a:p>
            <a:pPr marL="0" indent="0">
              <a:buNone/>
            </a:pPr>
            <a:r>
              <a:rPr lang="en-US" sz="1300" dirty="0">
                <a:solidFill>
                  <a:srgbClr val="1A202C"/>
                </a:solidFill>
                <a:latin typeface="Calibri" pitchFamily="34" charset="0"/>
                <a:ea typeface="Calibri" pitchFamily="34" charset="-122"/>
                <a:cs typeface="Calibri" pitchFamily="34" charset="-120"/>
              </a:rPr>
              <a:t>Identity and Access Management is a framework of policies and technologies that ensures the right individuals access the right resources at the right time — for the right reasons.</a:t>
            </a:r>
            <a:endParaRPr lang="en-US" sz="1300" dirty="0"/>
          </a:p>
        </p:txBody>
      </p:sp>
      <p:sp>
        <p:nvSpPr>
          <p:cNvPr id="14" name="Text 12"/>
          <p:cNvSpPr/>
          <p:nvPr/>
        </p:nvSpPr>
        <p:spPr>
          <a:xfrm>
            <a:off x="777240" y="3886200"/>
            <a:ext cx="4572000" cy="365760"/>
          </a:xfrm>
          <a:prstGeom prst="rect">
            <a:avLst/>
          </a:prstGeom>
          <a:noFill/>
          <a:ln/>
        </p:spPr>
        <p:txBody>
          <a:bodyPr wrap="square" lIns="0" tIns="0" rIns="0" bIns="0" rtlCol="0" anchor="ctr"/>
          <a:lstStyle/>
          <a:p>
            <a:pPr marL="0" indent="0">
              <a:buNone/>
            </a:pPr>
            <a:r>
              <a:rPr lang="en-US" sz="1400" b="1" dirty="0">
                <a:solidFill>
                  <a:srgbClr val="1E5AA8"/>
                </a:solidFill>
                <a:latin typeface="Calibri" pitchFamily="34" charset="0"/>
                <a:ea typeface="Calibri" pitchFamily="34" charset="-122"/>
                <a:cs typeface="Calibri" pitchFamily="34" charset="-120"/>
              </a:rPr>
              <a:t>Why we need it</a:t>
            </a:r>
            <a:endParaRPr lang="en-US" sz="1400" dirty="0"/>
          </a:p>
        </p:txBody>
      </p:sp>
      <p:sp>
        <p:nvSpPr>
          <p:cNvPr id="15" name="Text 13"/>
          <p:cNvSpPr/>
          <p:nvPr/>
        </p:nvSpPr>
        <p:spPr>
          <a:xfrm>
            <a:off x="822960" y="4251960"/>
            <a:ext cx="4572000" cy="1828800"/>
          </a:xfrm>
          <a:prstGeom prst="rect">
            <a:avLst/>
          </a:prstGeom>
          <a:noFill/>
          <a:ln/>
        </p:spPr>
        <p:txBody>
          <a:bodyPr wrap="square" rtlCol="0" anchor="ctr"/>
          <a:lstStyle/>
          <a:p>
            <a:pPr marL="342900" indent="-342900">
              <a:spcAft>
                <a:spcPts val="400"/>
              </a:spcAft>
              <a:buSzPct val="100000"/>
              <a:buChar char="▪"/>
            </a:pPr>
            <a:r>
              <a:rPr lang="en-US" sz="1200" dirty="0">
                <a:solidFill>
                  <a:srgbClr val="1A202C"/>
                </a:solidFill>
                <a:latin typeface="Calibri" pitchFamily="34" charset="0"/>
                <a:ea typeface="Calibri" pitchFamily="34" charset="-122"/>
                <a:cs typeface="Calibri" pitchFamily="34" charset="-120"/>
              </a:rPr>
              <a:t>Prevents unauthorized access to data</a:t>
            </a:r>
            <a:endParaRPr lang="en-US" sz="1200" dirty="0"/>
          </a:p>
          <a:p>
            <a:pPr marL="342900" indent="-342900">
              <a:spcAft>
                <a:spcPts val="400"/>
              </a:spcAft>
              <a:buSzPct val="100000"/>
              <a:buChar char="▪"/>
            </a:pPr>
            <a:r>
              <a:rPr lang="en-US" sz="1200" dirty="0">
                <a:solidFill>
                  <a:srgbClr val="1A202C"/>
                </a:solidFill>
                <a:latin typeface="Calibri" pitchFamily="34" charset="0"/>
                <a:ea typeface="Calibri" pitchFamily="34" charset="-122"/>
                <a:cs typeface="Calibri" pitchFamily="34" charset="-120"/>
              </a:rPr>
              <a:t>Enforces least-privilege on cloud resources</a:t>
            </a:r>
            <a:endParaRPr lang="en-US" sz="1200" dirty="0"/>
          </a:p>
          <a:p>
            <a:pPr marL="342900" indent="-342900">
              <a:spcAft>
                <a:spcPts val="400"/>
              </a:spcAft>
              <a:buSzPct val="100000"/>
              <a:buChar char="▪"/>
            </a:pPr>
            <a:r>
              <a:rPr lang="en-US" sz="1200" dirty="0">
                <a:solidFill>
                  <a:srgbClr val="1A202C"/>
                </a:solidFill>
                <a:latin typeface="Calibri" pitchFamily="34" charset="0"/>
                <a:ea typeface="Calibri" pitchFamily="34" charset="-122"/>
                <a:cs typeface="Calibri" pitchFamily="34" charset="-120"/>
              </a:rPr>
              <a:t>Supports compliance &amp; audit requirements</a:t>
            </a:r>
            <a:endParaRPr lang="en-US" sz="1200" dirty="0"/>
          </a:p>
          <a:p>
            <a:pPr marL="342900" indent="-342900">
              <a:spcAft>
                <a:spcPts val="400"/>
              </a:spcAft>
              <a:buSzPct val="100000"/>
              <a:buChar char="▪"/>
            </a:pPr>
            <a:r>
              <a:rPr lang="en-US" sz="1200" dirty="0">
                <a:solidFill>
                  <a:srgbClr val="1A202C"/>
                </a:solidFill>
                <a:latin typeface="Calibri" pitchFamily="34" charset="0"/>
                <a:ea typeface="Calibri" pitchFamily="34" charset="-122"/>
                <a:cs typeface="Calibri" pitchFamily="34" charset="-120"/>
              </a:rPr>
              <a:t>Enables secure remote &amp; hybrid workforces</a:t>
            </a:r>
            <a:endParaRPr lang="en-US" sz="1200" dirty="0"/>
          </a:p>
        </p:txBody>
      </p:sp>
      <p:sp>
        <p:nvSpPr>
          <p:cNvPr id="16" name="Text 14"/>
          <p:cNvSpPr/>
          <p:nvPr/>
        </p:nvSpPr>
        <p:spPr>
          <a:xfrm>
            <a:off x="5852160" y="1828800"/>
            <a:ext cx="5760720" cy="365760"/>
          </a:xfrm>
          <a:prstGeom prst="rect">
            <a:avLst/>
          </a:prstGeom>
          <a:noFill/>
          <a:ln/>
        </p:spPr>
        <p:txBody>
          <a:bodyPr wrap="square" lIns="0" tIns="0" rIns="0" bIns="0" rtlCol="0" anchor="ctr"/>
          <a:lstStyle/>
          <a:p>
            <a:pPr marL="0" indent="0">
              <a:buNone/>
            </a:pPr>
            <a:r>
              <a:rPr lang="en-US" sz="1600" b="1" dirty="0">
                <a:solidFill>
                  <a:srgbClr val="1E5AA8"/>
                </a:solidFill>
                <a:latin typeface="Calibri" pitchFamily="34" charset="0"/>
                <a:ea typeface="Calibri" pitchFamily="34" charset="-122"/>
                <a:cs typeface="Calibri" pitchFamily="34" charset="-120"/>
              </a:rPr>
              <a:t>The IAAA Model</a:t>
            </a:r>
            <a:endParaRPr lang="en-US" sz="1600" dirty="0"/>
          </a:p>
        </p:txBody>
      </p:sp>
      <p:sp>
        <p:nvSpPr>
          <p:cNvPr id="17" name="Shape 15"/>
          <p:cNvSpPr/>
          <p:nvPr/>
        </p:nvSpPr>
        <p:spPr>
          <a:xfrm>
            <a:off x="5852160" y="2286000"/>
            <a:ext cx="5760720" cy="86868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18" name="Shape 16"/>
          <p:cNvSpPr/>
          <p:nvPr/>
        </p:nvSpPr>
        <p:spPr>
          <a:xfrm>
            <a:off x="5989320" y="2423160"/>
            <a:ext cx="594360" cy="594360"/>
          </a:xfrm>
          <a:prstGeom prst="ellipse">
            <a:avLst/>
          </a:prstGeom>
          <a:solidFill>
            <a:srgbClr val="2E86DE"/>
          </a:solidFill>
          <a:ln w="12700">
            <a:solidFill>
              <a:srgbClr val="2E86DE"/>
            </a:solidFill>
            <a:prstDash val="solid"/>
          </a:ln>
        </p:spPr>
        <p:txBody>
          <a:bodyPr/>
          <a:lstStyle/>
          <a:p>
            <a:endParaRPr lang="en-IN"/>
          </a:p>
        </p:txBody>
      </p:sp>
      <p:sp>
        <p:nvSpPr>
          <p:cNvPr id="19" name="Text 17"/>
          <p:cNvSpPr/>
          <p:nvPr/>
        </p:nvSpPr>
        <p:spPr>
          <a:xfrm>
            <a:off x="5989320" y="242316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I</a:t>
            </a:r>
            <a:endParaRPr lang="en-US" sz="2000" dirty="0"/>
          </a:p>
        </p:txBody>
      </p:sp>
      <p:sp>
        <p:nvSpPr>
          <p:cNvPr id="20" name="Text 18"/>
          <p:cNvSpPr/>
          <p:nvPr/>
        </p:nvSpPr>
        <p:spPr>
          <a:xfrm>
            <a:off x="6720840" y="2377440"/>
            <a:ext cx="475488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Identification</a:t>
            </a:r>
            <a:endParaRPr lang="en-US" sz="1400" dirty="0"/>
          </a:p>
        </p:txBody>
      </p:sp>
      <p:sp>
        <p:nvSpPr>
          <p:cNvPr id="21" name="Text 19"/>
          <p:cNvSpPr/>
          <p:nvPr/>
        </p:nvSpPr>
        <p:spPr>
          <a:xfrm>
            <a:off x="6720840" y="2697480"/>
            <a:ext cx="4754880" cy="41148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Claiming an identity (e.g. username, user ID).</a:t>
            </a:r>
            <a:endParaRPr lang="en-US" sz="1100" dirty="0"/>
          </a:p>
        </p:txBody>
      </p:sp>
      <p:sp>
        <p:nvSpPr>
          <p:cNvPr id="22" name="Shape 20"/>
          <p:cNvSpPr/>
          <p:nvPr/>
        </p:nvSpPr>
        <p:spPr>
          <a:xfrm>
            <a:off x="5852160" y="3246120"/>
            <a:ext cx="5760720" cy="86868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23" name="Shape 21"/>
          <p:cNvSpPr/>
          <p:nvPr/>
        </p:nvSpPr>
        <p:spPr>
          <a:xfrm>
            <a:off x="5989320" y="3383280"/>
            <a:ext cx="594360" cy="594360"/>
          </a:xfrm>
          <a:prstGeom prst="ellipse">
            <a:avLst/>
          </a:prstGeom>
          <a:solidFill>
            <a:srgbClr val="1E5AA8"/>
          </a:solidFill>
          <a:ln w="12700">
            <a:solidFill>
              <a:srgbClr val="1E5AA8"/>
            </a:solidFill>
            <a:prstDash val="solid"/>
          </a:ln>
        </p:spPr>
        <p:txBody>
          <a:bodyPr/>
          <a:lstStyle/>
          <a:p>
            <a:endParaRPr lang="en-IN"/>
          </a:p>
        </p:txBody>
      </p:sp>
      <p:sp>
        <p:nvSpPr>
          <p:cNvPr id="24" name="Text 22"/>
          <p:cNvSpPr/>
          <p:nvPr/>
        </p:nvSpPr>
        <p:spPr>
          <a:xfrm>
            <a:off x="5989320" y="338328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25" name="Text 23"/>
          <p:cNvSpPr/>
          <p:nvPr/>
        </p:nvSpPr>
        <p:spPr>
          <a:xfrm>
            <a:off x="6720840" y="3337560"/>
            <a:ext cx="475488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Authentication</a:t>
            </a:r>
            <a:endParaRPr lang="en-US" sz="1400" dirty="0"/>
          </a:p>
        </p:txBody>
      </p:sp>
      <p:sp>
        <p:nvSpPr>
          <p:cNvPr id="26" name="Text 24"/>
          <p:cNvSpPr/>
          <p:nvPr/>
        </p:nvSpPr>
        <p:spPr>
          <a:xfrm>
            <a:off x="6720840" y="3657600"/>
            <a:ext cx="4754880" cy="41148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Proving the identity (password, MFA, biometrics).</a:t>
            </a:r>
            <a:endParaRPr lang="en-US" sz="1100" dirty="0"/>
          </a:p>
        </p:txBody>
      </p:sp>
      <p:sp>
        <p:nvSpPr>
          <p:cNvPr id="27" name="Shape 25"/>
          <p:cNvSpPr/>
          <p:nvPr/>
        </p:nvSpPr>
        <p:spPr>
          <a:xfrm>
            <a:off x="5852160" y="4206240"/>
            <a:ext cx="5760720" cy="86868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28" name="Shape 26"/>
          <p:cNvSpPr/>
          <p:nvPr/>
        </p:nvSpPr>
        <p:spPr>
          <a:xfrm>
            <a:off x="5989320" y="4343400"/>
            <a:ext cx="594360" cy="594360"/>
          </a:xfrm>
          <a:prstGeom prst="ellipse">
            <a:avLst/>
          </a:prstGeom>
          <a:solidFill>
            <a:srgbClr val="0B2545"/>
          </a:solidFill>
          <a:ln w="12700">
            <a:solidFill>
              <a:srgbClr val="0B2545"/>
            </a:solidFill>
            <a:prstDash val="solid"/>
          </a:ln>
        </p:spPr>
        <p:txBody>
          <a:bodyPr/>
          <a:lstStyle/>
          <a:p>
            <a:endParaRPr lang="en-IN"/>
          </a:p>
        </p:txBody>
      </p:sp>
      <p:sp>
        <p:nvSpPr>
          <p:cNvPr id="29" name="Text 27"/>
          <p:cNvSpPr/>
          <p:nvPr/>
        </p:nvSpPr>
        <p:spPr>
          <a:xfrm>
            <a:off x="5989320" y="434340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30" name="Text 28"/>
          <p:cNvSpPr/>
          <p:nvPr/>
        </p:nvSpPr>
        <p:spPr>
          <a:xfrm>
            <a:off x="6720840" y="4297680"/>
            <a:ext cx="475488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Authorization</a:t>
            </a:r>
            <a:endParaRPr lang="en-US" sz="1400" dirty="0"/>
          </a:p>
        </p:txBody>
      </p:sp>
      <p:sp>
        <p:nvSpPr>
          <p:cNvPr id="31" name="Text 29"/>
          <p:cNvSpPr/>
          <p:nvPr/>
        </p:nvSpPr>
        <p:spPr>
          <a:xfrm>
            <a:off x="6720840" y="4617720"/>
            <a:ext cx="4754880" cy="41148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Granting permissions to specific resources.</a:t>
            </a:r>
            <a:endParaRPr lang="en-US" sz="1100" dirty="0"/>
          </a:p>
        </p:txBody>
      </p:sp>
      <p:sp>
        <p:nvSpPr>
          <p:cNvPr id="32" name="Shape 30"/>
          <p:cNvSpPr/>
          <p:nvPr/>
        </p:nvSpPr>
        <p:spPr>
          <a:xfrm>
            <a:off x="5852160" y="5166360"/>
            <a:ext cx="5760720" cy="86868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33" name="Shape 31"/>
          <p:cNvSpPr/>
          <p:nvPr/>
        </p:nvSpPr>
        <p:spPr>
          <a:xfrm>
            <a:off x="5989320" y="5303520"/>
            <a:ext cx="594360" cy="594360"/>
          </a:xfrm>
          <a:prstGeom prst="ellipse">
            <a:avLst/>
          </a:prstGeom>
          <a:solidFill>
            <a:srgbClr val="0F766E"/>
          </a:solidFill>
          <a:ln w="12700">
            <a:solidFill>
              <a:srgbClr val="0F766E"/>
            </a:solidFill>
            <a:prstDash val="solid"/>
          </a:ln>
        </p:spPr>
        <p:txBody>
          <a:bodyPr/>
          <a:lstStyle/>
          <a:p>
            <a:endParaRPr lang="en-IN"/>
          </a:p>
        </p:txBody>
      </p:sp>
      <p:sp>
        <p:nvSpPr>
          <p:cNvPr id="34" name="Text 32"/>
          <p:cNvSpPr/>
          <p:nvPr/>
        </p:nvSpPr>
        <p:spPr>
          <a:xfrm>
            <a:off x="5989320" y="530352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35" name="Text 33"/>
          <p:cNvSpPr/>
          <p:nvPr/>
        </p:nvSpPr>
        <p:spPr>
          <a:xfrm>
            <a:off x="6720840" y="5257800"/>
            <a:ext cx="475488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Accounting</a:t>
            </a:r>
            <a:endParaRPr lang="en-US" sz="1400" dirty="0"/>
          </a:p>
        </p:txBody>
      </p:sp>
      <p:sp>
        <p:nvSpPr>
          <p:cNvPr id="36" name="Text 34"/>
          <p:cNvSpPr/>
          <p:nvPr/>
        </p:nvSpPr>
        <p:spPr>
          <a:xfrm>
            <a:off x="6720840" y="5577840"/>
            <a:ext cx="4754880" cy="41148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Logging and auditing user actions over time.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D"/>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B2545"/>
          </a:solidFill>
          <a:ln w="12700">
            <a:solidFill>
              <a:srgbClr val="0B2545"/>
            </a:solidFill>
            <a:prstDash val="solid"/>
          </a:ln>
        </p:spPr>
        <p:txBody>
          <a:bodyPr/>
          <a:lstStyle/>
          <a:p>
            <a:endParaRPr lang="en-IN"/>
          </a:p>
        </p:txBody>
      </p:sp>
      <p:sp>
        <p:nvSpPr>
          <p:cNvPr id="3" name="Shape 1"/>
          <p:cNvSpPr/>
          <p:nvPr/>
        </p:nvSpPr>
        <p:spPr>
          <a:xfrm>
            <a:off x="0" y="320040"/>
            <a:ext cx="12161520" cy="45720"/>
          </a:xfrm>
          <a:prstGeom prst="rect">
            <a:avLst/>
          </a:prstGeom>
          <a:solidFill>
            <a:srgbClr val="2E86DE"/>
          </a:solidFill>
          <a:ln w="12700">
            <a:solidFill>
              <a:srgbClr val="2E86DE"/>
            </a:solidFill>
            <a:prstDash val="solid"/>
          </a:ln>
        </p:spPr>
        <p:txBody>
          <a:bodyPr/>
          <a:lstStyle/>
          <a:p>
            <a:endParaRPr lang="en-IN"/>
          </a:p>
        </p:txBody>
      </p:sp>
      <p:sp>
        <p:nvSpPr>
          <p:cNvPr id="4" name="Text 2"/>
          <p:cNvSpPr/>
          <p:nvPr/>
        </p:nvSpPr>
        <p:spPr>
          <a:xfrm>
            <a:off x="548640" y="502920"/>
            <a:ext cx="7315200" cy="320040"/>
          </a:xfrm>
          <a:prstGeom prst="rect">
            <a:avLst/>
          </a:prstGeom>
          <a:noFill/>
          <a:ln/>
        </p:spPr>
        <p:txBody>
          <a:bodyPr wrap="square" lIns="0" tIns="0" rIns="0" bIns="0" rtlCol="0" anchor="ctr"/>
          <a:lstStyle/>
          <a:p>
            <a:pPr marL="0" indent="0">
              <a:buNone/>
            </a:pPr>
            <a:r>
              <a:rPr lang="en-US" sz="1100" b="1" kern="0" spc="400" dirty="0">
                <a:solidFill>
                  <a:srgbClr val="2E86DE"/>
                </a:solidFill>
                <a:latin typeface="Calibri" pitchFamily="34" charset="0"/>
                <a:ea typeface="Calibri" pitchFamily="34" charset="-122"/>
                <a:cs typeface="Calibri" pitchFamily="34" charset="-120"/>
              </a:rPr>
              <a:t>SLIDE 04</a:t>
            </a:r>
            <a:endParaRPr lang="en-US" sz="1100" dirty="0"/>
          </a:p>
        </p:txBody>
      </p:sp>
      <p:sp>
        <p:nvSpPr>
          <p:cNvPr id="5" name="Text 3"/>
          <p:cNvSpPr/>
          <p:nvPr/>
        </p:nvSpPr>
        <p:spPr>
          <a:xfrm>
            <a:off x="548640" y="777240"/>
            <a:ext cx="10972800" cy="64008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Core Concepts of IAM</a:t>
            </a:r>
            <a:endParaRPr lang="en-US" sz="3000" dirty="0"/>
          </a:p>
        </p:txBody>
      </p:sp>
      <p:sp>
        <p:nvSpPr>
          <p:cNvPr id="6" name="Shape 4"/>
          <p:cNvSpPr/>
          <p:nvPr/>
        </p:nvSpPr>
        <p:spPr>
          <a:xfrm>
            <a:off x="548640" y="1463040"/>
            <a:ext cx="1097280" cy="0"/>
          </a:xfrm>
          <a:prstGeom prst="line">
            <a:avLst/>
          </a:prstGeom>
          <a:noFill/>
          <a:ln w="38100">
            <a:solidFill>
              <a:srgbClr val="2E86DE"/>
            </a:solidFill>
            <a:prstDash val="solid"/>
          </a:ln>
        </p:spPr>
        <p:txBody>
          <a:bodyPr/>
          <a:lstStyle/>
          <a:p>
            <a:endParaRPr lang="en-IN"/>
          </a:p>
        </p:txBody>
      </p:sp>
      <p:sp>
        <p:nvSpPr>
          <p:cNvPr id="7" name="Shape 5"/>
          <p:cNvSpPr/>
          <p:nvPr/>
        </p:nvSpPr>
        <p:spPr>
          <a:xfrm>
            <a:off x="0" y="6583680"/>
            <a:ext cx="12161520" cy="274320"/>
          </a:xfrm>
          <a:prstGeom prst="rect">
            <a:avLst/>
          </a:prstGeom>
          <a:solidFill>
            <a:srgbClr val="0B2545"/>
          </a:solidFill>
          <a:ln w="12700">
            <a:solidFill>
              <a:srgbClr val="0B2545"/>
            </a:solidFill>
            <a:prstDash val="solid"/>
          </a:ln>
        </p:spPr>
        <p:txBody>
          <a:bodyPr/>
          <a:lstStyle/>
          <a:p>
            <a:endParaRPr lang="en-IN"/>
          </a:p>
        </p:txBody>
      </p:sp>
      <p:sp>
        <p:nvSpPr>
          <p:cNvPr id="8" name="Text 6"/>
          <p:cNvSpPr/>
          <p:nvPr/>
        </p:nvSpPr>
        <p:spPr>
          <a:xfrm>
            <a:off x="548640" y="6583680"/>
            <a:ext cx="7315200" cy="27432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IAM in Cloud Environments  •  CSA15</a:t>
            </a:r>
            <a:endParaRPr lang="en-US" sz="900" dirty="0"/>
          </a:p>
        </p:txBody>
      </p:sp>
      <p:sp>
        <p:nvSpPr>
          <p:cNvPr id="9" name="Text 7"/>
          <p:cNvSpPr/>
          <p:nvPr/>
        </p:nvSpPr>
        <p:spPr>
          <a:xfrm>
            <a:off x="10789920" y="6583680"/>
            <a:ext cx="822960" cy="27432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4 / 12</a:t>
            </a:r>
            <a:endParaRPr lang="en-US" sz="900" dirty="0"/>
          </a:p>
        </p:txBody>
      </p:sp>
      <p:sp>
        <p:nvSpPr>
          <p:cNvPr id="10" name="Shape 8"/>
          <p:cNvSpPr/>
          <p:nvPr/>
        </p:nvSpPr>
        <p:spPr>
          <a:xfrm>
            <a:off x="548640" y="1828800"/>
            <a:ext cx="2594610" cy="135636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11" name="Shape 9"/>
          <p:cNvSpPr/>
          <p:nvPr/>
        </p:nvSpPr>
        <p:spPr>
          <a:xfrm>
            <a:off x="548640" y="1828800"/>
            <a:ext cx="73152" cy="1356360"/>
          </a:xfrm>
          <a:prstGeom prst="rect">
            <a:avLst/>
          </a:prstGeom>
          <a:solidFill>
            <a:srgbClr val="2E86DE"/>
          </a:solidFill>
          <a:ln w="12700">
            <a:solidFill>
              <a:srgbClr val="2E86DE"/>
            </a:solidFill>
            <a:prstDash val="solid"/>
          </a:ln>
        </p:spPr>
        <p:txBody>
          <a:bodyPr/>
          <a:lstStyle/>
          <a:p>
            <a:endParaRPr lang="en-IN"/>
          </a:p>
        </p:txBody>
      </p:sp>
      <p:sp>
        <p:nvSpPr>
          <p:cNvPr id="12" name="Text 10"/>
          <p:cNvSpPr/>
          <p:nvPr/>
        </p:nvSpPr>
        <p:spPr>
          <a:xfrm>
            <a:off x="731520" y="1965960"/>
            <a:ext cx="232029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Identity</a:t>
            </a:r>
            <a:endParaRPr lang="en-US" sz="1400" dirty="0"/>
          </a:p>
        </p:txBody>
      </p:sp>
      <p:sp>
        <p:nvSpPr>
          <p:cNvPr id="13" name="Text 11"/>
          <p:cNvSpPr/>
          <p:nvPr/>
        </p:nvSpPr>
        <p:spPr>
          <a:xfrm>
            <a:off x="731520" y="2331720"/>
            <a:ext cx="2320290" cy="80772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Digital representation of a user, service, or device.</a:t>
            </a:r>
            <a:endParaRPr lang="en-US" sz="1050" dirty="0"/>
          </a:p>
        </p:txBody>
      </p:sp>
      <p:sp>
        <p:nvSpPr>
          <p:cNvPr id="14" name="Shape 12"/>
          <p:cNvSpPr/>
          <p:nvPr/>
        </p:nvSpPr>
        <p:spPr>
          <a:xfrm>
            <a:off x="3371850" y="1828800"/>
            <a:ext cx="2594610" cy="135636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15" name="Shape 13"/>
          <p:cNvSpPr/>
          <p:nvPr/>
        </p:nvSpPr>
        <p:spPr>
          <a:xfrm>
            <a:off x="3371850" y="1828800"/>
            <a:ext cx="73152" cy="1356360"/>
          </a:xfrm>
          <a:prstGeom prst="rect">
            <a:avLst/>
          </a:prstGeom>
          <a:solidFill>
            <a:srgbClr val="2E86DE"/>
          </a:solidFill>
          <a:ln w="12700">
            <a:solidFill>
              <a:srgbClr val="2E86DE"/>
            </a:solidFill>
            <a:prstDash val="solid"/>
          </a:ln>
        </p:spPr>
        <p:txBody>
          <a:bodyPr/>
          <a:lstStyle/>
          <a:p>
            <a:endParaRPr lang="en-IN"/>
          </a:p>
        </p:txBody>
      </p:sp>
      <p:sp>
        <p:nvSpPr>
          <p:cNvPr id="16" name="Text 14"/>
          <p:cNvSpPr/>
          <p:nvPr/>
        </p:nvSpPr>
        <p:spPr>
          <a:xfrm>
            <a:off x="3554730" y="1965960"/>
            <a:ext cx="232029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User Account</a:t>
            </a:r>
            <a:endParaRPr lang="en-US" sz="1400" dirty="0"/>
          </a:p>
        </p:txBody>
      </p:sp>
      <p:sp>
        <p:nvSpPr>
          <p:cNvPr id="17" name="Text 15"/>
          <p:cNvSpPr/>
          <p:nvPr/>
        </p:nvSpPr>
        <p:spPr>
          <a:xfrm>
            <a:off x="3554730" y="2331720"/>
            <a:ext cx="2320290" cy="80772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Credentials + attributes tied to a specific identity.</a:t>
            </a:r>
            <a:endParaRPr lang="en-US" sz="1050" dirty="0"/>
          </a:p>
        </p:txBody>
      </p:sp>
      <p:sp>
        <p:nvSpPr>
          <p:cNvPr id="18" name="Shape 16"/>
          <p:cNvSpPr/>
          <p:nvPr/>
        </p:nvSpPr>
        <p:spPr>
          <a:xfrm>
            <a:off x="6195060" y="1828800"/>
            <a:ext cx="2594610" cy="135636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19" name="Shape 17"/>
          <p:cNvSpPr/>
          <p:nvPr/>
        </p:nvSpPr>
        <p:spPr>
          <a:xfrm>
            <a:off x="6195060" y="1828800"/>
            <a:ext cx="73152" cy="1356360"/>
          </a:xfrm>
          <a:prstGeom prst="rect">
            <a:avLst/>
          </a:prstGeom>
          <a:solidFill>
            <a:srgbClr val="1E5AA8"/>
          </a:solidFill>
          <a:ln w="12700">
            <a:solidFill>
              <a:srgbClr val="1E5AA8"/>
            </a:solidFill>
            <a:prstDash val="solid"/>
          </a:ln>
        </p:spPr>
        <p:txBody>
          <a:bodyPr/>
          <a:lstStyle/>
          <a:p>
            <a:endParaRPr lang="en-IN"/>
          </a:p>
        </p:txBody>
      </p:sp>
      <p:sp>
        <p:nvSpPr>
          <p:cNvPr id="20" name="Text 18"/>
          <p:cNvSpPr/>
          <p:nvPr/>
        </p:nvSpPr>
        <p:spPr>
          <a:xfrm>
            <a:off x="6377940" y="1965960"/>
            <a:ext cx="232029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Authentication</a:t>
            </a:r>
            <a:endParaRPr lang="en-US" sz="1400" dirty="0"/>
          </a:p>
        </p:txBody>
      </p:sp>
      <p:sp>
        <p:nvSpPr>
          <p:cNvPr id="21" name="Text 19"/>
          <p:cNvSpPr/>
          <p:nvPr/>
        </p:nvSpPr>
        <p:spPr>
          <a:xfrm>
            <a:off x="6377940" y="2331720"/>
            <a:ext cx="2320290" cy="80772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Verifying an identity through credentials or factors.</a:t>
            </a:r>
            <a:endParaRPr lang="en-US" sz="1050" dirty="0"/>
          </a:p>
        </p:txBody>
      </p:sp>
      <p:sp>
        <p:nvSpPr>
          <p:cNvPr id="22" name="Shape 20"/>
          <p:cNvSpPr/>
          <p:nvPr/>
        </p:nvSpPr>
        <p:spPr>
          <a:xfrm>
            <a:off x="9018270" y="1828800"/>
            <a:ext cx="2594610" cy="135636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23" name="Shape 21"/>
          <p:cNvSpPr/>
          <p:nvPr/>
        </p:nvSpPr>
        <p:spPr>
          <a:xfrm>
            <a:off x="9018270" y="1828800"/>
            <a:ext cx="73152" cy="1356360"/>
          </a:xfrm>
          <a:prstGeom prst="rect">
            <a:avLst/>
          </a:prstGeom>
          <a:solidFill>
            <a:srgbClr val="1E5AA8"/>
          </a:solidFill>
          <a:ln w="12700">
            <a:solidFill>
              <a:srgbClr val="1E5AA8"/>
            </a:solidFill>
            <a:prstDash val="solid"/>
          </a:ln>
        </p:spPr>
        <p:txBody>
          <a:bodyPr/>
          <a:lstStyle/>
          <a:p>
            <a:endParaRPr lang="en-IN"/>
          </a:p>
        </p:txBody>
      </p:sp>
      <p:sp>
        <p:nvSpPr>
          <p:cNvPr id="24" name="Text 22"/>
          <p:cNvSpPr/>
          <p:nvPr/>
        </p:nvSpPr>
        <p:spPr>
          <a:xfrm>
            <a:off x="9201150" y="1965960"/>
            <a:ext cx="232029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Authorization</a:t>
            </a:r>
            <a:endParaRPr lang="en-US" sz="1400" dirty="0"/>
          </a:p>
        </p:txBody>
      </p:sp>
      <p:sp>
        <p:nvSpPr>
          <p:cNvPr id="25" name="Text 23"/>
          <p:cNvSpPr/>
          <p:nvPr/>
        </p:nvSpPr>
        <p:spPr>
          <a:xfrm>
            <a:off x="9201150" y="2331720"/>
            <a:ext cx="2320290" cy="80772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Deciding what actions an identity is allowed.</a:t>
            </a:r>
            <a:endParaRPr lang="en-US" sz="1050" dirty="0"/>
          </a:p>
        </p:txBody>
      </p:sp>
      <p:sp>
        <p:nvSpPr>
          <p:cNvPr id="26" name="Shape 24"/>
          <p:cNvSpPr/>
          <p:nvPr/>
        </p:nvSpPr>
        <p:spPr>
          <a:xfrm>
            <a:off x="548640" y="3413760"/>
            <a:ext cx="2594610" cy="135636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27" name="Shape 25"/>
          <p:cNvSpPr/>
          <p:nvPr/>
        </p:nvSpPr>
        <p:spPr>
          <a:xfrm>
            <a:off x="548640" y="3413760"/>
            <a:ext cx="73152" cy="1356360"/>
          </a:xfrm>
          <a:prstGeom prst="rect">
            <a:avLst/>
          </a:prstGeom>
          <a:solidFill>
            <a:srgbClr val="0B2545"/>
          </a:solidFill>
          <a:ln w="12700">
            <a:solidFill>
              <a:srgbClr val="0B2545"/>
            </a:solidFill>
            <a:prstDash val="solid"/>
          </a:ln>
        </p:spPr>
        <p:txBody>
          <a:bodyPr/>
          <a:lstStyle/>
          <a:p>
            <a:endParaRPr lang="en-IN"/>
          </a:p>
        </p:txBody>
      </p:sp>
      <p:sp>
        <p:nvSpPr>
          <p:cNvPr id="28" name="Text 26"/>
          <p:cNvSpPr/>
          <p:nvPr/>
        </p:nvSpPr>
        <p:spPr>
          <a:xfrm>
            <a:off x="731520" y="3550920"/>
            <a:ext cx="232029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Roles</a:t>
            </a:r>
            <a:endParaRPr lang="en-US" sz="1400" dirty="0"/>
          </a:p>
        </p:txBody>
      </p:sp>
      <p:sp>
        <p:nvSpPr>
          <p:cNvPr id="29" name="Text 27"/>
          <p:cNvSpPr/>
          <p:nvPr/>
        </p:nvSpPr>
        <p:spPr>
          <a:xfrm>
            <a:off x="731520" y="3916680"/>
            <a:ext cx="2320290" cy="80772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Named sets of permissions assigned to users.</a:t>
            </a:r>
            <a:endParaRPr lang="en-US" sz="1050" dirty="0"/>
          </a:p>
        </p:txBody>
      </p:sp>
      <p:sp>
        <p:nvSpPr>
          <p:cNvPr id="30" name="Shape 28"/>
          <p:cNvSpPr/>
          <p:nvPr/>
        </p:nvSpPr>
        <p:spPr>
          <a:xfrm>
            <a:off x="3371850" y="3413760"/>
            <a:ext cx="2594610" cy="135636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31" name="Shape 29"/>
          <p:cNvSpPr/>
          <p:nvPr/>
        </p:nvSpPr>
        <p:spPr>
          <a:xfrm>
            <a:off x="3371850" y="3413760"/>
            <a:ext cx="73152" cy="1356360"/>
          </a:xfrm>
          <a:prstGeom prst="rect">
            <a:avLst/>
          </a:prstGeom>
          <a:solidFill>
            <a:srgbClr val="0B2545"/>
          </a:solidFill>
          <a:ln w="12700">
            <a:solidFill>
              <a:srgbClr val="0B2545"/>
            </a:solidFill>
            <a:prstDash val="solid"/>
          </a:ln>
        </p:spPr>
        <p:txBody>
          <a:bodyPr/>
          <a:lstStyle/>
          <a:p>
            <a:endParaRPr lang="en-IN"/>
          </a:p>
        </p:txBody>
      </p:sp>
      <p:sp>
        <p:nvSpPr>
          <p:cNvPr id="32" name="Text 30"/>
          <p:cNvSpPr/>
          <p:nvPr/>
        </p:nvSpPr>
        <p:spPr>
          <a:xfrm>
            <a:off x="3554730" y="3550920"/>
            <a:ext cx="232029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Policies</a:t>
            </a:r>
            <a:endParaRPr lang="en-US" sz="1400" dirty="0"/>
          </a:p>
        </p:txBody>
      </p:sp>
      <p:sp>
        <p:nvSpPr>
          <p:cNvPr id="33" name="Text 31"/>
          <p:cNvSpPr/>
          <p:nvPr/>
        </p:nvSpPr>
        <p:spPr>
          <a:xfrm>
            <a:off x="3554730" y="3916680"/>
            <a:ext cx="2320290" cy="80772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Rules that define allowed or denied actions.</a:t>
            </a:r>
            <a:endParaRPr lang="en-US" sz="1050" dirty="0"/>
          </a:p>
        </p:txBody>
      </p:sp>
      <p:sp>
        <p:nvSpPr>
          <p:cNvPr id="34" name="Shape 32"/>
          <p:cNvSpPr/>
          <p:nvPr/>
        </p:nvSpPr>
        <p:spPr>
          <a:xfrm>
            <a:off x="6195060" y="3413760"/>
            <a:ext cx="2594610" cy="135636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35" name="Shape 33"/>
          <p:cNvSpPr/>
          <p:nvPr/>
        </p:nvSpPr>
        <p:spPr>
          <a:xfrm>
            <a:off x="6195060" y="3413760"/>
            <a:ext cx="73152" cy="1356360"/>
          </a:xfrm>
          <a:prstGeom prst="rect">
            <a:avLst/>
          </a:prstGeom>
          <a:solidFill>
            <a:srgbClr val="0F766E"/>
          </a:solidFill>
          <a:ln w="12700">
            <a:solidFill>
              <a:srgbClr val="0F766E"/>
            </a:solidFill>
            <a:prstDash val="solid"/>
          </a:ln>
        </p:spPr>
        <p:txBody>
          <a:bodyPr/>
          <a:lstStyle/>
          <a:p>
            <a:endParaRPr lang="en-IN"/>
          </a:p>
        </p:txBody>
      </p:sp>
      <p:sp>
        <p:nvSpPr>
          <p:cNvPr id="36" name="Text 34"/>
          <p:cNvSpPr/>
          <p:nvPr/>
        </p:nvSpPr>
        <p:spPr>
          <a:xfrm>
            <a:off x="6377940" y="3550920"/>
            <a:ext cx="232029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Permissions</a:t>
            </a:r>
            <a:endParaRPr lang="en-US" sz="1400" dirty="0"/>
          </a:p>
        </p:txBody>
      </p:sp>
      <p:sp>
        <p:nvSpPr>
          <p:cNvPr id="37" name="Text 35"/>
          <p:cNvSpPr/>
          <p:nvPr/>
        </p:nvSpPr>
        <p:spPr>
          <a:xfrm>
            <a:off x="6377940" y="3916680"/>
            <a:ext cx="2320290" cy="80772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Fine-grained rights over specific resources.</a:t>
            </a:r>
            <a:endParaRPr lang="en-US" sz="1050" dirty="0"/>
          </a:p>
        </p:txBody>
      </p:sp>
      <p:sp>
        <p:nvSpPr>
          <p:cNvPr id="38" name="Shape 36"/>
          <p:cNvSpPr/>
          <p:nvPr/>
        </p:nvSpPr>
        <p:spPr>
          <a:xfrm>
            <a:off x="9018270" y="3413760"/>
            <a:ext cx="2594610" cy="135636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39" name="Shape 37"/>
          <p:cNvSpPr/>
          <p:nvPr/>
        </p:nvSpPr>
        <p:spPr>
          <a:xfrm>
            <a:off x="9018270" y="3413760"/>
            <a:ext cx="73152" cy="1356360"/>
          </a:xfrm>
          <a:prstGeom prst="rect">
            <a:avLst/>
          </a:prstGeom>
          <a:solidFill>
            <a:srgbClr val="0F766E"/>
          </a:solidFill>
          <a:ln w="12700">
            <a:solidFill>
              <a:srgbClr val="0F766E"/>
            </a:solidFill>
            <a:prstDash val="solid"/>
          </a:ln>
        </p:spPr>
        <p:txBody>
          <a:bodyPr/>
          <a:lstStyle/>
          <a:p>
            <a:endParaRPr lang="en-IN"/>
          </a:p>
        </p:txBody>
      </p:sp>
      <p:sp>
        <p:nvSpPr>
          <p:cNvPr id="40" name="Text 38"/>
          <p:cNvSpPr/>
          <p:nvPr/>
        </p:nvSpPr>
        <p:spPr>
          <a:xfrm>
            <a:off x="9201150" y="3550920"/>
            <a:ext cx="232029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Least Privilege</a:t>
            </a:r>
            <a:endParaRPr lang="en-US" sz="1400" dirty="0"/>
          </a:p>
        </p:txBody>
      </p:sp>
      <p:sp>
        <p:nvSpPr>
          <p:cNvPr id="41" name="Text 39"/>
          <p:cNvSpPr/>
          <p:nvPr/>
        </p:nvSpPr>
        <p:spPr>
          <a:xfrm>
            <a:off x="9201150" y="3916680"/>
            <a:ext cx="2320290" cy="80772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Grant only the minimum access required.</a:t>
            </a:r>
            <a:endParaRPr lang="en-US" sz="1050" dirty="0"/>
          </a:p>
        </p:txBody>
      </p:sp>
      <p:sp>
        <p:nvSpPr>
          <p:cNvPr id="42" name="Shape 40"/>
          <p:cNvSpPr/>
          <p:nvPr/>
        </p:nvSpPr>
        <p:spPr>
          <a:xfrm>
            <a:off x="548640" y="4998720"/>
            <a:ext cx="2594610" cy="135636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43" name="Shape 41"/>
          <p:cNvSpPr/>
          <p:nvPr/>
        </p:nvSpPr>
        <p:spPr>
          <a:xfrm>
            <a:off x="548640" y="4998720"/>
            <a:ext cx="73152" cy="1356360"/>
          </a:xfrm>
          <a:prstGeom prst="rect">
            <a:avLst/>
          </a:prstGeom>
          <a:solidFill>
            <a:srgbClr val="B45309"/>
          </a:solidFill>
          <a:ln w="12700">
            <a:solidFill>
              <a:srgbClr val="B45309"/>
            </a:solidFill>
            <a:prstDash val="solid"/>
          </a:ln>
        </p:spPr>
        <p:txBody>
          <a:bodyPr/>
          <a:lstStyle/>
          <a:p>
            <a:endParaRPr lang="en-IN"/>
          </a:p>
        </p:txBody>
      </p:sp>
      <p:sp>
        <p:nvSpPr>
          <p:cNvPr id="44" name="Text 42"/>
          <p:cNvSpPr/>
          <p:nvPr/>
        </p:nvSpPr>
        <p:spPr>
          <a:xfrm>
            <a:off x="731520" y="5135880"/>
            <a:ext cx="232029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RBAC</a:t>
            </a:r>
            <a:endParaRPr lang="en-US" sz="1400" dirty="0"/>
          </a:p>
        </p:txBody>
      </p:sp>
      <p:sp>
        <p:nvSpPr>
          <p:cNvPr id="45" name="Text 43"/>
          <p:cNvSpPr/>
          <p:nvPr/>
        </p:nvSpPr>
        <p:spPr>
          <a:xfrm>
            <a:off x="731520" y="5501640"/>
            <a:ext cx="2320290" cy="80772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Role-Based Access Control — access via job role.</a:t>
            </a:r>
            <a:endParaRPr lang="en-US" sz="1050" dirty="0"/>
          </a:p>
        </p:txBody>
      </p:sp>
      <p:sp>
        <p:nvSpPr>
          <p:cNvPr id="46" name="Shape 44"/>
          <p:cNvSpPr/>
          <p:nvPr/>
        </p:nvSpPr>
        <p:spPr>
          <a:xfrm>
            <a:off x="3371850" y="4998720"/>
            <a:ext cx="2594610" cy="135636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47" name="Shape 45"/>
          <p:cNvSpPr/>
          <p:nvPr/>
        </p:nvSpPr>
        <p:spPr>
          <a:xfrm>
            <a:off x="3371850" y="4998720"/>
            <a:ext cx="73152" cy="1356360"/>
          </a:xfrm>
          <a:prstGeom prst="rect">
            <a:avLst/>
          </a:prstGeom>
          <a:solidFill>
            <a:srgbClr val="B45309"/>
          </a:solidFill>
          <a:ln w="12700">
            <a:solidFill>
              <a:srgbClr val="B45309"/>
            </a:solidFill>
            <a:prstDash val="solid"/>
          </a:ln>
        </p:spPr>
        <p:txBody>
          <a:bodyPr/>
          <a:lstStyle/>
          <a:p>
            <a:endParaRPr lang="en-IN"/>
          </a:p>
        </p:txBody>
      </p:sp>
      <p:sp>
        <p:nvSpPr>
          <p:cNvPr id="48" name="Text 46"/>
          <p:cNvSpPr/>
          <p:nvPr/>
        </p:nvSpPr>
        <p:spPr>
          <a:xfrm>
            <a:off x="3554730" y="5135880"/>
            <a:ext cx="232029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ABAC</a:t>
            </a:r>
            <a:endParaRPr lang="en-US" sz="1400" dirty="0"/>
          </a:p>
        </p:txBody>
      </p:sp>
      <p:sp>
        <p:nvSpPr>
          <p:cNvPr id="49" name="Text 47"/>
          <p:cNvSpPr/>
          <p:nvPr/>
        </p:nvSpPr>
        <p:spPr>
          <a:xfrm>
            <a:off x="3483610" y="5501640"/>
            <a:ext cx="2482850" cy="80772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Attribute-Based Access Control — decisions from user/resource attrs.</a:t>
            </a:r>
            <a:endParaRPr lang="en-US" sz="1050" dirty="0"/>
          </a:p>
        </p:txBody>
      </p:sp>
      <p:sp>
        <p:nvSpPr>
          <p:cNvPr id="50" name="Shape 48"/>
          <p:cNvSpPr/>
          <p:nvPr/>
        </p:nvSpPr>
        <p:spPr>
          <a:xfrm>
            <a:off x="6195060" y="4998720"/>
            <a:ext cx="2594610" cy="135636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51" name="Shape 49"/>
          <p:cNvSpPr/>
          <p:nvPr/>
        </p:nvSpPr>
        <p:spPr>
          <a:xfrm>
            <a:off x="6195060" y="4998720"/>
            <a:ext cx="73152" cy="1356360"/>
          </a:xfrm>
          <a:prstGeom prst="rect">
            <a:avLst/>
          </a:prstGeom>
          <a:solidFill>
            <a:srgbClr val="7C3AED"/>
          </a:solidFill>
          <a:ln w="12700">
            <a:solidFill>
              <a:srgbClr val="7C3AED"/>
            </a:solidFill>
            <a:prstDash val="solid"/>
          </a:ln>
        </p:spPr>
        <p:txBody>
          <a:bodyPr/>
          <a:lstStyle/>
          <a:p>
            <a:endParaRPr lang="en-IN"/>
          </a:p>
        </p:txBody>
      </p:sp>
      <p:sp>
        <p:nvSpPr>
          <p:cNvPr id="52" name="Text 50"/>
          <p:cNvSpPr/>
          <p:nvPr/>
        </p:nvSpPr>
        <p:spPr>
          <a:xfrm>
            <a:off x="6377940" y="5135880"/>
            <a:ext cx="232029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MFA</a:t>
            </a:r>
            <a:endParaRPr lang="en-US" sz="1400" dirty="0"/>
          </a:p>
        </p:txBody>
      </p:sp>
      <p:sp>
        <p:nvSpPr>
          <p:cNvPr id="53" name="Text 51"/>
          <p:cNvSpPr/>
          <p:nvPr/>
        </p:nvSpPr>
        <p:spPr>
          <a:xfrm>
            <a:off x="6377940" y="5501640"/>
            <a:ext cx="2320290" cy="80772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Multi-Factor Authentication — 2+ verification factors.</a:t>
            </a:r>
            <a:endParaRPr lang="en-US" sz="1050" dirty="0"/>
          </a:p>
        </p:txBody>
      </p:sp>
      <p:sp>
        <p:nvSpPr>
          <p:cNvPr id="54" name="Shape 52"/>
          <p:cNvSpPr/>
          <p:nvPr/>
        </p:nvSpPr>
        <p:spPr>
          <a:xfrm>
            <a:off x="9018270" y="4998720"/>
            <a:ext cx="2594610" cy="135636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55" name="Shape 53"/>
          <p:cNvSpPr/>
          <p:nvPr/>
        </p:nvSpPr>
        <p:spPr>
          <a:xfrm>
            <a:off x="9018270" y="4998720"/>
            <a:ext cx="73152" cy="1356360"/>
          </a:xfrm>
          <a:prstGeom prst="rect">
            <a:avLst/>
          </a:prstGeom>
          <a:solidFill>
            <a:srgbClr val="7C3AED"/>
          </a:solidFill>
          <a:ln w="12700">
            <a:solidFill>
              <a:srgbClr val="7C3AED"/>
            </a:solidFill>
            <a:prstDash val="solid"/>
          </a:ln>
        </p:spPr>
        <p:txBody>
          <a:bodyPr/>
          <a:lstStyle/>
          <a:p>
            <a:endParaRPr lang="en-IN"/>
          </a:p>
        </p:txBody>
      </p:sp>
      <p:sp>
        <p:nvSpPr>
          <p:cNvPr id="56" name="Text 54"/>
          <p:cNvSpPr/>
          <p:nvPr/>
        </p:nvSpPr>
        <p:spPr>
          <a:xfrm>
            <a:off x="9201150" y="5135880"/>
            <a:ext cx="232029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SSO &amp; Federation</a:t>
            </a:r>
            <a:endParaRPr lang="en-US" sz="1400" dirty="0"/>
          </a:p>
        </p:txBody>
      </p:sp>
      <p:sp>
        <p:nvSpPr>
          <p:cNvPr id="57" name="Text 55"/>
          <p:cNvSpPr/>
          <p:nvPr/>
        </p:nvSpPr>
        <p:spPr>
          <a:xfrm>
            <a:off x="9201150" y="5501640"/>
            <a:ext cx="2320290" cy="80772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One login across trusted systems and clouds.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D"/>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B2545"/>
          </a:solidFill>
          <a:ln w="12700">
            <a:solidFill>
              <a:srgbClr val="0B2545"/>
            </a:solidFill>
            <a:prstDash val="solid"/>
          </a:ln>
        </p:spPr>
        <p:txBody>
          <a:bodyPr/>
          <a:lstStyle/>
          <a:p>
            <a:endParaRPr lang="en-IN"/>
          </a:p>
        </p:txBody>
      </p:sp>
      <p:sp>
        <p:nvSpPr>
          <p:cNvPr id="3" name="Shape 1"/>
          <p:cNvSpPr/>
          <p:nvPr/>
        </p:nvSpPr>
        <p:spPr>
          <a:xfrm>
            <a:off x="0" y="320040"/>
            <a:ext cx="12161520" cy="45720"/>
          </a:xfrm>
          <a:prstGeom prst="rect">
            <a:avLst/>
          </a:prstGeom>
          <a:solidFill>
            <a:srgbClr val="2E86DE"/>
          </a:solidFill>
          <a:ln w="12700">
            <a:solidFill>
              <a:srgbClr val="2E86DE"/>
            </a:solidFill>
            <a:prstDash val="solid"/>
          </a:ln>
        </p:spPr>
        <p:txBody>
          <a:bodyPr/>
          <a:lstStyle/>
          <a:p>
            <a:endParaRPr lang="en-IN"/>
          </a:p>
        </p:txBody>
      </p:sp>
      <p:sp>
        <p:nvSpPr>
          <p:cNvPr id="4" name="Text 2"/>
          <p:cNvSpPr/>
          <p:nvPr/>
        </p:nvSpPr>
        <p:spPr>
          <a:xfrm>
            <a:off x="548640" y="502920"/>
            <a:ext cx="7315200" cy="320040"/>
          </a:xfrm>
          <a:prstGeom prst="rect">
            <a:avLst/>
          </a:prstGeom>
          <a:noFill/>
          <a:ln/>
        </p:spPr>
        <p:txBody>
          <a:bodyPr wrap="square" lIns="0" tIns="0" rIns="0" bIns="0" rtlCol="0" anchor="ctr"/>
          <a:lstStyle/>
          <a:p>
            <a:pPr marL="0" indent="0">
              <a:buNone/>
            </a:pPr>
            <a:r>
              <a:rPr lang="en-US" sz="1100" b="1" kern="0" spc="400" dirty="0">
                <a:solidFill>
                  <a:srgbClr val="2E86DE"/>
                </a:solidFill>
                <a:latin typeface="Calibri" pitchFamily="34" charset="0"/>
                <a:ea typeface="Calibri" pitchFamily="34" charset="-122"/>
                <a:cs typeface="Calibri" pitchFamily="34" charset="-120"/>
              </a:rPr>
              <a:t>SLIDE 05</a:t>
            </a:r>
            <a:endParaRPr lang="en-US" sz="1100" dirty="0"/>
          </a:p>
        </p:txBody>
      </p:sp>
      <p:sp>
        <p:nvSpPr>
          <p:cNvPr id="5" name="Text 3"/>
          <p:cNvSpPr/>
          <p:nvPr/>
        </p:nvSpPr>
        <p:spPr>
          <a:xfrm>
            <a:off x="548640" y="777240"/>
            <a:ext cx="10972800" cy="64008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IAM Architecture</a:t>
            </a:r>
            <a:endParaRPr lang="en-US" sz="3000" dirty="0"/>
          </a:p>
        </p:txBody>
      </p:sp>
      <p:sp>
        <p:nvSpPr>
          <p:cNvPr id="6" name="Shape 4"/>
          <p:cNvSpPr/>
          <p:nvPr/>
        </p:nvSpPr>
        <p:spPr>
          <a:xfrm>
            <a:off x="548640" y="1463040"/>
            <a:ext cx="1097280" cy="0"/>
          </a:xfrm>
          <a:prstGeom prst="line">
            <a:avLst/>
          </a:prstGeom>
          <a:noFill/>
          <a:ln w="38100">
            <a:solidFill>
              <a:srgbClr val="2E86DE"/>
            </a:solidFill>
            <a:prstDash val="solid"/>
          </a:ln>
        </p:spPr>
        <p:txBody>
          <a:bodyPr/>
          <a:lstStyle/>
          <a:p>
            <a:endParaRPr lang="en-IN"/>
          </a:p>
        </p:txBody>
      </p:sp>
      <p:sp>
        <p:nvSpPr>
          <p:cNvPr id="7" name="Shape 5"/>
          <p:cNvSpPr/>
          <p:nvPr/>
        </p:nvSpPr>
        <p:spPr>
          <a:xfrm>
            <a:off x="0" y="6583680"/>
            <a:ext cx="12161520" cy="274320"/>
          </a:xfrm>
          <a:prstGeom prst="rect">
            <a:avLst/>
          </a:prstGeom>
          <a:solidFill>
            <a:srgbClr val="0B2545"/>
          </a:solidFill>
          <a:ln w="12700">
            <a:solidFill>
              <a:srgbClr val="0B2545"/>
            </a:solidFill>
            <a:prstDash val="solid"/>
          </a:ln>
        </p:spPr>
        <p:txBody>
          <a:bodyPr/>
          <a:lstStyle/>
          <a:p>
            <a:endParaRPr lang="en-IN"/>
          </a:p>
        </p:txBody>
      </p:sp>
      <p:sp>
        <p:nvSpPr>
          <p:cNvPr id="8" name="Text 6"/>
          <p:cNvSpPr/>
          <p:nvPr/>
        </p:nvSpPr>
        <p:spPr>
          <a:xfrm>
            <a:off x="548640" y="6583680"/>
            <a:ext cx="7315200" cy="27432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IAM in Cloud Environments  •  CSA15</a:t>
            </a:r>
            <a:endParaRPr lang="en-US" sz="900" dirty="0"/>
          </a:p>
        </p:txBody>
      </p:sp>
      <p:sp>
        <p:nvSpPr>
          <p:cNvPr id="9" name="Text 7"/>
          <p:cNvSpPr/>
          <p:nvPr/>
        </p:nvSpPr>
        <p:spPr>
          <a:xfrm>
            <a:off x="10789920" y="6583680"/>
            <a:ext cx="822960" cy="27432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5 / 12</a:t>
            </a:r>
            <a:endParaRPr lang="en-US" sz="900" dirty="0"/>
          </a:p>
        </p:txBody>
      </p:sp>
      <p:sp>
        <p:nvSpPr>
          <p:cNvPr id="10" name="Shape 8"/>
          <p:cNvSpPr/>
          <p:nvPr/>
        </p:nvSpPr>
        <p:spPr>
          <a:xfrm>
            <a:off x="640080" y="1783080"/>
            <a:ext cx="3291840" cy="566928"/>
          </a:xfrm>
          <a:prstGeom prst="roundRect">
            <a:avLst>
              <a:gd name="adj" fmla="val 12903"/>
            </a:avLst>
          </a:prstGeom>
          <a:solidFill>
            <a:srgbClr val="FFFFFF"/>
          </a:solidFill>
          <a:ln w="19050">
            <a:solidFill>
              <a:srgbClr val="2E86DE"/>
            </a:solidFill>
            <a:prstDash val="solid"/>
          </a:ln>
          <a:effectLst>
            <a:outerShdw blurRad="76200" dist="12700" dir="5400000" algn="bl" rotWithShape="0">
              <a:srgbClr val="0B2545">
                <a:alpha val="8000"/>
              </a:srgbClr>
            </a:outerShdw>
          </a:effectLst>
        </p:spPr>
        <p:txBody>
          <a:bodyPr/>
          <a:lstStyle/>
          <a:p>
            <a:endParaRPr lang="en-IN"/>
          </a:p>
        </p:txBody>
      </p:sp>
      <p:sp>
        <p:nvSpPr>
          <p:cNvPr id="11" name="Shape 9"/>
          <p:cNvSpPr/>
          <p:nvPr/>
        </p:nvSpPr>
        <p:spPr>
          <a:xfrm>
            <a:off x="777240" y="1901952"/>
            <a:ext cx="329184" cy="329184"/>
          </a:xfrm>
          <a:prstGeom prst="ellipse">
            <a:avLst/>
          </a:prstGeom>
          <a:solidFill>
            <a:srgbClr val="2E86DE"/>
          </a:solidFill>
          <a:ln w="12700">
            <a:solidFill>
              <a:srgbClr val="2E86DE"/>
            </a:solidFill>
            <a:prstDash val="solid"/>
          </a:ln>
        </p:spPr>
        <p:txBody>
          <a:bodyPr/>
          <a:lstStyle/>
          <a:p>
            <a:endParaRPr lang="en-IN"/>
          </a:p>
        </p:txBody>
      </p:sp>
      <p:sp>
        <p:nvSpPr>
          <p:cNvPr id="12" name="Text 10"/>
          <p:cNvSpPr/>
          <p:nvPr/>
        </p:nvSpPr>
        <p:spPr>
          <a:xfrm>
            <a:off x="777240" y="190195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1188720" y="1828800"/>
            <a:ext cx="2651760" cy="274320"/>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User</a:t>
            </a:r>
            <a:endParaRPr lang="en-US" sz="1200" dirty="0"/>
          </a:p>
        </p:txBody>
      </p:sp>
      <p:sp>
        <p:nvSpPr>
          <p:cNvPr id="14" name="Text 12"/>
          <p:cNvSpPr/>
          <p:nvPr/>
        </p:nvSpPr>
        <p:spPr>
          <a:xfrm>
            <a:off x="1188720" y="2075688"/>
            <a:ext cx="2651760" cy="256032"/>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End user requesting access</a:t>
            </a:r>
            <a:endParaRPr lang="en-US" sz="900" dirty="0"/>
          </a:p>
        </p:txBody>
      </p:sp>
      <p:sp>
        <p:nvSpPr>
          <p:cNvPr id="15" name="Shape 13"/>
          <p:cNvSpPr/>
          <p:nvPr/>
        </p:nvSpPr>
        <p:spPr>
          <a:xfrm>
            <a:off x="2286000" y="2350008"/>
            <a:ext cx="0" cy="137160"/>
          </a:xfrm>
          <a:prstGeom prst="line">
            <a:avLst/>
          </a:prstGeom>
          <a:noFill/>
          <a:ln w="25400">
            <a:solidFill>
              <a:srgbClr val="2E86DE"/>
            </a:solidFill>
            <a:prstDash val="solid"/>
            <a:tailEnd type="triangle"/>
          </a:ln>
        </p:spPr>
        <p:txBody>
          <a:bodyPr/>
          <a:lstStyle/>
          <a:p>
            <a:endParaRPr lang="en-IN"/>
          </a:p>
        </p:txBody>
      </p:sp>
      <p:sp>
        <p:nvSpPr>
          <p:cNvPr id="16" name="Shape 14"/>
          <p:cNvSpPr/>
          <p:nvPr/>
        </p:nvSpPr>
        <p:spPr>
          <a:xfrm>
            <a:off x="640080" y="2487168"/>
            <a:ext cx="3291840" cy="566928"/>
          </a:xfrm>
          <a:prstGeom prst="roundRect">
            <a:avLst>
              <a:gd name="adj" fmla="val 12903"/>
            </a:avLst>
          </a:prstGeom>
          <a:solidFill>
            <a:srgbClr val="FFFFFF"/>
          </a:solidFill>
          <a:ln w="19050">
            <a:solidFill>
              <a:srgbClr val="1E5AA8"/>
            </a:solidFill>
            <a:prstDash val="solid"/>
          </a:ln>
          <a:effectLst>
            <a:outerShdw blurRad="76200" dist="12700" dir="5400000" algn="bl" rotWithShape="0">
              <a:srgbClr val="0B2545">
                <a:alpha val="8000"/>
              </a:srgbClr>
            </a:outerShdw>
          </a:effectLst>
        </p:spPr>
        <p:txBody>
          <a:bodyPr/>
          <a:lstStyle/>
          <a:p>
            <a:endParaRPr lang="en-IN"/>
          </a:p>
        </p:txBody>
      </p:sp>
      <p:sp>
        <p:nvSpPr>
          <p:cNvPr id="17" name="Shape 15"/>
          <p:cNvSpPr/>
          <p:nvPr/>
        </p:nvSpPr>
        <p:spPr>
          <a:xfrm>
            <a:off x="777240" y="2606040"/>
            <a:ext cx="329184" cy="329184"/>
          </a:xfrm>
          <a:prstGeom prst="ellipse">
            <a:avLst/>
          </a:prstGeom>
          <a:solidFill>
            <a:srgbClr val="1E5AA8"/>
          </a:solidFill>
          <a:ln w="12700">
            <a:solidFill>
              <a:srgbClr val="1E5AA8"/>
            </a:solidFill>
            <a:prstDash val="solid"/>
          </a:ln>
        </p:spPr>
        <p:txBody>
          <a:bodyPr/>
          <a:lstStyle/>
          <a:p>
            <a:endParaRPr lang="en-IN"/>
          </a:p>
        </p:txBody>
      </p:sp>
      <p:sp>
        <p:nvSpPr>
          <p:cNvPr id="18" name="Text 16"/>
          <p:cNvSpPr/>
          <p:nvPr/>
        </p:nvSpPr>
        <p:spPr>
          <a:xfrm>
            <a:off x="777240" y="260604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9" name="Text 17"/>
          <p:cNvSpPr/>
          <p:nvPr/>
        </p:nvSpPr>
        <p:spPr>
          <a:xfrm>
            <a:off x="1188720" y="2532888"/>
            <a:ext cx="2651760" cy="274320"/>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Login Portal</a:t>
            </a:r>
            <a:endParaRPr lang="en-US" sz="1200" dirty="0"/>
          </a:p>
        </p:txBody>
      </p:sp>
      <p:sp>
        <p:nvSpPr>
          <p:cNvPr id="20" name="Text 18"/>
          <p:cNvSpPr/>
          <p:nvPr/>
        </p:nvSpPr>
        <p:spPr>
          <a:xfrm>
            <a:off x="1188720" y="2779776"/>
            <a:ext cx="2651760" cy="256032"/>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Entry point / web UI</a:t>
            </a:r>
            <a:endParaRPr lang="en-US" sz="900" dirty="0"/>
          </a:p>
        </p:txBody>
      </p:sp>
      <p:sp>
        <p:nvSpPr>
          <p:cNvPr id="21" name="Shape 19"/>
          <p:cNvSpPr/>
          <p:nvPr/>
        </p:nvSpPr>
        <p:spPr>
          <a:xfrm>
            <a:off x="2286000" y="3054096"/>
            <a:ext cx="0" cy="137160"/>
          </a:xfrm>
          <a:prstGeom prst="line">
            <a:avLst/>
          </a:prstGeom>
          <a:noFill/>
          <a:ln w="25400">
            <a:solidFill>
              <a:srgbClr val="2E86DE"/>
            </a:solidFill>
            <a:prstDash val="solid"/>
            <a:tailEnd type="triangle"/>
          </a:ln>
        </p:spPr>
        <p:txBody>
          <a:bodyPr/>
          <a:lstStyle/>
          <a:p>
            <a:endParaRPr lang="en-IN"/>
          </a:p>
        </p:txBody>
      </p:sp>
      <p:sp>
        <p:nvSpPr>
          <p:cNvPr id="22" name="Shape 20"/>
          <p:cNvSpPr/>
          <p:nvPr/>
        </p:nvSpPr>
        <p:spPr>
          <a:xfrm>
            <a:off x="640080" y="3191256"/>
            <a:ext cx="3291840" cy="566928"/>
          </a:xfrm>
          <a:prstGeom prst="roundRect">
            <a:avLst>
              <a:gd name="adj" fmla="val 12903"/>
            </a:avLst>
          </a:prstGeom>
          <a:solidFill>
            <a:srgbClr val="FFFFFF"/>
          </a:solidFill>
          <a:ln w="19050">
            <a:solidFill>
              <a:srgbClr val="0B2545"/>
            </a:solidFill>
            <a:prstDash val="solid"/>
          </a:ln>
          <a:effectLst>
            <a:outerShdw blurRad="76200" dist="12700" dir="5400000" algn="bl" rotWithShape="0">
              <a:srgbClr val="0B2545">
                <a:alpha val="8000"/>
              </a:srgbClr>
            </a:outerShdw>
          </a:effectLst>
        </p:spPr>
        <p:txBody>
          <a:bodyPr/>
          <a:lstStyle/>
          <a:p>
            <a:endParaRPr lang="en-IN"/>
          </a:p>
        </p:txBody>
      </p:sp>
      <p:sp>
        <p:nvSpPr>
          <p:cNvPr id="23" name="Shape 21"/>
          <p:cNvSpPr/>
          <p:nvPr/>
        </p:nvSpPr>
        <p:spPr>
          <a:xfrm>
            <a:off x="777240" y="3310128"/>
            <a:ext cx="329184" cy="329184"/>
          </a:xfrm>
          <a:prstGeom prst="ellipse">
            <a:avLst/>
          </a:prstGeom>
          <a:solidFill>
            <a:srgbClr val="0B2545"/>
          </a:solidFill>
          <a:ln w="12700">
            <a:solidFill>
              <a:srgbClr val="0B2545"/>
            </a:solidFill>
            <a:prstDash val="solid"/>
          </a:ln>
        </p:spPr>
        <p:txBody>
          <a:bodyPr/>
          <a:lstStyle/>
          <a:p>
            <a:endParaRPr lang="en-IN"/>
          </a:p>
        </p:txBody>
      </p:sp>
      <p:sp>
        <p:nvSpPr>
          <p:cNvPr id="24" name="Text 22"/>
          <p:cNvSpPr/>
          <p:nvPr/>
        </p:nvSpPr>
        <p:spPr>
          <a:xfrm>
            <a:off x="777240" y="33101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5" name="Text 23"/>
          <p:cNvSpPr/>
          <p:nvPr/>
        </p:nvSpPr>
        <p:spPr>
          <a:xfrm>
            <a:off x="1188720" y="3236976"/>
            <a:ext cx="2651760" cy="274320"/>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Identity Provider (IdP)</a:t>
            </a:r>
            <a:endParaRPr lang="en-US" sz="1200" dirty="0"/>
          </a:p>
        </p:txBody>
      </p:sp>
      <p:sp>
        <p:nvSpPr>
          <p:cNvPr id="26" name="Text 24"/>
          <p:cNvSpPr/>
          <p:nvPr/>
        </p:nvSpPr>
        <p:spPr>
          <a:xfrm>
            <a:off x="1188720" y="3483864"/>
            <a:ext cx="2651760" cy="256032"/>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Manages identities &amp; credentials</a:t>
            </a:r>
            <a:endParaRPr lang="en-US" sz="900" dirty="0"/>
          </a:p>
        </p:txBody>
      </p:sp>
      <p:sp>
        <p:nvSpPr>
          <p:cNvPr id="27" name="Shape 25"/>
          <p:cNvSpPr/>
          <p:nvPr/>
        </p:nvSpPr>
        <p:spPr>
          <a:xfrm>
            <a:off x="2286000" y="3758184"/>
            <a:ext cx="0" cy="137160"/>
          </a:xfrm>
          <a:prstGeom prst="line">
            <a:avLst/>
          </a:prstGeom>
          <a:noFill/>
          <a:ln w="25400">
            <a:solidFill>
              <a:srgbClr val="2E86DE"/>
            </a:solidFill>
            <a:prstDash val="solid"/>
            <a:tailEnd type="triangle"/>
          </a:ln>
        </p:spPr>
        <p:txBody>
          <a:bodyPr/>
          <a:lstStyle/>
          <a:p>
            <a:endParaRPr lang="en-IN"/>
          </a:p>
        </p:txBody>
      </p:sp>
      <p:sp>
        <p:nvSpPr>
          <p:cNvPr id="28" name="Shape 26"/>
          <p:cNvSpPr/>
          <p:nvPr/>
        </p:nvSpPr>
        <p:spPr>
          <a:xfrm>
            <a:off x="640080" y="3895344"/>
            <a:ext cx="3291840" cy="566928"/>
          </a:xfrm>
          <a:prstGeom prst="roundRect">
            <a:avLst>
              <a:gd name="adj" fmla="val 12903"/>
            </a:avLst>
          </a:prstGeom>
          <a:solidFill>
            <a:srgbClr val="FFFFFF"/>
          </a:solidFill>
          <a:ln w="19050">
            <a:solidFill>
              <a:srgbClr val="0F766E"/>
            </a:solidFill>
            <a:prstDash val="solid"/>
          </a:ln>
          <a:effectLst>
            <a:outerShdw blurRad="76200" dist="12700" dir="5400000" algn="bl" rotWithShape="0">
              <a:srgbClr val="0B2545">
                <a:alpha val="8000"/>
              </a:srgbClr>
            </a:outerShdw>
          </a:effectLst>
        </p:spPr>
        <p:txBody>
          <a:bodyPr/>
          <a:lstStyle/>
          <a:p>
            <a:endParaRPr lang="en-IN"/>
          </a:p>
        </p:txBody>
      </p:sp>
      <p:sp>
        <p:nvSpPr>
          <p:cNvPr id="29" name="Shape 27"/>
          <p:cNvSpPr/>
          <p:nvPr/>
        </p:nvSpPr>
        <p:spPr>
          <a:xfrm>
            <a:off x="777240" y="4014216"/>
            <a:ext cx="329184" cy="329184"/>
          </a:xfrm>
          <a:prstGeom prst="ellipse">
            <a:avLst/>
          </a:prstGeom>
          <a:solidFill>
            <a:srgbClr val="0F766E"/>
          </a:solidFill>
          <a:ln w="12700">
            <a:solidFill>
              <a:srgbClr val="0F766E"/>
            </a:solidFill>
            <a:prstDash val="solid"/>
          </a:ln>
        </p:spPr>
        <p:txBody>
          <a:bodyPr/>
          <a:lstStyle/>
          <a:p>
            <a:endParaRPr lang="en-IN"/>
          </a:p>
        </p:txBody>
      </p:sp>
      <p:sp>
        <p:nvSpPr>
          <p:cNvPr id="30" name="Text 28"/>
          <p:cNvSpPr/>
          <p:nvPr/>
        </p:nvSpPr>
        <p:spPr>
          <a:xfrm>
            <a:off x="777240" y="401421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1" name="Text 29"/>
          <p:cNvSpPr/>
          <p:nvPr/>
        </p:nvSpPr>
        <p:spPr>
          <a:xfrm>
            <a:off x="1188720" y="3941064"/>
            <a:ext cx="2651760" cy="274320"/>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Authentication</a:t>
            </a:r>
            <a:endParaRPr lang="en-US" sz="1200" dirty="0"/>
          </a:p>
        </p:txBody>
      </p:sp>
      <p:sp>
        <p:nvSpPr>
          <p:cNvPr id="32" name="Text 30"/>
          <p:cNvSpPr/>
          <p:nvPr/>
        </p:nvSpPr>
        <p:spPr>
          <a:xfrm>
            <a:off x="1188720" y="4187952"/>
            <a:ext cx="2651760" cy="256032"/>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Password + MFA verification</a:t>
            </a:r>
            <a:endParaRPr lang="en-US" sz="900" dirty="0"/>
          </a:p>
        </p:txBody>
      </p:sp>
      <p:sp>
        <p:nvSpPr>
          <p:cNvPr id="33" name="Shape 31"/>
          <p:cNvSpPr/>
          <p:nvPr/>
        </p:nvSpPr>
        <p:spPr>
          <a:xfrm>
            <a:off x="2286000" y="4462272"/>
            <a:ext cx="0" cy="137160"/>
          </a:xfrm>
          <a:prstGeom prst="line">
            <a:avLst/>
          </a:prstGeom>
          <a:noFill/>
          <a:ln w="25400">
            <a:solidFill>
              <a:srgbClr val="2E86DE"/>
            </a:solidFill>
            <a:prstDash val="solid"/>
            <a:tailEnd type="triangle"/>
          </a:ln>
        </p:spPr>
        <p:txBody>
          <a:bodyPr/>
          <a:lstStyle/>
          <a:p>
            <a:endParaRPr lang="en-IN"/>
          </a:p>
        </p:txBody>
      </p:sp>
      <p:sp>
        <p:nvSpPr>
          <p:cNvPr id="34" name="Shape 32"/>
          <p:cNvSpPr/>
          <p:nvPr/>
        </p:nvSpPr>
        <p:spPr>
          <a:xfrm>
            <a:off x="640080" y="4599432"/>
            <a:ext cx="3291840" cy="566928"/>
          </a:xfrm>
          <a:prstGeom prst="roundRect">
            <a:avLst>
              <a:gd name="adj" fmla="val 12903"/>
            </a:avLst>
          </a:prstGeom>
          <a:solidFill>
            <a:srgbClr val="FFFFFF"/>
          </a:solidFill>
          <a:ln w="19050">
            <a:solidFill>
              <a:srgbClr val="1E5AA8"/>
            </a:solidFill>
            <a:prstDash val="solid"/>
          </a:ln>
          <a:effectLst>
            <a:outerShdw blurRad="76200" dist="12700" dir="5400000" algn="bl" rotWithShape="0">
              <a:srgbClr val="0B2545">
                <a:alpha val="8000"/>
              </a:srgbClr>
            </a:outerShdw>
          </a:effectLst>
        </p:spPr>
        <p:txBody>
          <a:bodyPr/>
          <a:lstStyle/>
          <a:p>
            <a:endParaRPr lang="en-IN"/>
          </a:p>
        </p:txBody>
      </p:sp>
      <p:sp>
        <p:nvSpPr>
          <p:cNvPr id="35" name="Shape 33"/>
          <p:cNvSpPr/>
          <p:nvPr/>
        </p:nvSpPr>
        <p:spPr>
          <a:xfrm>
            <a:off x="777240" y="4718304"/>
            <a:ext cx="329184" cy="329184"/>
          </a:xfrm>
          <a:prstGeom prst="ellipse">
            <a:avLst/>
          </a:prstGeom>
          <a:solidFill>
            <a:srgbClr val="1E5AA8"/>
          </a:solidFill>
          <a:ln w="12700">
            <a:solidFill>
              <a:srgbClr val="1E5AA8"/>
            </a:solidFill>
            <a:prstDash val="solid"/>
          </a:ln>
        </p:spPr>
        <p:txBody>
          <a:bodyPr/>
          <a:lstStyle/>
          <a:p>
            <a:endParaRPr lang="en-IN"/>
          </a:p>
        </p:txBody>
      </p:sp>
      <p:sp>
        <p:nvSpPr>
          <p:cNvPr id="36" name="Text 34"/>
          <p:cNvSpPr/>
          <p:nvPr/>
        </p:nvSpPr>
        <p:spPr>
          <a:xfrm>
            <a:off x="777240" y="471830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7" name="Text 35"/>
          <p:cNvSpPr/>
          <p:nvPr/>
        </p:nvSpPr>
        <p:spPr>
          <a:xfrm>
            <a:off x="1188720" y="4645152"/>
            <a:ext cx="2651760" cy="274320"/>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IAM Service</a:t>
            </a:r>
            <a:endParaRPr lang="en-US" sz="1200" dirty="0"/>
          </a:p>
        </p:txBody>
      </p:sp>
      <p:sp>
        <p:nvSpPr>
          <p:cNvPr id="38" name="Text 36"/>
          <p:cNvSpPr/>
          <p:nvPr/>
        </p:nvSpPr>
        <p:spPr>
          <a:xfrm>
            <a:off x="1188720" y="4892040"/>
            <a:ext cx="2651760" cy="256032"/>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Central policy decision point</a:t>
            </a:r>
            <a:endParaRPr lang="en-US" sz="900" dirty="0"/>
          </a:p>
        </p:txBody>
      </p:sp>
      <p:sp>
        <p:nvSpPr>
          <p:cNvPr id="39" name="Shape 37"/>
          <p:cNvSpPr/>
          <p:nvPr/>
        </p:nvSpPr>
        <p:spPr>
          <a:xfrm>
            <a:off x="2286000" y="5166360"/>
            <a:ext cx="0" cy="137160"/>
          </a:xfrm>
          <a:prstGeom prst="line">
            <a:avLst/>
          </a:prstGeom>
          <a:noFill/>
          <a:ln w="25400">
            <a:solidFill>
              <a:srgbClr val="2E86DE"/>
            </a:solidFill>
            <a:prstDash val="solid"/>
            <a:tailEnd type="triangle"/>
          </a:ln>
        </p:spPr>
        <p:txBody>
          <a:bodyPr/>
          <a:lstStyle/>
          <a:p>
            <a:endParaRPr lang="en-IN"/>
          </a:p>
        </p:txBody>
      </p:sp>
      <p:sp>
        <p:nvSpPr>
          <p:cNvPr id="40" name="Shape 38"/>
          <p:cNvSpPr/>
          <p:nvPr/>
        </p:nvSpPr>
        <p:spPr>
          <a:xfrm>
            <a:off x="640080" y="5303520"/>
            <a:ext cx="3291840" cy="566928"/>
          </a:xfrm>
          <a:prstGeom prst="roundRect">
            <a:avLst>
              <a:gd name="adj" fmla="val 12903"/>
            </a:avLst>
          </a:prstGeom>
          <a:solidFill>
            <a:srgbClr val="FFFFFF"/>
          </a:solidFill>
          <a:ln w="19050">
            <a:solidFill>
              <a:srgbClr val="B45309"/>
            </a:solidFill>
            <a:prstDash val="solid"/>
          </a:ln>
          <a:effectLst>
            <a:outerShdw blurRad="76200" dist="12700" dir="5400000" algn="bl" rotWithShape="0">
              <a:srgbClr val="0B2545">
                <a:alpha val="8000"/>
              </a:srgbClr>
            </a:outerShdw>
          </a:effectLst>
        </p:spPr>
        <p:txBody>
          <a:bodyPr/>
          <a:lstStyle/>
          <a:p>
            <a:endParaRPr lang="en-IN"/>
          </a:p>
        </p:txBody>
      </p:sp>
      <p:sp>
        <p:nvSpPr>
          <p:cNvPr id="41" name="Shape 39"/>
          <p:cNvSpPr/>
          <p:nvPr/>
        </p:nvSpPr>
        <p:spPr>
          <a:xfrm>
            <a:off x="777240" y="5422392"/>
            <a:ext cx="329184" cy="329184"/>
          </a:xfrm>
          <a:prstGeom prst="ellipse">
            <a:avLst/>
          </a:prstGeom>
          <a:solidFill>
            <a:srgbClr val="B45309"/>
          </a:solidFill>
          <a:ln w="12700">
            <a:solidFill>
              <a:srgbClr val="B45309"/>
            </a:solidFill>
            <a:prstDash val="solid"/>
          </a:ln>
        </p:spPr>
        <p:txBody>
          <a:bodyPr/>
          <a:lstStyle/>
          <a:p>
            <a:endParaRPr lang="en-IN"/>
          </a:p>
        </p:txBody>
      </p:sp>
      <p:sp>
        <p:nvSpPr>
          <p:cNvPr id="42" name="Text 40"/>
          <p:cNvSpPr/>
          <p:nvPr/>
        </p:nvSpPr>
        <p:spPr>
          <a:xfrm>
            <a:off x="777240" y="542239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3" name="Text 41"/>
          <p:cNvSpPr/>
          <p:nvPr/>
        </p:nvSpPr>
        <p:spPr>
          <a:xfrm>
            <a:off x="1188720" y="5349240"/>
            <a:ext cx="2651760" cy="274320"/>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Authorization Policies</a:t>
            </a:r>
            <a:endParaRPr lang="en-US" sz="1200" dirty="0"/>
          </a:p>
        </p:txBody>
      </p:sp>
      <p:sp>
        <p:nvSpPr>
          <p:cNvPr id="44" name="Text 42"/>
          <p:cNvSpPr/>
          <p:nvPr/>
        </p:nvSpPr>
        <p:spPr>
          <a:xfrm>
            <a:off x="1188720" y="5596128"/>
            <a:ext cx="2651760" cy="256032"/>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Evaluates allow / deny rules</a:t>
            </a:r>
            <a:endParaRPr lang="en-US" sz="900" dirty="0"/>
          </a:p>
        </p:txBody>
      </p:sp>
      <p:sp>
        <p:nvSpPr>
          <p:cNvPr id="45" name="Shape 43"/>
          <p:cNvSpPr/>
          <p:nvPr/>
        </p:nvSpPr>
        <p:spPr>
          <a:xfrm>
            <a:off x="3931920" y="4178808"/>
            <a:ext cx="914400" cy="0"/>
          </a:xfrm>
          <a:prstGeom prst="line">
            <a:avLst/>
          </a:prstGeom>
          <a:noFill/>
          <a:ln w="38100">
            <a:solidFill>
              <a:srgbClr val="2E86DE"/>
            </a:solidFill>
            <a:prstDash val="solid"/>
            <a:tailEnd type="triangle"/>
          </a:ln>
        </p:spPr>
        <p:txBody>
          <a:bodyPr/>
          <a:lstStyle/>
          <a:p>
            <a:endParaRPr lang="en-IN"/>
          </a:p>
        </p:txBody>
      </p:sp>
      <p:sp>
        <p:nvSpPr>
          <p:cNvPr id="46" name="Shape 44"/>
          <p:cNvSpPr/>
          <p:nvPr/>
        </p:nvSpPr>
        <p:spPr>
          <a:xfrm>
            <a:off x="5120640" y="2194560"/>
            <a:ext cx="6492240" cy="3840480"/>
          </a:xfrm>
          <a:prstGeom prst="roundRect">
            <a:avLst>
              <a:gd name="adj" fmla="val 2857"/>
            </a:avLst>
          </a:prstGeom>
          <a:solidFill>
            <a:srgbClr val="E8F1FB"/>
          </a:solidFill>
          <a:ln w="19050">
            <a:solidFill>
              <a:srgbClr val="1E5AA8"/>
            </a:solidFill>
            <a:prstDash val="dash"/>
          </a:ln>
        </p:spPr>
        <p:txBody>
          <a:bodyPr/>
          <a:lstStyle/>
          <a:p>
            <a:endParaRPr lang="en-IN"/>
          </a:p>
        </p:txBody>
      </p:sp>
      <p:sp>
        <p:nvSpPr>
          <p:cNvPr id="47" name="Text 45"/>
          <p:cNvSpPr/>
          <p:nvPr/>
        </p:nvSpPr>
        <p:spPr>
          <a:xfrm>
            <a:off x="5303520" y="2331720"/>
            <a:ext cx="612648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Cloud Resources</a:t>
            </a:r>
            <a:endParaRPr lang="en-US" sz="1400" dirty="0"/>
          </a:p>
        </p:txBody>
      </p:sp>
      <p:sp>
        <p:nvSpPr>
          <p:cNvPr id="48" name="Text 46"/>
          <p:cNvSpPr/>
          <p:nvPr/>
        </p:nvSpPr>
        <p:spPr>
          <a:xfrm>
            <a:off x="5303520" y="2651760"/>
            <a:ext cx="6126480" cy="274320"/>
          </a:xfrm>
          <a:prstGeom prst="rect">
            <a:avLst/>
          </a:prstGeom>
          <a:noFill/>
          <a:ln/>
        </p:spPr>
        <p:txBody>
          <a:bodyPr wrap="square" lIns="0" tIns="0" rIns="0" bIns="0"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Access granted after policy evaluation</a:t>
            </a:r>
            <a:endParaRPr lang="en-US" sz="1000" dirty="0"/>
          </a:p>
        </p:txBody>
      </p:sp>
      <p:sp>
        <p:nvSpPr>
          <p:cNvPr id="49" name="Shape 47"/>
          <p:cNvSpPr/>
          <p:nvPr/>
        </p:nvSpPr>
        <p:spPr>
          <a:xfrm>
            <a:off x="5303520" y="3108960"/>
            <a:ext cx="2971800" cy="1371600"/>
          </a:xfrm>
          <a:prstGeom prst="roundRect">
            <a:avLst>
              <a:gd name="adj" fmla="val 5333"/>
            </a:avLst>
          </a:prstGeom>
          <a:solidFill>
            <a:srgbClr val="FFFFFF"/>
          </a:solidFill>
          <a:ln w="12700">
            <a:solidFill>
              <a:srgbClr val="C7D9EE"/>
            </a:solidFill>
            <a:prstDash val="solid"/>
          </a:ln>
        </p:spPr>
        <p:txBody>
          <a:bodyPr/>
          <a:lstStyle/>
          <a:p>
            <a:endParaRPr lang="en-IN"/>
          </a:p>
        </p:txBody>
      </p:sp>
      <p:sp>
        <p:nvSpPr>
          <p:cNvPr id="50" name="Shape 48"/>
          <p:cNvSpPr/>
          <p:nvPr/>
        </p:nvSpPr>
        <p:spPr>
          <a:xfrm>
            <a:off x="5303520" y="3108960"/>
            <a:ext cx="2971800" cy="45720"/>
          </a:xfrm>
          <a:prstGeom prst="rect">
            <a:avLst/>
          </a:prstGeom>
          <a:solidFill>
            <a:srgbClr val="2E86DE"/>
          </a:solidFill>
          <a:ln w="12700">
            <a:solidFill>
              <a:srgbClr val="2E86DE"/>
            </a:solidFill>
            <a:prstDash val="solid"/>
          </a:ln>
        </p:spPr>
        <p:txBody>
          <a:bodyPr/>
          <a:lstStyle/>
          <a:p>
            <a:endParaRPr lang="en-IN"/>
          </a:p>
        </p:txBody>
      </p:sp>
      <p:sp>
        <p:nvSpPr>
          <p:cNvPr id="51" name="Text 49"/>
          <p:cNvSpPr/>
          <p:nvPr/>
        </p:nvSpPr>
        <p:spPr>
          <a:xfrm>
            <a:off x="5440680" y="3291840"/>
            <a:ext cx="2697480"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Virtual Machines</a:t>
            </a:r>
            <a:endParaRPr lang="en-US" sz="1300" dirty="0"/>
          </a:p>
        </p:txBody>
      </p:sp>
      <p:sp>
        <p:nvSpPr>
          <p:cNvPr id="52" name="Text 50"/>
          <p:cNvSpPr/>
          <p:nvPr/>
        </p:nvSpPr>
        <p:spPr>
          <a:xfrm>
            <a:off x="5440680" y="3703320"/>
            <a:ext cx="2697480" cy="36576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Compute instances</a:t>
            </a:r>
            <a:endParaRPr lang="en-US" sz="1000" dirty="0"/>
          </a:p>
        </p:txBody>
      </p:sp>
      <p:sp>
        <p:nvSpPr>
          <p:cNvPr id="53" name="Shape 51"/>
          <p:cNvSpPr/>
          <p:nvPr/>
        </p:nvSpPr>
        <p:spPr>
          <a:xfrm>
            <a:off x="8458200" y="3108960"/>
            <a:ext cx="2971800" cy="1371600"/>
          </a:xfrm>
          <a:prstGeom prst="roundRect">
            <a:avLst>
              <a:gd name="adj" fmla="val 5333"/>
            </a:avLst>
          </a:prstGeom>
          <a:solidFill>
            <a:srgbClr val="FFFFFF"/>
          </a:solidFill>
          <a:ln w="12700">
            <a:solidFill>
              <a:srgbClr val="C7D9EE"/>
            </a:solidFill>
            <a:prstDash val="solid"/>
          </a:ln>
        </p:spPr>
        <p:txBody>
          <a:bodyPr/>
          <a:lstStyle/>
          <a:p>
            <a:endParaRPr lang="en-IN"/>
          </a:p>
        </p:txBody>
      </p:sp>
      <p:sp>
        <p:nvSpPr>
          <p:cNvPr id="54" name="Shape 52"/>
          <p:cNvSpPr/>
          <p:nvPr/>
        </p:nvSpPr>
        <p:spPr>
          <a:xfrm>
            <a:off x="8458200" y="3108960"/>
            <a:ext cx="2971800" cy="45720"/>
          </a:xfrm>
          <a:prstGeom prst="rect">
            <a:avLst/>
          </a:prstGeom>
          <a:solidFill>
            <a:srgbClr val="2E86DE"/>
          </a:solidFill>
          <a:ln w="12700">
            <a:solidFill>
              <a:srgbClr val="2E86DE"/>
            </a:solidFill>
            <a:prstDash val="solid"/>
          </a:ln>
        </p:spPr>
        <p:txBody>
          <a:bodyPr/>
          <a:lstStyle/>
          <a:p>
            <a:endParaRPr lang="en-IN"/>
          </a:p>
        </p:txBody>
      </p:sp>
      <p:sp>
        <p:nvSpPr>
          <p:cNvPr id="55" name="Text 53"/>
          <p:cNvSpPr/>
          <p:nvPr/>
        </p:nvSpPr>
        <p:spPr>
          <a:xfrm>
            <a:off x="8595360" y="3291840"/>
            <a:ext cx="2697480"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Databases</a:t>
            </a:r>
            <a:endParaRPr lang="en-US" sz="1300" dirty="0"/>
          </a:p>
        </p:txBody>
      </p:sp>
      <p:sp>
        <p:nvSpPr>
          <p:cNvPr id="56" name="Text 54"/>
          <p:cNvSpPr/>
          <p:nvPr/>
        </p:nvSpPr>
        <p:spPr>
          <a:xfrm>
            <a:off x="8595360" y="3703320"/>
            <a:ext cx="2697480" cy="36576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Managed SQL / NoSQL</a:t>
            </a:r>
            <a:endParaRPr lang="en-US" sz="1000" dirty="0"/>
          </a:p>
        </p:txBody>
      </p:sp>
      <p:sp>
        <p:nvSpPr>
          <p:cNvPr id="57" name="Shape 55"/>
          <p:cNvSpPr/>
          <p:nvPr/>
        </p:nvSpPr>
        <p:spPr>
          <a:xfrm>
            <a:off x="5280659" y="4581144"/>
            <a:ext cx="2971800" cy="1371600"/>
          </a:xfrm>
          <a:prstGeom prst="roundRect">
            <a:avLst>
              <a:gd name="adj" fmla="val 5333"/>
            </a:avLst>
          </a:prstGeom>
          <a:solidFill>
            <a:srgbClr val="FFFFFF"/>
          </a:solidFill>
          <a:ln w="12700">
            <a:solidFill>
              <a:srgbClr val="C7D9EE"/>
            </a:solidFill>
            <a:prstDash val="solid"/>
          </a:ln>
        </p:spPr>
        <p:txBody>
          <a:bodyPr/>
          <a:lstStyle/>
          <a:p>
            <a:endParaRPr lang="en-IN"/>
          </a:p>
        </p:txBody>
      </p:sp>
      <p:sp>
        <p:nvSpPr>
          <p:cNvPr id="58" name="Shape 56"/>
          <p:cNvSpPr/>
          <p:nvPr/>
        </p:nvSpPr>
        <p:spPr>
          <a:xfrm>
            <a:off x="5269228" y="4599432"/>
            <a:ext cx="2971800" cy="45720"/>
          </a:xfrm>
          <a:prstGeom prst="rect">
            <a:avLst/>
          </a:prstGeom>
          <a:solidFill>
            <a:srgbClr val="2E86DE"/>
          </a:solidFill>
          <a:ln w="12700">
            <a:solidFill>
              <a:srgbClr val="2E86DE"/>
            </a:solidFill>
            <a:prstDash val="solid"/>
          </a:ln>
        </p:spPr>
        <p:txBody>
          <a:bodyPr/>
          <a:lstStyle/>
          <a:p>
            <a:endParaRPr lang="en-IN"/>
          </a:p>
        </p:txBody>
      </p:sp>
      <p:sp>
        <p:nvSpPr>
          <p:cNvPr id="59" name="Text 57"/>
          <p:cNvSpPr/>
          <p:nvPr/>
        </p:nvSpPr>
        <p:spPr>
          <a:xfrm>
            <a:off x="5440680" y="4846320"/>
            <a:ext cx="2697480"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Storage</a:t>
            </a:r>
            <a:endParaRPr lang="en-US" sz="1300" dirty="0"/>
          </a:p>
        </p:txBody>
      </p:sp>
      <p:sp>
        <p:nvSpPr>
          <p:cNvPr id="60" name="Text 58"/>
          <p:cNvSpPr/>
          <p:nvPr/>
        </p:nvSpPr>
        <p:spPr>
          <a:xfrm>
            <a:off x="5440680" y="5257800"/>
            <a:ext cx="2697480" cy="36576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Object &amp; block storage</a:t>
            </a:r>
            <a:endParaRPr lang="en-US" sz="1000" dirty="0"/>
          </a:p>
        </p:txBody>
      </p:sp>
      <p:sp>
        <p:nvSpPr>
          <p:cNvPr id="61" name="Shape 59"/>
          <p:cNvSpPr/>
          <p:nvPr/>
        </p:nvSpPr>
        <p:spPr>
          <a:xfrm>
            <a:off x="8446769" y="4562856"/>
            <a:ext cx="2971800" cy="1371600"/>
          </a:xfrm>
          <a:prstGeom prst="roundRect">
            <a:avLst>
              <a:gd name="adj" fmla="val 5333"/>
            </a:avLst>
          </a:prstGeom>
          <a:solidFill>
            <a:srgbClr val="FFFFFF"/>
          </a:solidFill>
          <a:ln w="12700">
            <a:solidFill>
              <a:srgbClr val="C7D9EE"/>
            </a:solidFill>
            <a:prstDash val="solid"/>
          </a:ln>
        </p:spPr>
        <p:txBody>
          <a:bodyPr/>
          <a:lstStyle/>
          <a:p>
            <a:endParaRPr lang="en-IN"/>
          </a:p>
        </p:txBody>
      </p:sp>
      <p:sp>
        <p:nvSpPr>
          <p:cNvPr id="62" name="Shape 60"/>
          <p:cNvSpPr/>
          <p:nvPr/>
        </p:nvSpPr>
        <p:spPr>
          <a:xfrm>
            <a:off x="8435338" y="4581144"/>
            <a:ext cx="2971800" cy="45720"/>
          </a:xfrm>
          <a:prstGeom prst="rect">
            <a:avLst/>
          </a:prstGeom>
          <a:solidFill>
            <a:srgbClr val="2E86DE"/>
          </a:solidFill>
          <a:ln w="12700">
            <a:solidFill>
              <a:srgbClr val="2E86DE"/>
            </a:solidFill>
            <a:prstDash val="solid"/>
          </a:ln>
        </p:spPr>
        <p:txBody>
          <a:bodyPr/>
          <a:lstStyle/>
          <a:p>
            <a:endParaRPr lang="en-IN"/>
          </a:p>
        </p:txBody>
      </p:sp>
      <p:sp>
        <p:nvSpPr>
          <p:cNvPr id="63" name="Text 61"/>
          <p:cNvSpPr/>
          <p:nvPr/>
        </p:nvSpPr>
        <p:spPr>
          <a:xfrm>
            <a:off x="8595360" y="4846320"/>
            <a:ext cx="2697480"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Applications</a:t>
            </a:r>
            <a:endParaRPr lang="en-US" sz="1300" dirty="0"/>
          </a:p>
        </p:txBody>
      </p:sp>
      <p:sp>
        <p:nvSpPr>
          <p:cNvPr id="64" name="Text 62"/>
          <p:cNvSpPr/>
          <p:nvPr/>
        </p:nvSpPr>
        <p:spPr>
          <a:xfrm>
            <a:off x="8595360" y="5257800"/>
            <a:ext cx="2697480" cy="36576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SaaS &amp; internal apps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D"/>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B2545"/>
          </a:solidFill>
          <a:ln w="12700">
            <a:solidFill>
              <a:srgbClr val="0B2545"/>
            </a:solidFill>
            <a:prstDash val="solid"/>
          </a:ln>
        </p:spPr>
        <p:txBody>
          <a:bodyPr/>
          <a:lstStyle/>
          <a:p>
            <a:endParaRPr lang="en-IN"/>
          </a:p>
        </p:txBody>
      </p:sp>
      <p:sp>
        <p:nvSpPr>
          <p:cNvPr id="3" name="Shape 1"/>
          <p:cNvSpPr/>
          <p:nvPr/>
        </p:nvSpPr>
        <p:spPr>
          <a:xfrm>
            <a:off x="0" y="320040"/>
            <a:ext cx="12161520" cy="45720"/>
          </a:xfrm>
          <a:prstGeom prst="rect">
            <a:avLst/>
          </a:prstGeom>
          <a:solidFill>
            <a:srgbClr val="2E86DE"/>
          </a:solidFill>
          <a:ln w="12700">
            <a:solidFill>
              <a:srgbClr val="2E86DE"/>
            </a:solidFill>
            <a:prstDash val="solid"/>
          </a:ln>
        </p:spPr>
        <p:txBody>
          <a:bodyPr/>
          <a:lstStyle/>
          <a:p>
            <a:endParaRPr lang="en-IN"/>
          </a:p>
        </p:txBody>
      </p:sp>
      <p:sp>
        <p:nvSpPr>
          <p:cNvPr id="4" name="Text 2"/>
          <p:cNvSpPr/>
          <p:nvPr/>
        </p:nvSpPr>
        <p:spPr>
          <a:xfrm>
            <a:off x="548640" y="502920"/>
            <a:ext cx="7315200" cy="320040"/>
          </a:xfrm>
          <a:prstGeom prst="rect">
            <a:avLst/>
          </a:prstGeom>
          <a:noFill/>
          <a:ln/>
        </p:spPr>
        <p:txBody>
          <a:bodyPr wrap="square" lIns="0" tIns="0" rIns="0" bIns="0" rtlCol="0" anchor="ctr"/>
          <a:lstStyle/>
          <a:p>
            <a:pPr marL="0" indent="0">
              <a:buNone/>
            </a:pPr>
            <a:r>
              <a:rPr lang="en-US" sz="1100" b="1" kern="0" spc="400" dirty="0">
                <a:solidFill>
                  <a:srgbClr val="2E86DE"/>
                </a:solidFill>
                <a:latin typeface="Calibri" pitchFamily="34" charset="0"/>
                <a:ea typeface="Calibri" pitchFamily="34" charset="-122"/>
                <a:cs typeface="Calibri" pitchFamily="34" charset="-120"/>
              </a:rPr>
              <a:t>SLIDE 06</a:t>
            </a:r>
            <a:endParaRPr lang="en-US" sz="1100" dirty="0"/>
          </a:p>
        </p:txBody>
      </p:sp>
      <p:sp>
        <p:nvSpPr>
          <p:cNvPr id="5" name="Text 3"/>
          <p:cNvSpPr/>
          <p:nvPr/>
        </p:nvSpPr>
        <p:spPr>
          <a:xfrm>
            <a:off x="548640" y="777240"/>
            <a:ext cx="10972800" cy="64008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How IAM Works — Step by Step</a:t>
            </a:r>
            <a:endParaRPr lang="en-US" sz="3000" dirty="0"/>
          </a:p>
        </p:txBody>
      </p:sp>
      <p:sp>
        <p:nvSpPr>
          <p:cNvPr id="6" name="Shape 4"/>
          <p:cNvSpPr/>
          <p:nvPr/>
        </p:nvSpPr>
        <p:spPr>
          <a:xfrm>
            <a:off x="548640" y="1463040"/>
            <a:ext cx="1097280" cy="0"/>
          </a:xfrm>
          <a:prstGeom prst="line">
            <a:avLst/>
          </a:prstGeom>
          <a:noFill/>
          <a:ln w="38100">
            <a:solidFill>
              <a:srgbClr val="2E86DE"/>
            </a:solidFill>
            <a:prstDash val="solid"/>
          </a:ln>
        </p:spPr>
        <p:txBody>
          <a:bodyPr/>
          <a:lstStyle/>
          <a:p>
            <a:endParaRPr lang="en-IN"/>
          </a:p>
        </p:txBody>
      </p:sp>
      <p:sp>
        <p:nvSpPr>
          <p:cNvPr id="7" name="Shape 5"/>
          <p:cNvSpPr/>
          <p:nvPr/>
        </p:nvSpPr>
        <p:spPr>
          <a:xfrm>
            <a:off x="0" y="6583680"/>
            <a:ext cx="12161520" cy="274320"/>
          </a:xfrm>
          <a:prstGeom prst="rect">
            <a:avLst/>
          </a:prstGeom>
          <a:solidFill>
            <a:srgbClr val="0B2545"/>
          </a:solidFill>
          <a:ln w="12700">
            <a:solidFill>
              <a:srgbClr val="0B2545"/>
            </a:solidFill>
            <a:prstDash val="solid"/>
          </a:ln>
        </p:spPr>
        <p:txBody>
          <a:bodyPr/>
          <a:lstStyle/>
          <a:p>
            <a:endParaRPr lang="en-IN"/>
          </a:p>
        </p:txBody>
      </p:sp>
      <p:sp>
        <p:nvSpPr>
          <p:cNvPr id="8" name="Text 6"/>
          <p:cNvSpPr/>
          <p:nvPr/>
        </p:nvSpPr>
        <p:spPr>
          <a:xfrm>
            <a:off x="548640" y="6583680"/>
            <a:ext cx="7315200" cy="27432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IAM in Cloud Environments  •  CSA15</a:t>
            </a:r>
            <a:endParaRPr lang="en-US" sz="900" dirty="0"/>
          </a:p>
        </p:txBody>
      </p:sp>
      <p:sp>
        <p:nvSpPr>
          <p:cNvPr id="9" name="Text 7"/>
          <p:cNvSpPr/>
          <p:nvPr/>
        </p:nvSpPr>
        <p:spPr>
          <a:xfrm>
            <a:off x="10789920" y="6583680"/>
            <a:ext cx="822960" cy="27432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6 / 12</a:t>
            </a:r>
            <a:endParaRPr lang="en-US" sz="900" dirty="0"/>
          </a:p>
        </p:txBody>
      </p:sp>
      <p:sp>
        <p:nvSpPr>
          <p:cNvPr id="10" name="Shape 8"/>
          <p:cNvSpPr/>
          <p:nvPr/>
        </p:nvSpPr>
        <p:spPr>
          <a:xfrm>
            <a:off x="548640" y="1828800"/>
            <a:ext cx="3474720" cy="196596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11" name="Text 9"/>
          <p:cNvSpPr/>
          <p:nvPr/>
        </p:nvSpPr>
        <p:spPr>
          <a:xfrm>
            <a:off x="731520" y="1965960"/>
            <a:ext cx="1280160" cy="1463040"/>
          </a:xfrm>
          <a:prstGeom prst="rect">
            <a:avLst/>
          </a:prstGeom>
          <a:noFill/>
          <a:ln/>
        </p:spPr>
        <p:txBody>
          <a:bodyPr wrap="square" lIns="0" tIns="0" rIns="0" bIns="0" rtlCol="0" anchor="ctr"/>
          <a:lstStyle/>
          <a:p>
            <a:pPr marL="0" indent="0">
              <a:buNone/>
            </a:pPr>
            <a:r>
              <a:rPr lang="en-US" sz="6600" b="1" dirty="0">
                <a:solidFill>
                  <a:srgbClr val="E8F1FB"/>
                </a:solidFill>
                <a:latin typeface="Calibri" pitchFamily="34" charset="0"/>
                <a:ea typeface="Calibri" pitchFamily="34" charset="-122"/>
                <a:cs typeface="Calibri" pitchFamily="34" charset="-120"/>
              </a:rPr>
              <a:t>1</a:t>
            </a:r>
            <a:endParaRPr lang="en-US" sz="6600" dirty="0"/>
          </a:p>
        </p:txBody>
      </p:sp>
      <p:sp>
        <p:nvSpPr>
          <p:cNvPr id="12" name="Shape 10"/>
          <p:cNvSpPr/>
          <p:nvPr/>
        </p:nvSpPr>
        <p:spPr>
          <a:xfrm>
            <a:off x="548640" y="1828800"/>
            <a:ext cx="73152" cy="1965960"/>
          </a:xfrm>
          <a:prstGeom prst="rect">
            <a:avLst/>
          </a:prstGeom>
          <a:solidFill>
            <a:srgbClr val="2E86DE"/>
          </a:solidFill>
          <a:ln w="12700">
            <a:solidFill>
              <a:srgbClr val="2E86DE"/>
            </a:solidFill>
            <a:prstDash val="solid"/>
          </a:ln>
        </p:spPr>
        <p:txBody>
          <a:bodyPr/>
          <a:lstStyle/>
          <a:p>
            <a:endParaRPr lang="en-IN"/>
          </a:p>
        </p:txBody>
      </p:sp>
      <p:sp>
        <p:nvSpPr>
          <p:cNvPr id="13" name="Text 11"/>
          <p:cNvSpPr/>
          <p:nvPr/>
        </p:nvSpPr>
        <p:spPr>
          <a:xfrm>
            <a:off x="822960" y="2011680"/>
            <a:ext cx="3017520" cy="274320"/>
          </a:xfrm>
          <a:prstGeom prst="rect">
            <a:avLst/>
          </a:prstGeom>
          <a:noFill/>
          <a:ln/>
        </p:spPr>
        <p:txBody>
          <a:bodyPr wrap="square" lIns="0" tIns="0" rIns="0" bIns="0" rtlCol="0" anchor="ctr"/>
          <a:lstStyle/>
          <a:p>
            <a:pPr marL="0" indent="0">
              <a:buNone/>
            </a:pPr>
            <a:r>
              <a:rPr lang="en-US" sz="1000" b="1" kern="0" spc="300" dirty="0">
                <a:solidFill>
                  <a:srgbClr val="2E86DE"/>
                </a:solidFill>
                <a:latin typeface="Calibri" pitchFamily="34" charset="0"/>
                <a:ea typeface="Calibri" pitchFamily="34" charset="-122"/>
                <a:cs typeface="Calibri" pitchFamily="34" charset="-120"/>
              </a:rPr>
              <a:t>STEP 1</a:t>
            </a:r>
            <a:endParaRPr lang="en-US" sz="1000" dirty="0"/>
          </a:p>
        </p:txBody>
      </p:sp>
      <p:sp>
        <p:nvSpPr>
          <p:cNvPr id="14" name="Text 12"/>
          <p:cNvSpPr/>
          <p:nvPr/>
        </p:nvSpPr>
        <p:spPr>
          <a:xfrm>
            <a:off x="822960" y="2331720"/>
            <a:ext cx="3017520" cy="45720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User Requests Access</a:t>
            </a:r>
            <a:endParaRPr lang="en-US" sz="1500" dirty="0"/>
          </a:p>
        </p:txBody>
      </p:sp>
      <p:sp>
        <p:nvSpPr>
          <p:cNvPr id="15" name="Text 13"/>
          <p:cNvSpPr/>
          <p:nvPr/>
        </p:nvSpPr>
        <p:spPr>
          <a:xfrm>
            <a:off x="822960" y="2834640"/>
            <a:ext cx="3017520" cy="86868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The user attempts to access a cloud resource or service.</a:t>
            </a:r>
            <a:endParaRPr lang="en-US" sz="1100" dirty="0"/>
          </a:p>
        </p:txBody>
      </p:sp>
      <p:sp>
        <p:nvSpPr>
          <p:cNvPr id="16" name="Shape 14"/>
          <p:cNvSpPr/>
          <p:nvPr/>
        </p:nvSpPr>
        <p:spPr>
          <a:xfrm>
            <a:off x="4023360" y="2811780"/>
            <a:ext cx="320040" cy="0"/>
          </a:xfrm>
          <a:prstGeom prst="line">
            <a:avLst/>
          </a:prstGeom>
          <a:noFill/>
          <a:ln w="25400">
            <a:solidFill>
              <a:srgbClr val="2E86DE"/>
            </a:solidFill>
            <a:prstDash val="solid"/>
            <a:tailEnd type="triangle"/>
          </a:ln>
        </p:spPr>
        <p:txBody>
          <a:bodyPr/>
          <a:lstStyle/>
          <a:p>
            <a:endParaRPr lang="en-IN"/>
          </a:p>
        </p:txBody>
      </p:sp>
      <p:sp>
        <p:nvSpPr>
          <p:cNvPr id="17" name="Shape 15"/>
          <p:cNvSpPr/>
          <p:nvPr/>
        </p:nvSpPr>
        <p:spPr>
          <a:xfrm>
            <a:off x="4343400" y="1828800"/>
            <a:ext cx="3474720" cy="196596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18" name="Text 16"/>
          <p:cNvSpPr/>
          <p:nvPr/>
        </p:nvSpPr>
        <p:spPr>
          <a:xfrm>
            <a:off x="4526280" y="1965960"/>
            <a:ext cx="1280160" cy="1463040"/>
          </a:xfrm>
          <a:prstGeom prst="rect">
            <a:avLst/>
          </a:prstGeom>
          <a:noFill/>
          <a:ln/>
        </p:spPr>
        <p:txBody>
          <a:bodyPr wrap="square" lIns="0" tIns="0" rIns="0" bIns="0" rtlCol="0" anchor="ctr"/>
          <a:lstStyle/>
          <a:p>
            <a:pPr marL="0" indent="0">
              <a:buNone/>
            </a:pPr>
            <a:r>
              <a:rPr lang="en-US" sz="6600" b="1" dirty="0">
                <a:solidFill>
                  <a:srgbClr val="E8F1FB"/>
                </a:solidFill>
                <a:latin typeface="Calibri" pitchFamily="34" charset="0"/>
                <a:ea typeface="Calibri" pitchFamily="34" charset="-122"/>
                <a:cs typeface="Calibri" pitchFamily="34" charset="-120"/>
              </a:rPr>
              <a:t>2</a:t>
            </a:r>
            <a:endParaRPr lang="en-US" sz="6600" dirty="0"/>
          </a:p>
        </p:txBody>
      </p:sp>
      <p:sp>
        <p:nvSpPr>
          <p:cNvPr id="19" name="Shape 17"/>
          <p:cNvSpPr/>
          <p:nvPr/>
        </p:nvSpPr>
        <p:spPr>
          <a:xfrm>
            <a:off x="4343400" y="1828800"/>
            <a:ext cx="73152" cy="1965960"/>
          </a:xfrm>
          <a:prstGeom prst="rect">
            <a:avLst/>
          </a:prstGeom>
          <a:solidFill>
            <a:srgbClr val="2E86DE"/>
          </a:solidFill>
          <a:ln w="12700">
            <a:solidFill>
              <a:srgbClr val="2E86DE"/>
            </a:solidFill>
            <a:prstDash val="solid"/>
          </a:ln>
        </p:spPr>
        <p:txBody>
          <a:bodyPr/>
          <a:lstStyle/>
          <a:p>
            <a:endParaRPr lang="en-IN"/>
          </a:p>
        </p:txBody>
      </p:sp>
      <p:sp>
        <p:nvSpPr>
          <p:cNvPr id="20" name="Text 18"/>
          <p:cNvSpPr/>
          <p:nvPr/>
        </p:nvSpPr>
        <p:spPr>
          <a:xfrm>
            <a:off x="4617720" y="2011680"/>
            <a:ext cx="3017520" cy="274320"/>
          </a:xfrm>
          <a:prstGeom prst="rect">
            <a:avLst/>
          </a:prstGeom>
          <a:noFill/>
          <a:ln/>
        </p:spPr>
        <p:txBody>
          <a:bodyPr wrap="square" lIns="0" tIns="0" rIns="0" bIns="0" rtlCol="0" anchor="ctr"/>
          <a:lstStyle/>
          <a:p>
            <a:pPr marL="0" indent="0">
              <a:buNone/>
            </a:pPr>
            <a:r>
              <a:rPr lang="en-US" sz="1000" b="1" kern="0" spc="300" dirty="0">
                <a:solidFill>
                  <a:srgbClr val="2E86DE"/>
                </a:solidFill>
                <a:latin typeface="Calibri" pitchFamily="34" charset="0"/>
                <a:ea typeface="Calibri" pitchFamily="34" charset="-122"/>
                <a:cs typeface="Calibri" pitchFamily="34" charset="-120"/>
              </a:rPr>
              <a:t>STEP 2</a:t>
            </a:r>
            <a:endParaRPr lang="en-US" sz="1000" dirty="0"/>
          </a:p>
        </p:txBody>
      </p:sp>
      <p:sp>
        <p:nvSpPr>
          <p:cNvPr id="21" name="Text 19"/>
          <p:cNvSpPr/>
          <p:nvPr/>
        </p:nvSpPr>
        <p:spPr>
          <a:xfrm>
            <a:off x="4617720" y="2331720"/>
            <a:ext cx="3017520" cy="45720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Identity Verification</a:t>
            </a:r>
            <a:endParaRPr lang="en-US" sz="1500" dirty="0"/>
          </a:p>
        </p:txBody>
      </p:sp>
      <p:sp>
        <p:nvSpPr>
          <p:cNvPr id="22" name="Text 20"/>
          <p:cNvSpPr/>
          <p:nvPr/>
        </p:nvSpPr>
        <p:spPr>
          <a:xfrm>
            <a:off x="4617720" y="2834640"/>
            <a:ext cx="3017520" cy="86868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IAM identifies the account attempting the request.</a:t>
            </a:r>
            <a:endParaRPr lang="en-US" sz="1100" dirty="0"/>
          </a:p>
        </p:txBody>
      </p:sp>
      <p:sp>
        <p:nvSpPr>
          <p:cNvPr id="23" name="Shape 21"/>
          <p:cNvSpPr/>
          <p:nvPr/>
        </p:nvSpPr>
        <p:spPr>
          <a:xfrm>
            <a:off x="7818120" y="2811780"/>
            <a:ext cx="320040" cy="0"/>
          </a:xfrm>
          <a:prstGeom prst="line">
            <a:avLst/>
          </a:prstGeom>
          <a:noFill/>
          <a:ln w="25400">
            <a:solidFill>
              <a:srgbClr val="2E86DE"/>
            </a:solidFill>
            <a:prstDash val="solid"/>
            <a:tailEnd type="triangle"/>
          </a:ln>
        </p:spPr>
        <p:txBody>
          <a:bodyPr/>
          <a:lstStyle/>
          <a:p>
            <a:endParaRPr lang="en-IN"/>
          </a:p>
        </p:txBody>
      </p:sp>
      <p:sp>
        <p:nvSpPr>
          <p:cNvPr id="24" name="Shape 22"/>
          <p:cNvSpPr/>
          <p:nvPr/>
        </p:nvSpPr>
        <p:spPr>
          <a:xfrm>
            <a:off x="8138160" y="1828800"/>
            <a:ext cx="3474720" cy="196596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25" name="Text 23"/>
          <p:cNvSpPr/>
          <p:nvPr/>
        </p:nvSpPr>
        <p:spPr>
          <a:xfrm>
            <a:off x="8321040" y="1965960"/>
            <a:ext cx="1280160" cy="1463040"/>
          </a:xfrm>
          <a:prstGeom prst="rect">
            <a:avLst/>
          </a:prstGeom>
          <a:noFill/>
          <a:ln/>
        </p:spPr>
        <p:txBody>
          <a:bodyPr wrap="square" lIns="0" tIns="0" rIns="0" bIns="0" rtlCol="0" anchor="ctr"/>
          <a:lstStyle/>
          <a:p>
            <a:pPr marL="0" indent="0">
              <a:buNone/>
            </a:pPr>
            <a:r>
              <a:rPr lang="en-US" sz="6600" b="1" dirty="0">
                <a:solidFill>
                  <a:srgbClr val="E8F1FB"/>
                </a:solidFill>
                <a:latin typeface="Calibri" pitchFamily="34" charset="0"/>
                <a:ea typeface="Calibri" pitchFamily="34" charset="-122"/>
                <a:cs typeface="Calibri" pitchFamily="34" charset="-120"/>
              </a:rPr>
              <a:t>3</a:t>
            </a:r>
            <a:endParaRPr lang="en-US" sz="6600" dirty="0"/>
          </a:p>
        </p:txBody>
      </p:sp>
      <p:sp>
        <p:nvSpPr>
          <p:cNvPr id="26" name="Shape 24"/>
          <p:cNvSpPr/>
          <p:nvPr/>
        </p:nvSpPr>
        <p:spPr>
          <a:xfrm>
            <a:off x="8138160" y="1828800"/>
            <a:ext cx="73152" cy="1965960"/>
          </a:xfrm>
          <a:prstGeom prst="rect">
            <a:avLst/>
          </a:prstGeom>
          <a:solidFill>
            <a:srgbClr val="2E86DE"/>
          </a:solidFill>
          <a:ln w="12700">
            <a:solidFill>
              <a:srgbClr val="2E86DE"/>
            </a:solidFill>
            <a:prstDash val="solid"/>
          </a:ln>
        </p:spPr>
        <p:txBody>
          <a:bodyPr/>
          <a:lstStyle/>
          <a:p>
            <a:endParaRPr lang="en-IN"/>
          </a:p>
        </p:txBody>
      </p:sp>
      <p:sp>
        <p:nvSpPr>
          <p:cNvPr id="27" name="Text 25"/>
          <p:cNvSpPr/>
          <p:nvPr/>
        </p:nvSpPr>
        <p:spPr>
          <a:xfrm>
            <a:off x="8412480" y="2011680"/>
            <a:ext cx="3017520" cy="274320"/>
          </a:xfrm>
          <a:prstGeom prst="rect">
            <a:avLst/>
          </a:prstGeom>
          <a:noFill/>
          <a:ln/>
        </p:spPr>
        <p:txBody>
          <a:bodyPr wrap="square" lIns="0" tIns="0" rIns="0" bIns="0" rtlCol="0" anchor="ctr"/>
          <a:lstStyle/>
          <a:p>
            <a:pPr marL="0" indent="0">
              <a:buNone/>
            </a:pPr>
            <a:r>
              <a:rPr lang="en-US" sz="1000" b="1" kern="0" spc="300" dirty="0">
                <a:solidFill>
                  <a:srgbClr val="2E86DE"/>
                </a:solidFill>
                <a:latin typeface="Calibri" pitchFamily="34" charset="0"/>
                <a:ea typeface="Calibri" pitchFamily="34" charset="-122"/>
                <a:cs typeface="Calibri" pitchFamily="34" charset="-120"/>
              </a:rPr>
              <a:t>STEP 3</a:t>
            </a:r>
            <a:endParaRPr lang="en-US" sz="1000" dirty="0"/>
          </a:p>
        </p:txBody>
      </p:sp>
      <p:sp>
        <p:nvSpPr>
          <p:cNvPr id="28" name="Text 26"/>
          <p:cNvSpPr/>
          <p:nvPr/>
        </p:nvSpPr>
        <p:spPr>
          <a:xfrm>
            <a:off x="8412480" y="2331720"/>
            <a:ext cx="3017520" cy="45720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Password + MFA</a:t>
            </a:r>
            <a:endParaRPr lang="en-US" sz="1500" dirty="0"/>
          </a:p>
        </p:txBody>
      </p:sp>
      <p:sp>
        <p:nvSpPr>
          <p:cNvPr id="29" name="Text 27"/>
          <p:cNvSpPr/>
          <p:nvPr/>
        </p:nvSpPr>
        <p:spPr>
          <a:xfrm>
            <a:off x="8412480" y="2834640"/>
            <a:ext cx="3017520" cy="86868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Credentials plus a second factor are verified.</a:t>
            </a:r>
            <a:endParaRPr lang="en-US" sz="1100" dirty="0"/>
          </a:p>
        </p:txBody>
      </p:sp>
      <p:sp>
        <p:nvSpPr>
          <p:cNvPr id="30" name="Shape 28"/>
          <p:cNvSpPr/>
          <p:nvPr/>
        </p:nvSpPr>
        <p:spPr>
          <a:xfrm>
            <a:off x="548640" y="4114800"/>
            <a:ext cx="3474720" cy="196596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31" name="Text 29"/>
          <p:cNvSpPr/>
          <p:nvPr/>
        </p:nvSpPr>
        <p:spPr>
          <a:xfrm>
            <a:off x="731520" y="4251960"/>
            <a:ext cx="1280160" cy="1463040"/>
          </a:xfrm>
          <a:prstGeom prst="rect">
            <a:avLst/>
          </a:prstGeom>
          <a:noFill/>
          <a:ln/>
        </p:spPr>
        <p:txBody>
          <a:bodyPr wrap="square" lIns="0" tIns="0" rIns="0" bIns="0" rtlCol="0" anchor="ctr"/>
          <a:lstStyle/>
          <a:p>
            <a:pPr marL="0" indent="0">
              <a:buNone/>
            </a:pPr>
            <a:r>
              <a:rPr lang="en-US" sz="6600" b="1" dirty="0">
                <a:solidFill>
                  <a:srgbClr val="E8F1FB"/>
                </a:solidFill>
                <a:latin typeface="Calibri" pitchFamily="34" charset="0"/>
                <a:ea typeface="Calibri" pitchFamily="34" charset="-122"/>
                <a:cs typeface="Calibri" pitchFamily="34" charset="-120"/>
              </a:rPr>
              <a:t>4</a:t>
            </a:r>
            <a:endParaRPr lang="en-US" sz="6600" dirty="0"/>
          </a:p>
        </p:txBody>
      </p:sp>
      <p:sp>
        <p:nvSpPr>
          <p:cNvPr id="32" name="Shape 30"/>
          <p:cNvSpPr/>
          <p:nvPr/>
        </p:nvSpPr>
        <p:spPr>
          <a:xfrm>
            <a:off x="548640" y="4114800"/>
            <a:ext cx="73152" cy="1965960"/>
          </a:xfrm>
          <a:prstGeom prst="rect">
            <a:avLst/>
          </a:prstGeom>
          <a:solidFill>
            <a:srgbClr val="2E86DE"/>
          </a:solidFill>
          <a:ln w="12700">
            <a:solidFill>
              <a:srgbClr val="2E86DE"/>
            </a:solidFill>
            <a:prstDash val="solid"/>
          </a:ln>
        </p:spPr>
        <p:txBody>
          <a:bodyPr/>
          <a:lstStyle/>
          <a:p>
            <a:endParaRPr lang="en-IN"/>
          </a:p>
        </p:txBody>
      </p:sp>
      <p:sp>
        <p:nvSpPr>
          <p:cNvPr id="33" name="Text 31"/>
          <p:cNvSpPr/>
          <p:nvPr/>
        </p:nvSpPr>
        <p:spPr>
          <a:xfrm>
            <a:off x="822960" y="4297680"/>
            <a:ext cx="3017520" cy="274320"/>
          </a:xfrm>
          <a:prstGeom prst="rect">
            <a:avLst/>
          </a:prstGeom>
          <a:noFill/>
          <a:ln/>
        </p:spPr>
        <p:txBody>
          <a:bodyPr wrap="square" lIns="0" tIns="0" rIns="0" bIns="0" rtlCol="0" anchor="ctr"/>
          <a:lstStyle/>
          <a:p>
            <a:pPr marL="0" indent="0">
              <a:buNone/>
            </a:pPr>
            <a:r>
              <a:rPr lang="en-US" sz="1000" b="1" kern="0" spc="300" dirty="0">
                <a:solidFill>
                  <a:srgbClr val="2E86DE"/>
                </a:solidFill>
                <a:latin typeface="Calibri" pitchFamily="34" charset="0"/>
                <a:ea typeface="Calibri" pitchFamily="34" charset="-122"/>
                <a:cs typeface="Calibri" pitchFamily="34" charset="-120"/>
              </a:rPr>
              <a:t>STEP 4</a:t>
            </a:r>
            <a:endParaRPr lang="en-US" sz="1000" dirty="0"/>
          </a:p>
        </p:txBody>
      </p:sp>
      <p:sp>
        <p:nvSpPr>
          <p:cNvPr id="34" name="Text 32"/>
          <p:cNvSpPr/>
          <p:nvPr/>
        </p:nvSpPr>
        <p:spPr>
          <a:xfrm>
            <a:off x="822960" y="4617720"/>
            <a:ext cx="3017520" cy="45720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Policy Evaluation</a:t>
            </a:r>
            <a:endParaRPr lang="en-US" sz="1500" dirty="0"/>
          </a:p>
        </p:txBody>
      </p:sp>
      <p:sp>
        <p:nvSpPr>
          <p:cNvPr id="35" name="Text 33"/>
          <p:cNvSpPr/>
          <p:nvPr/>
        </p:nvSpPr>
        <p:spPr>
          <a:xfrm>
            <a:off x="822960" y="5120640"/>
            <a:ext cx="3017520" cy="86868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IAM engine checks roles, permissions and conditions.</a:t>
            </a:r>
            <a:endParaRPr lang="en-US" sz="1100" dirty="0"/>
          </a:p>
        </p:txBody>
      </p:sp>
      <p:sp>
        <p:nvSpPr>
          <p:cNvPr id="36" name="Shape 34"/>
          <p:cNvSpPr/>
          <p:nvPr/>
        </p:nvSpPr>
        <p:spPr>
          <a:xfrm>
            <a:off x="4023360" y="5097780"/>
            <a:ext cx="320040" cy="0"/>
          </a:xfrm>
          <a:prstGeom prst="line">
            <a:avLst/>
          </a:prstGeom>
          <a:noFill/>
          <a:ln w="25400">
            <a:solidFill>
              <a:srgbClr val="2E86DE"/>
            </a:solidFill>
            <a:prstDash val="solid"/>
            <a:tailEnd type="triangle"/>
          </a:ln>
        </p:spPr>
        <p:txBody>
          <a:bodyPr/>
          <a:lstStyle/>
          <a:p>
            <a:endParaRPr lang="en-IN"/>
          </a:p>
        </p:txBody>
      </p:sp>
      <p:sp>
        <p:nvSpPr>
          <p:cNvPr id="37" name="Shape 35"/>
          <p:cNvSpPr/>
          <p:nvPr/>
        </p:nvSpPr>
        <p:spPr>
          <a:xfrm>
            <a:off x="4343400" y="4114800"/>
            <a:ext cx="3474720" cy="196596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38" name="Text 36"/>
          <p:cNvSpPr/>
          <p:nvPr/>
        </p:nvSpPr>
        <p:spPr>
          <a:xfrm>
            <a:off x="4526280" y="4251960"/>
            <a:ext cx="1280160" cy="1463040"/>
          </a:xfrm>
          <a:prstGeom prst="rect">
            <a:avLst/>
          </a:prstGeom>
          <a:noFill/>
          <a:ln/>
        </p:spPr>
        <p:txBody>
          <a:bodyPr wrap="square" lIns="0" tIns="0" rIns="0" bIns="0" rtlCol="0" anchor="ctr"/>
          <a:lstStyle/>
          <a:p>
            <a:pPr marL="0" indent="0">
              <a:buNone/>
            </a:pPr>
            <a:r>
              <a:rPr lang="en-US" sz="6600" b="1" dirty="0">
                <a:solidFill>
                  <a:srgbClr val="E8F1FB"/>
                </a:solidFill>
                <a:latin typeface="Calibri" pitchFamily="34" charset="0"/>
                <a:ea typeface="Calibri" pitchFamily="34" charset="-122"/>
                <a:cs typeface="Calibri" pitchFamily="34" charset="-120"/>
              </a:rPr>
              <a:t>5</a:t>
            </a:r>
            <a:endParaRPr lang="en-US" sz="6600" dirty="0"/>
          </a:p>
        </p:txBody>
      </p:sp>
      <p:sp>
        <p:nvSpPr>
          <p:cNvPr id="39" name="Shape 37"/>
          <p:cNvSpPr/>
          <p:nvPr/>
        </p:nvSpPr>
        <p:spPr>
          <a:xfrm>
            <a:off x="4343400" y="4114800"/>
            <a:ext cx="73152" cy="1965960"/>
          </a:xfrm>
          <a:prstGeom prst="rect">
            <a:avLst/>
          </a:prstGeom>
          <a:solidFill>
            <a:srgbClr val="2E86DE"/>
          </a:solidFill>
          <a:ln w="12700">
            <a:solidFill>
              <a:srgbClr val="2E86DE"/>
            </a:solidFill>
            <a:prstDash val="solid"/>
          </a:ln>
        </p:spPr>
        <p:txBody>
          <a:bodyPr/>
          <a:lstStyle/>
          <a:p>
            <a:endParaRPr lang="en-IN"/>
          </a:p>
        </p:txBody>
      </p:sp>
      <p:sp>
        <p:nvSpPr>
          <p:cNvPr id="40" name="Text 38"/>
          <p:cNvSpPr/>
          <p:nvPr/>
        </p:nvSpPr>
        <p:spPr>
          <a:xfrm>
            <a:off x="4617720" y="4297680"/>
            <a:ext cx="3017520" cy="274320"/>
          </a:xfrm>
          <a:prstGeom prst="rect">
            <a:avLst/>
          </a:prstGeom>
          <a:noFill/>
          <a:ln/>
        </p:spPr>
        <p:txBody>
          <a:bodyPr wrap="square" lIns="0" tIns="0" rIns="0" bIns="0" rtlCol="0" anchor="ctr"/>
          <a:lstStyle/>
          <a:p>
            <a:pPr marL="0" indent="0">
              <a:buNone/>
            </a:pPr>
            <a:r>
              <a:rPr lang="en-US" sz="1000" b="1" kern="0" spc="300" dirty="0">
                <a:solidFill>
                  <a:srgbClr val="2E86DE"/>
                </a:solidFill>
                <a:latin typeface="Calibri" pitchFamily="34" charset="0"/>
                <a:ea typeface="Calibri" pitchFamily="34" charset="-122"/>
                <a:cs typeface="Calibri" pitchFamily="34" charset="-120"/>
              </a:rPr>
              <a:t>STEP 5</a:t>
            </a:r>
            <a:endParaRPr lang="en-US" sz="1000" dirty="0"/>
          </a:p>
        </p:txBody>
      </p:sp>
      <p:sp>
        <p:nvSpPr>
          <p:cNvPr id="41" name="Text 39"/>
          <p:cNvSpPr/>
          <p:nvPr/>
        </p:nvSpPr>
        <p:spPr>
          <a:xfrm>
            <a:off x="4617720" y="4617720"/>
            <a:ext cx="3017520" cy="45720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Permit or Deny</a:t>
            </a:r>
            <a:endParaRPr lang="en-US" sz="1500" dirty="0"/>
          </a:p>
        </p:txBody>
      </p:sp>
      <p:sp>
        <p:nvSpPr>
          <p:cNvPr id="42" name="Text 40"/>
          <p:cNvSpPr/>
          <p:nvPr/>
        </p:nvSpPr>
        <p:spPr>
          <a:xfrm>
            <a:off x="4617720" y="5120640"/>
            <a:ext cx="3017520" cy="86868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Decision returned based on applicable policies.</a:t>
            </a:r>
            <a:endParaRPr lang="en-US" sz="1100" dirty="0"/>
          </a:p>
        </p:txBody>
      </p:sp>
      <p:sp>
        <p:nvSpPr>
          <p:cNvPr id="43" name="Shape 41"/>
          <p:cNvSpPr/>
          <p:nvPr/>
        </p:nvSpPr>
        <p:spPr>
          <a:xfrm>
            <a:off x="7818120" y="5097780"/>
            <a:ext cx="320040" cy="0"/>
          </a:xfrm>
          <a:prstGeom prst="line">
            <a:avLst/>
          </a:prstGeom>
          <a:noFill/>
          <a:ln w="25400">
            <a:solidFill>
              <a:srgbClr val="2E86DE"/>
            </a:solidFill>
            <a:prstDash val="solid"/>
            <a:tailEnd type="triangle"/>
          </a:ln>
        </p:spPr>
        <p:txBody>
          <a:bodyPr/>
          <a:lstStyle/>
          <a:p>
            <a:endParaRPr lang="en-IN"/>
          </a:p>
        </p:txBody>
      </p:sp>
      <p:sp>
        <p:nvSpPr>
          <p:cNvPr id="44" name="Shape 42"/>
          <p:cNvSpPr/>
          <p:nvPr/>
        </p:nvSpPr>
        <p:spPr>
          <a:xfrm>
            <a:off x="8138160" y="4114800"/>
            <a:ext cx="3474720" cy="196596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45" name="Text 43"/>
          <p:cNvSpPr/>
          <p:nvPr/>
        </p:nvSpPr>
        <p:spPr>
          <a:xfrm>
            <a:off x="8321040" y="4251960"/>
            <a:ext cx="1280160" cy="1463040"/>
          </a:xfrm>
          <a:prstGeom prst="rect">
            <a:avLst/>
          </a:prstGeom>
          <a:noFill/>
          <a:ln/>
        </p:spPr>
        <p:txBody>
          <a:bodyPr wrap="square" lIns="0" tIns="0" rIns="0" bIns="0" rtlCol="0" anchor="ctr"/>
          <a:lstStyle/>
          <a:p>
            <a:pPr marL="0" indent="0">
              <a:buNone/>
            </a:pPr>
            <a:r>
              <a:rPr lang="en-US" sz="6600" b="1" dirty="0">
                <a:solidFill>
                  <a:srgbClr val="E8F1FB"/>
                </a:solidFill>
                <a:latin typeface="Calibri" pitchFamily="34" charset="0"/>
                <a:ea typeface="Calibri" pitchFamily="34" charset="-122"/>
                <a:cs typeface="Calibri" pitchFamily="34" charset="-120"/>
              </a:rPr>
              <a:t>6</a:t>
            </a:r>
            <a:endParaRPr lang="en-US" sz="6600" dirty="0"/>
          </a:p>
        </p:txBody>
      </p:sp>
      <p:sp>
        <p:nvSpPr>
          <p:cNvPr id="46" name="Shape 44"/>
          <p:cNvSpPr/>
          <p:nvPr/>
        </p:nvSpPr>
        <p:spPr>
          <a:xfrm>
            <a:off x="8138160" y="4114800"/>
            <a:ext cx="73152" cy="1965960"/>
          </a:xfrm>
          <a:prstGeom prst="rect">
            <a:avLst/>
          </a:prstGeom>
          <a:solidFill>
            <a:srgbClr val="2E86DE"/>
          </a:solidFill>
          <a:ln w="12700">
            <a:solidFill>
              <a:srgbClr val="2E86DE"/>
            </a:solidFill>
            <a:prstDash val="solid"/>
          </a:ln>
        </p:spPr>
        <p:txBody>
          <a:bodyPr/>
          <a:lstStyle/>
          <a:p>
            <a:endParaRPr lang="en-IN"/>
          </a:p>
        </p:txBody>
      </p:sp>
      <p:sp>
        <p:nvSpPr>
          <p:cNvPr id="47" name="Text 45"/>
          <p:cNvSpPr/>
          <p:nvPr/>
        </p:nvSpPr>
        <p:spPr>
          <a:xfrm>
            <a:off x="8412480" y="4297680"/>
            <a:ext cx="3017520" cy="274320"/>
          </a:xfrm>
          <a:prstGeom prst="rect">
            <a:avLst/>
          </a:prstGeom>
          <a:noFill/>
          <a:ln/>
        </p:spPr>
        <p:txBody>
          <a:bodyPr wrap="square" lIns="0" tIns="0" rIns="0" bIns="0" rtlCol="0" anchor="ctr"/>
          <a:lstStyle/>
          <a:p>
            <a:pPr marL="0" indent="0">
              <a:buNone/>
            </a:pPr>
            <a:r>
              <a:rPr lang="en-US" sz="1000" b="1" kern="0" spc="300" dirty="0">
                <a:solidFill>
                  <a:srgbClr val="2E86DE"/>
                </a:solidFill>
                <a:latin typeface="Calibri" pitchFamily="34" charset="0"/>
                <a:ea typeface="Calibri" pitchFamily="34" charset="-122"/>
                <a:cs typeface="Calibri" pitchFamily="34" charset="-120"/>
              </a:rPr>
              <a:t>STEP 6</a:t>
            </a:r>
            <a:endParaRPr lang="en-US" sz="1000" dirty="0"/>
          </a:p>
        </p:txBody>
      </p:sp>
      <p:sp>
        <p:nvSpPr>
          <p:cNvPr id="48" name="Text 46"/>
          <p:cNvSpPr/>
          <p:nvPr/>
        </p:nvSpPr>
        <p:spPr>
          <a:xfrm>
            <a:off x="8412480" y="4617720"/>
            <a:ext cx="3017520" cy="45720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Access Resource</a:t>
            </a:r>
            <a:endParaRPr lang="en-US" sz="1500" dirty="0"/>
          </a:p>
        </p:txBody>
      </p:sp>
      <p:sp>
        <p:nvSpPr>
          <p:cNvPr id="49" name="Text 47"/>
          <p:cNvSpPr/>
          <p:nvPr/>
        </p:nvSpPr>
        <p:spPr>
          <a:xfrm>
            <a:off x="8412480" y="5120640"/>
            <a:ext cx="3017520" cy="86868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On permit, the user interacts with the cloud service.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D"/>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B2545"/>
          </a:solidFill>
          <a:ln w="12700">
            <a:solidFill>
              <a:srgbClr val="0B2545"/>
            </a:solidFill>
            <a:prstDash val="solid"/>
          </a:ln>
        </p:spPr>
        <p:txBody>
          <a:bodyPr/>
          <a:lstStyle/>
          <a:p>
            <a:endParaRPr lang="en-IN"/>
          </a:p>
        </p:txBody>
      </p:sp>
      <p:sp>
        <p:nvSpPr>
          <p:cNvPr id="3" name="Shape 1"/>
          <p:cNvSpPr/>
          <p:nvPr/>
        </p:nvSpPr>
        <p:spPr>
          <a:xfrm>
            <a:off x="0" y="320040"/>
            <a:ext cx="12161520" cy="45720"/>
          </a:xfrm>
          <a:prstGeom prst="rect">
            <a:avLst/>
          </a:prstGeom>
          <a:solidFill>
            <a:srgbClr val="2E86DE"/>
          </a:solidFill>
          <a:ln w="12700">
            <a:solidFill>
              <a:srgbClr val="2E86DE"/>
            </a:solidFill>
            <a:prstDash val="solid"/>
          </a:ln>
        </p:spPr>
        <p:txBody>
          <a:bodyPr/>
          <a:lstStyle/>
          <a:p>
            <a:endParaRPr lang="en-IN"/>
          </a:p>
        </p:txBody>
      </p:sp>
      <p:sp>
        <p:nvSpPr>
          <p:cNvPr id="4" name="Text 2"/>
          <p:cNvSpPr/>
          <p:nvPr/>
        </p:nvSpPr>
        <p:spPr>
          <a:xfrm>
            <a:off x="548640" y="502920"/>
            <a:ext cx="7315200" cy="320040"/>
          </a:xfrm>
          <a:prstGeom prst="rect">
            <a:avLst/>
          </a:prstGeom>
          <a:noFill/>
          <a:ln/>
        </p:spPr>
        <p:txBody>
          <a:bodyPr wrap="square" lIns="0" tIns="0" rIns="0" bIns="0" rtlCol="0" anchor="ctr"/>
          <a:lstStyle/>
          <a:p>
            <a:pPr marL="0" indent="0">
              <a:buNone/>
            </a:pPr>
            <a:r>
              <a:rPr lang="en-US" sz="1100" b="1" kern="0" spc="400" dirty="0">
                <a:solidFill>
                  <a:srgbClr val="2E86DE"/>
                </a:solidFill>
                <a:latin typeface="Calibri" pitchFamily="34" charset="0"/>
                <a:ea typeface="Calibri" pitchFamily="34" charset="-122"/>
                <a:cs typeface="Calibri" pitchFamily="34" charset="-120"/>
              </a:rPr>
              <a:t>SLIDE 07</a:t>
            </a:r>
            <a:endParaRPr lang="en-US" sz="1100" dirty="0"/>
          </a:p>
        </p:txBody>
      </p:sp>
      <p:sp>
        <p:nvSpPr>
          <p:cNvPr id="5" name="Text 3"/>
          <p:cNvSpPr/>
          <p:nvPr/>
        </p:nvSpPr>
        <p:spPr>
          <a:xfrm>
            <a:off x="548640" y="777240"/>
            <a:ext cx="10972800" cy="64008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Authentication Methods</a:t>
            </a:r>
            <a:endParaRPr lang="en-US" sz="3000" dirty="0"/>
          </a:p>
        </p:txBody>
      </p:sp>
      <p:sp>
        <p:nvSpPr>
          <p:cNvPr id="6" name="Shape 4"/>
          <p:cNvSpPr/>
          <p:nvPr/>
        </p:nvSpPr>
        <p:spPr>
          <a:xfrm>
            <a:off x="548640" y="1463040"/>
            <a:ext cx="1097280" cy="0"/>
          </a:xfrm>
          <a:prstGeom prst="line">
            <a:avLst/>
          </a:prstGeom>
          <a:noFill/>
          <a:ln w="38100">
            <a:solidFill>
              <a:srgbClr val="2E86DE"/>
            </a:solidFill>
            <a:prstDash val="solid"/>
          </a:ln>
        </p:spPr>
        <p:txBody>
          <a:bodyPr/>
          <a:lstStyle/>
          <a:p>
            <a:endParaRPr lang="en-IN"/>
          </a:p>
        </p:txBody>
      </p:sp>
      <p:sp>
        <p:nvSpPr>
          <p:cNvPr id="7" name="Shape 5"/>
          <p:cNvSpPr/>
          <p:nvPr/>
        </p:nvSpPr>
        <p:spPr>
          <a:xfrm>
            <a:off x="0" y="6583680"/>
            <a:ext cx="12161520" cy="274320"/>
          </a:xfrm>
          <a:prstGeom prst="rect">
            <a:avLst/>
          </a:prstGeom>
          <a:solidFill>
            <a:srgbClr val="0B2545"/>
          </a:solidFill>
          <a:ln w="12700">
            <a:solidFill>
              <a:srgbClr val="0B2545"/>
            </a:solidFill>
            <a:prstDash val="solid"/>
          </a:ln>
        </p:spPr>
        <p:txBody>
          <a:bodyPr/>
          <a:lstStyle/>
          <a:p>
            <a:endParaRPr lang="en-IN"/>
          </a:p>
        </p:txBody>
      </p:sp>
      <p:sp>
        <p:nvSpPr>
          <p:cNvPr id="8" name="Text 6"/>
          <p:cNvSpPr/>
          <p:nvPr/>
        </p:nvSpPr>
        <p:spPr>
          <a:xfrm>
            <a:off x="548640" y="6583680"/>
            <a:ext cx="7315200" cy="27432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IAM in Cloud Environments  •  CSA15</a:t>
            </a:r>
            <a:endParaRPr lang="en-US" sz="900" dirty="0"/>
          </a:p>
        </p:txBody>
      </p:sp>
      <p:sp>
        <p:nvSpPr>
          <p:cNvPr id="9" name="Text 7"/>
          <p:cNvSpPr/>
          <p:nvPr/>
        </p:nvSpPr>
        <p:spPr>
          <a:xfrm>
            <a:off x="10789920" y="6583680"/>
            <a:ext cx="822960" cy="27432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7 / 12</a:t>
            </a:r>
            <a:endParaRPr lang="en-US" sz="900" dirty="0"/>
          </a:p>
        </p:txBody>
      </p:sp>
      <p:sp>
        <p:nvSpPr>
          <p:cNvPr id="10" name="Shape 8"/>
          <p:cNvSpPr/>
          <p:nvPr/>
        </p:nvSpPr>
        <p:spPr>
          <a:xfrm>
            <a:off x="548640" y="1828800"/>
            <a:ext cx="2594610" cy="221742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11" name="Shape 9"/>
          <p:cNvSpPr/>
          <p:nvPr/>
        </p:nvSpPr>
        <p:spPr>
          <a:xfrm>
            <a:off x="777240" y="2103120"/>
            <a:ext cx="822960" cy="822960"/>
          </a:xfrm>
          <a:prstGeom prst="ellipse">
            <a:avLst/>
          </a:prstGeom>
          <a:solidFill>
            <a:srgbClr val="2E86DE"/>
          </a:solidFill>
          <a:ln w="12700">
            <a:solidFill>
              <a:srgbClr val="2E86DE"/>
            </a:solidFill>
            <a:prstDash val="solid"/>
          </a:ln>
        </p:spPr>
        <p:txBody>
          <a:bodyPr/>
          <a:lstStyle/>
          <a:p>
            <a:endParaRPr lang="en-IN"/>
          </a:p>
        </p:txBody>
      </p:sp>
      <p:sp>
        <p:nvSpPr>
          <p:cNvPr id="12" name="Text 10"/>
          <p:cNvSpPr/>
          <p:nvPr/>
        </p:nvSpPr>
        <p:spPr>
          <a:xfrm>
            <a:off x="777240" y="210312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P</a:t>
            </a:r>
            <a:endParaRPr lang="en-US" sz="2600" dirty="0"/>
          </a:p>
        </p:txBody>
      </p:sp>
      <p:sp>
        <p:nvSpPr>
          <p:cNvPr id="13" name="Text 11"/>
          <p:cNvSpPr/>
          <p:nvPr/>
        </p:nvSpPr>
        <p:spPr>
          <a:xfrm>
            <a:off x="731520" y="3017520"/>
            <a:ext cx="2320290"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Password</a:t>
            </a:r>
            <a:endParaRPr lang="en-US" sz="1300" dirty="0"/>
          </a:p>
        </p:txBody>
      </p:sp>
      <p:sp>
        <p:nvSpPr>
          <p:cNvPr id="14" name="Text 12"/>
          <p:cNvSpPr/>
          <p:nvPr/>
        </p:nvSpPr>
        <p:spPr>
          <a:xfrm>
            <a:off x="731520" y="3383280"/>
            <a:ext cx="2320290" cy="5715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Traditional secret-based login. Simple but vulnerable to reuse and phishing.</a:t>
            </a:r>
            <a:endParaRPr lang="en-US" sz="1050" dirty="0"/>
          </a:p>
        </p:txBody>
      </p:sp>
      <p:sp>
        <p:nvSpPr>
          <p:cNvPr id="15" name="Shape 13"/>
          <p:cNvSpPr/>
          <p:nvPr/>
        </p:nvSpPr>
        <p:spPr>
          <a:xfrm>
            <a:off x="3371850" y="1828800"/>
            <a:ext cx="2594610" cy="221742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16" name="Shape 14"/>
          <p:cNvSpPr/>
          <p:nvPr/>
        </p:nvSpPr>
        <p:spPr>
          <a:xfrm>
            <a:off x="3600450" y="2103120"/>
            <a:ext cx="822960" cy="822960"/>
          </a:xfrm>
          <a:prstGeom prst="ellipse">
            <a:avLst/>
          </a:prstGeom>
          <a:solidFill>
            <a:srgbClr val="1E5AA8"/>
          </a:solidFill>
          <a:ln w="12700">
            <a:solidFill>
              <a:srgbClr val="1E5AA8"/>
            </a:solidFill>
            <a:prstDash val="solid"/>
          </a:ln>
        </p:spPr>
        <p:txBody>
          <a:bodyPr/>
          <a:lstStyle/>
          <a:p>
            <a:endParaRPr lang="en-IN"/>
          </a:p>
        </p:txBody>
      </p:sp>
      <p:sp>
        <p:nvSpPr>
          <p:cNvPr id="17" name="Text 15"/>
          <p:cNvSpPr/>
          <p:nvPr/>
        </p:nvSpPr>
        <p:spPr>
          <a:xfrm>
            <a:off x="3600450" y="210312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M</a:t>
            </a:r>
            <a:endParaRPr lang="en-US" sz="2600" dirty="0"/>
          </a:p>
        </p:txBody>
      </p:sp>
      <p:sp>
        <p:nvSpPr>
          <p:cNvPr id="18" name="Text 16"/>
          <p:cNvSpPr/>
          <p:nvPr/>
        </p:nvSpPr>
        <p:spPr>
          <a:xfrm>
            <a:off x="3554730" y="3017520"/>
            <a:ext cx="2320290"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Multi-Factor (MFA)</a:t>
            </a:r>
            <a:endParaRPr lang="en-US" sz="1300" dirty="0"/>
          </a:p>
        </p:txBody>
      </p:sp>
      <p:sp>
        <p:nvSpPr>
          <p:cNvPr id="19" name="Text 17"/>
          <p:cNvSpPr/>
          <p:nvPr/>
        </p:nvSpPr>
        <p:spPr>
          <a:xfrm>
            <a:off x="3554730" y="3383280"/>
            <a:ext cx="2320290" cy="5715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Combines two or more factors: something you know, have, or are.</a:t>
            </a:r>
            <a:endParaRPr lang="en-US" sz="1050" dirty="0"/>
          </a:p>
        </p:txBody>
      </p:sp>
      <p:sp>
        <p:nvSpPr>
          <p:cNvPr id="20" name="Shape 18"/>
          <p:cNvSpPr/>
          <p:nvPr/>
        </p:nvSpPr>
        <p:spPr>
          <a:xfrm>
            <a:off x="6195060" y="1828800"/>
            <a:ext cx="2594610" cy="221742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21" name="Shape 19"/>
          <p:cNvSpPr/>
          <p:nvPr/>
        </p:nvSpPr>
        <p:spPr>
          <a:xfrm>
            <a:off x="6423660" y="2103120"/>
            <a:ext cx="822960" cy="822960"/>
          </a:xfrm>
          <a:prstGeom prst="ellipse">
            <a:avLst/>
          </a:prstGeom>
          <a:solidFill>
            <a:srgbClr val="0F766E"/>
          </a:solidFill>
          <a:ln w="12700">
            <a:solidFill>
              <a:srgbClr val="0F766E"/>
            </a:solidFill>
            <a:prstDash val="solid"/>
          </a:ln>
        </p:spPr>
        <p:txBody>
          <a:bodyPr/>
          <a:lstStyle/>
          <a:p>
            <a:endParaRPr lang="en-IN"/>
          </a:p>
        </p:txBody>
      </p:sp>
      <p:sp>
        <p:nvSpPr>
          <p:cNvPr id="22" name="Text 20"/>
          <p:cNvSpPr/>
          <p:nvPr/>
        </p:nvSpPr>
        <p:spPr>
          <a:xfrm>
            <a:off x="6423660" y="210312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B</a:t>
            </a:r>
            <a:endParaRPr lang="en-US" sz="2600" dirty="0"/>
          </a:p>
        </p:txBody>
      </p:sp>
      <p:sp>
        <p:nvSpPr>
          <p:cNvPr id="23" name="Text 21"/>
          <p:cNvSpPr/>
          <p:nvPr/>
        </p:nvSpPr>
        <p:spPr>
          <a:xfrm>
            <a:off x="6377940" y="3017520"/>
            <a:ext cx="2320290"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Biometric</a:t>
            </a:r>
            <a:endParaRPr lang="en-US" sz="1300" dirty="0"/>
          </a:p>
        </p:txBody>
      </p:sp>
      <p:sp>
        <p:nvSpPr>
          <p:cNvPr id="24" name="Text 22"/>
          <p:cNvSpPr/>
          <p:nvPr/>
        </p:nvSpPr>
        <p:spPr>
          <a:xfrm>
            <a:off x="6377940" y="3383280"/>
            <a:ext cx="2320290" cy="5715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Fingerprint, face or voice recognition — tied to physical traits.</a:t>
            </a:r>
            <a:endParaRPr lang="en-US" sz="1050" dirty="0"/>
          </a:p>
        </p:txBody>
      </p:sp>
      <p:sp>
        <p:nvSpPr>
          <p:cNvPr id="25" name="Shape 23"/>
          <p:cNvSpPr/>
          <p:nvPr/>
        </p:nvSpPr>
        <p:spPr>
          <a:xfrm>
            <a:off x="9018270" y="1828800"/>
            <a:ext cx="2594610" cy="221742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26" name="Shape 24"/>
          <p:cNvSpPr/>
          <p:nvPr/>
        </p:nvSpPr>
        <p:spPr>
          <a:xfrm>
            <a:off x="9246870" y="2103120"/>
            <a:ext cx="822960" cy="822960"/>
          </a:xfrm>
          <a:prstGeom prst="ellipse">
            <a:avLst/>
          </a:prstGeom>
          <a:solidFill>
            <a:srgbClr val="B45309"/>
          </a:solidFill>
          <a:ln w="12700">
            <a:solidFill>
              <a:srgbClr val="B45309"/>
            </a:solidFill>
            <a:prstDash val="solid"/>
          </a:ln>
        </p:spPr>
        <p:txBody>
          <a:bodyPr/>
          <a:lstStyle/>
          <a:p>
            <a:endParaRPr lang="en-IN"/>
          </a:p>
        </p:txBody>
      </p:sp>
      <p:sp>
        <p:nvSpPr>
          <p:cNvPr id="27" name="Text 25"/>
          <p:cNvSpPr/>
          <p:nvPr/>
        </p:nvSpPr>
        <p:spPr>
          <a:xfrm>
            <a:off x="9246870" y="210312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O</a:t>
            </a:r>
            <a:endParaRPr lang="en-US" sz="2600" dirty="0"/>
          </a:p>
        </p:txBody>
      </p:sp>
      <p:sp>
        <p:nvSpPr>
          <p:cNvPr id="28" name="Text 26"/>
          <p:cNvSpPr/>
          <p:nvPr/>
        </p:nvSpPr>
        <p:spPr>
          <a:xfrm>
            <a:off x="9201150" y="3017520"/>
            <a:ext cx="2320290"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One-Time Password (OTP)</a:t>
            </a:r>
            <a:endParaRPr lang="en-US" sz="1300" dirty="0"/>
          </a:p>
        </p:txBody>
      </p:sp>
      <p:sp>
        <p:nvSpPr>
          <p:cNvPr id="29" name="Text 27"/>
          <p:cNvSpPr/>
          <p:nvPr/>
        </p:nvSpPr>
        <p:spPr>
          <a:xfrm>
            <a:off x="9201150" y="3383280"/>
            <a:ext cx="2320290" cy="5715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Time-based codes via authenticator apps or SMS.</a:t>
            </a:r>
            <a:endParaRPr lang="en-US" sz="1050" dirty="0"/>
          </a:p>
        </p:txBody>
      </p:sp>
      <p:sp>
        <p:nvSpPr>
          <p:cNvPr id="30" name="Shape 28"/>
          <p:cNvSpPr/>
          <p:nvPr/>
        </p:nvSpPr>
        <p:spPr>
          <a:xfrm>
            <a:off x="548640" y="4274820"/>
            <a:ext cx="2594610" cy="221742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31" name="Shape 29"/>
          <p:cNvSpPr/>
          <p:nvPr/>
        </p:nvSpPr>
        <p:spPr>
          <a:xfrm>
            <a:off x="777240" y="4549140"/>
            <a:ext cx="822960" cy="822960"/>
          </a:xfrm>
          <a:prstGeom prst="ellipse">
            <a:avLst/>
          </a:prstGeom>
          <a:solidFill>
            <a:srgbClr val="0B2545"/>
          </a:solidFill>
          <a:ln w="12700">
            <a:solidFill>
              <a:srgbClr val="0B2545"/>
            </a:solidFill>
            <a:prstDash val="solid"/>
          </a:ln>
        </p:spPr>
        <p:txBody>
          <a:bodyPr/>
          <a:lstStyle/>
          <a:p>
            <a:endParaRPr lang="en-IN"/>
          </a:p>
        </p:txBody>
      </p:sp>
      <p:sp>
        <p:nvSpPr>
          <p:cNvPr id="32" name="Text 30"/>
          <p:cNvSpPr/>
          <p:nvPr/>
        </p:nvSpPr>
        <p:spPr>
          <a:xfrm>
            <a:off x="777240" y="454914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K</a:t>
            </a:r>
            <a:endParaRPr lang="en-US" sz="2600" dirty="0"/>
          </a:p>
        </p:txBody>
      </p:sp>
      <p:sp>
        <p:nvSpPr>
          <p:cNvPr id="33" name="Text 31"/>
          <p:cNvSpPr/>
          <p:nvPr/>
        </p:nvSpPr>
        <p:spPr>
          <a:xfrm>
            <a:off x="731520" y="5463540"/>
            <a:ext cx="2320290"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Security Keys</a:t>
            </a:r>
            <a:endParaRPr lang="en-US" sz="1300" dirty="0"/>
          </a:p>
        </p:txBody>
      </p:sp>
      <p:sp>
        <p:nvSpPr>
          <p:cNvPr id="34" name="Text 32"/>
          <p:cNvSpPr/>
          <p:nvPr/>
        </p:nvSpPr>
        <p:spPr>
          <a:xfrm>
            <a:off x="731520" y="5829300"/>
            <a:ext cx="2320290" cy="5715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Hardware tokens (FIDO2 / WebAuthn) resistant to phishing.</a:t>
            </a:r>
            <a:endParaRPr lang="en-US" sz="1050" dirty="0"/>
          </a:p>
        </p:txBody>
      </p:sp>
      <p:sp>
        <p:nvSpPr>
          <p:cNvPr id="35" name="Shape 33"/>
          <p:cNvSpPr/>
          <p:nvPr/>
        </p:nvSpPr>
        <p:spPr>
          <a:xfrm>
            <a:off x="3371850" y="4274820"/>
            <a:ext cx="2594610" cy="221742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36" name="Shape 34"/>
          <p:cNvSpPr/>
          <p:nvPr/>
        </p:nvSpPr>
        <p:spPr>
          <a:xfrm>
            <a:off x="3600450" y="4549140"/>
            <a:ext cx="822960" cy="822960"/>
          </a:xfrm>
          <a:prstGeom prst="ellipse">
            <a:avLst/>
          </a:prstGeom>
          <a:solidFill>
            <a:srgbClr val="7C3AED"/>
          </a:solidFill>
          <a:ln w="12700">
            <a:solidFill>
              <a:srgbClr val="7C3AED"/>
            </a:solidFill>
            <a:prstDash val="solid"/>
          </a:ln>
        </p:spPr>
        <p:txBody>
          <a:bodyPr/>
          <a:lstStyle/>
          <a:p>
            <a:endParaRPr lang="en-IN"/>
          </a:p>
        </p:txBody>
      </p:sp>
      <p:sp>
        <p:nvSpPr>
          <p:cNvPr id="37" name="Text 35"/>
          <p:cNvSpPr/>
          <p:nvPr/>
        </p:nvSpPr>
        <p:spPr>
          <a:xfrm>
            <a:off x="3600450" y="454914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S</a:t>
            </a:r>
            <a:endParaRPr lang="en-US" sz="2600" dirty="0"/>
          </a:p>
        </p:txBody>
      </p:sp>
      <p:sp>
        <p:nvSpPr>
          <p:cNvPr id="38" name="Text 36"/>
          <p:cNvSpPr/>
          <p:nvPr/>
        </p:nvSpPr>
        <p:spPr>
          <a:xfrm>
            <a:off x="3554730" y="5463540"/>
            <a:ext cx="2320290"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Single Sign-On (SSO)</a:t>
            </a:r>
            <a:endParaRPr lang="en-US" sz="1300" dirty="0"/>
          </a:p>
        </p:txBody>
      </p:sp>
      <p:sp>
        <p:nvSpPr>
          <p:cNvPr id="39" name="Text 37"/>
          <p:cNvSpPr/>
          <p:nvPr/>
        </p:nvSpPr>
        <p:spPr>
          <a:xfrm>
            <a:off x="3554730" y="5829300"/>
            <a:ext cx="2320290" cy="5715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One authenticated session across many trusted apps.</a:t>
            </a:r>
            <a:endParaRPr lang="en-US" sz="1050" dirty="0"/>
          </a:p>
        </p:txBody>
      </p:sp>
      <p:sp>
        <p:nvSpPr>
          <p:cNvPr id="40" name="Shape 38"/>
          <p:cNvSpPr/>
          <p:nvPr/>
        </p:nvSpPr>
        <p:spPr>
          <a:xfrm>
            <a:off x="6195060" y="4274820"/>
            <a:ext cx="2594610" cy="221742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41" name="Shape 39"/>
          <p:cNvSpPr/>
          <p:nvPr/>
        </p:nvSpPr>
        <p:spPr>
          <a:xfrm>
            <a:off x="6423660" y="4549140"/>
            <a:ext cx="822960" cy="822960"/>
          </a:xfrm>
          <a:prstGeom prst="ellipse">
            <a:avLst/>
          </a:prstGeom>
          <a:solidFill>
            <a:srgbClr val="0891B2"/>
          </a:solidFill>
          <a:ln w="12700">
            <a:solidFill>
              <a:srgbClr val="0891B2"/>
            </a:solidFill>
            <a:prstDash val="solid"/>
          </a:ln>
        </p:spPr>
        <p:txBody>
          <a:bodyPr/>
          <a:lstStyle/>
          <a:p>
            <a:endParaRPr lang="en-IN"/>
          </a:p>
        </p:txBody>
      </p:sp>
      <p:sp>
        <p:nvSpPr>
          <p:cNvPr id="42" name="Text 40"/>
          <p:cNvSpPr/>
          <p:nvPr/>
        </p:nvSpPr>
        <p:spPr>
          <a:xfrm>
            <a:off x="6423660" y="454914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F</a:t>
            </a:r>
            <a:endParaRPr lang="en-US" sz="2600" dirty="0"/>
          </a:p>
        </p:txBody>
      </p:sp>
      <p:sp>
        <p:nvSpPr>
          <p:cNvPr id="43" name="Text 41"/>
          <p:cNvSpPr/>
          <p:nvPr/>
        </p:nvSpPr>
        <p:spPr>
          <a:xfrm>
            <a:off x="6377940" y="5463540"/>
            <a:ext cx="2320290"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Identity Federation</a:t>
            </a:r>
            <a:endParaRPr lang="en-US" sz="1300" dirty="0"/>
          </a:p>
        </p:txBody>
      </p:sp>
      <p:sp>
        <p:nvSpPr>
          <p:cNvPr id="44" name="Text 42"/>
          <p:cNvSpPr/>
          <p:nvPr/>
        </p:nvSpPr>
        <p:spPr>
          <a:xfrm>
            <a:off x="6377940" y="5829300"/>
            <a:ext cx="2320290" cy="5715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Trust between orgs / clouds using SAML, OIDC, OAuth 2.0.</a:t>
            </a:r>
            <a:endParaRPr lang="en-US" sz="1050" dirty="0"/>
          </a:p>
        </p:txBody>
      </p:sp>
      <p:sp>
        <p:nvSpPr>
          <p:cNvPr id="45" name="Shape 43"/>
          <p:cNvSpPr/>
          <p:nvPr/>
        </p:nvSpPr>
        <p:spPr>
          <a:xfrm>
            <a:off x="9018270" y="4274820"/>
            <a:ext cx="2594610" cy="221742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46" name="Shape 44"/>
          <p:cNvSpPr/>
          <p:nvPr/>
        </p:nvSpPr>
        <p:spPr>
          <a:xfrm>
            <a:off x="9246870" y="4549140"/>
            <a:ext cx="822960" cy="822960"/>
          </a:xfrm>
          <a:prstGeom prst="ellipse">
            <a:avLst/>
          </a:prstGeom>
          <a:solidFill>
            <a:srgbClr val="BE185D"/>
          </a:solidFill>
          <a:ln w="12700">
            <a:solidFill>
              <a:srgbClr val="BE185D"/>
            </a:solidFill>
            <a:prstDash val="solid"/>
          </a:ln>
        </p:spPr>
        <p:txBody>
          <a:bodyPr/>
          <a:lstStyle/>
          <a:p>
            <a:endParaRPr lang="en-IN"/>
          </a:p>
        </p:txBody>
      </p:sp>
      <p:sp>
        <p:nvSpPr>
          <p:cNvPr id="47" name="Text 45"/>
          <p:cNvSpPr/>
          <p:nvPr/>
        </p:nvSpPr>
        <p:spPr>
          <a:xfrm>
            <a:off x="9246870" y="454914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48" name="Text 46"/>
          <p:cNvSpPr/>
          <p:nvPr/>
        </p:nvSpPr>
        <p:spPr>
          <a:xfrm>
            <a:off x="9201150" y="5463540"/>
            <a:ext cx="2320290"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Passwordless</a:t>
            </a:r>
            <a:endParaRPr lang="en-US" sz="1300" dirty="0"/>
          </a:p>
        </p:txBody>
      </p:sp>
      <p:sp>
        <p:nvSpPr>
          <p:cNvPr id="49" name="Text 47"/>
          <p:cNvSpPr/>
          <p:nvPr/>
        </p:nvSpPr>
        <p:spPr>
          <a:xfrm>
            <a:off x="9201150" y="5829300"/>
            <a:ext cx="2320290" cy="5715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Magic links, passkeys, device biometrics — no password stored.</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D"/>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B2545"/>
          </a:solidFill>
          <a:ln w="12700">
            <a:solidFill>
              <a:srgbClr val="0B2545"/>
            </a:solidFill>
            <a:prstDash val="solid"/>
          </a:ln>
        </p:spPr>
        <p:txBody>
          <a:bodyPr/>
          <a:lstStyle/>
          <a:p>
            <a:endParaRPr lang="en-IN"/>
          </a:p>
        </p:txBody>
      </p:sp>
      <p:sp>
        <p:nvSpPr>
          <p:cNvPr id="3" name="Shape 1"/>
          <p:cNvSpPr/>
          <p:nvPr/>
        </p:nvSpPr>
        <p:spPr>
          <a:xfrm>
            <a:off x="0" y="320040"/>
            <a:ext cx="12161520" cy="45720"/>
          </a:xfrm>
          <a:prstGeom prst="rect">
            <a:avLst/>
          </a:prstGeom>
          <a:solidFill>
            <a:srgbClr val="2E86DE"/>
          </a:solidFill>
          <a:ln w="12700">
            <a:solidFill>
              <a:srgbClr val="2E86DE"/>
            </a:solidFill>
            <a:prstDash val="solid"/>
          </a:ln>
        </p:spPr>
        <p:txBody>
          <a:bodyPr/>
          <a:lstStyle/>
          <a:p>
            <a:endParaRPr lang="en-IN"/>
          </a:p>
        </p:txBody>
      </p:sp>
      <p:sp>
        <p:nvSpPr>
          <p:cNvPr id="4" name="Text 2"/>
          <p:cNvSpPr/>
          <p:nvPr/>
        </p:nvSpPr>
        <p:spPr>
          <a:xfrm>
            <a:off x="548640" y="502920"/>
            <a:ext cx="7315200" cy="320040"/>
          </a:xfrm>
          <a:prstGeom prst="rect">
            <a:avLst/>
          </a:prstGeom>
          <a:noFill/>
          <a:ln/>
        </p:spPr>
        <p:txBody>
          <a:bodyPr wrap="square" lIns="0" tIns="0" rIns="0" bIns="0" rtlCol="0" anchor="ctr"/>
          <a:lstStyle/>
          <a:p>
            <a:pPr marL="0" indent="0">
              <a:buNone/>
            </a:pPr>
            <a:r>
              <a:rPr lang="en-US" sz="1100" b="1" kern="0" spc="400" dirty="0">
                <a:solidFill>
                  <a:srgbClr val="2E86DE"/>
                </a:solidFill>
                <a:latin typeface="Calibri" pitchFamily="34" charset="0"/>
                <a:ea typeface="Calibri" pitchFamily="34" charset="-122"/>
                <a:cs typeface="Calibri" pitchFamily="34" charset="-120"/>
              </a:rPr>
              <a:t>SLIDE 08</a:t>
            </a:r>
            <a:endParaRPr lang="en-US" sz="1100" dirty="0"/>
          </a:p>
        </p:txBody>
      </p:sp>
      <p:sp>
        <p:nvSpPr>
          <p:cNvPr id="5" name="Text 3"/>
          <p:cNvSpPr/>
          <p:nvPr/>
        </p:nvSpPr>
        <p:spPr>
          <a:xfrm>
            <a:off x="548640" y="777240"/>
            <a:ext cx="10972800" cy="64008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Authorization Models</a:t>
            </a:r>
            <a:endParaRPr lang="en-US" sz="3000" dirty="0"/>
          </a:p>
        </p:txBody>
      </p:sp>
      <p:sp>
        <p:nvSpPr>
          <p:cNvPr id="6" name="Shape 4"/>
          <p:cNvSpPr/>
          <p:nvPr/>
        </p:nvSpPr>
        <p:spPr>
          <a:xfrm>
            <a:off x="548640" y="1463040"/>
            <a:ext cx="1097280" cy="0"/>
          </a:xfrm>
          <a:prstGeom prst="line">
            <a:avLst/>
          </a:prstGeom>
          <a:noFill/>
          <a:ln w="38100">
            <a:solidFill>
              <a:srgbClr val="2E86DE"/>
            </a:solidFill>
            <a:prstDash val="solid"/>
          </a:ln>
        </p:spPr>
        <p:txBody>
          <a:bodyPr/>
          <a:lstStyle/>
          <a:p>
            <a:endParaRPr lang="en-IN"/>
          </a:p>
        </p:txBody>
      </p:sp>
      <p:sp>
        <p:nvSpPr>
          <p:cNvPr id="7" name="Shape 5"/>
          <p:cNvSpPr/>
          <p:nvPr/>
        </p:nvSpPr>
        <p:spPr>
          <a:xfrm>
            <a:off x="0" y="6583680"/>
            <a:ext cx="12161520" cy="274320"/>
          </a:xfrm>
          <a:prstGeom prst="rect">
            <a:avLst/>
          </a:prstGeom>
          <a:solidFill>
            <a:srgbClr val="0B2545"/>
          </a:solidFill>
          <a:ln w="12700">
            <a:solidFill>
              <a:srgbClr val="0B2545"/>
            </a:solidFill>
            <a:prstDash val="solid"/>
          </a:ln>
        </p:spPr>
        <p:txBody>
          <a:bodyPr/>
          <a:lstStyle/>
          <a:p>
            <a:endParaRPr lang="en-IN"/>
          </a:p>
        </p:txBody>
      </p:sp>
      <p:sp>
        <p:nvSpPr>
          <p:cNvPr id="8" name="Text 6"/>
          <p:cNvSpPr/>
          <p:nvPr/>
        </p:nvSpPr>
        <p:spPr>
          <a:xfrm>
            <a:off x="548640" y="6583680"/>
            <a:ext cx="7315200" cy="27432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IAM in Cloud Environments  •  CSA15</a:t>
            </a:r>
            <a:endParaRPr lang="en-US" sz="900" dirty="0"/>
          </a:p>
        </p:txBody>
      </p:sp>
      <p:sp>
        <p:nvSpPr>
          <p:cNvPr id="9" name="Text 7"/>
          <p:cNvSpPr/>
          <p:nvPr/>
        </p:nvSpPr>
        <p:spPr>
          <a:xfrm>
            <a:off x="10789920" y="6583680"/>
            <a:ext cx="822960" cy="27432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8 / 12</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3291840"/>
        </p:xfrm>
        <a:graphic>
          <a:graphicData uri="http://schemas.openxmlformats.org/drawingml/2006/table">
            <a:tbl>
              <a:tblPr/>
              <a:tblGrid>
                <a:gridCol w="201168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54864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solidFill>
                      <a:srgbClr val="0B254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How it works</a:t>
                      </a:r>
                      <a:endParaRPr lang="en-US" sz="1200" dirty="0">
                        <a:latin typeface="Calibri" charset="0"/>
                        <a:ea typeface="Calibri" charset="0"/>
                        <a:cs typeface="Calibri" charset="0"/>
                      </a:endParaRPr>
                    </a:p>
                  </a:txBody>
                  <a:tcPr>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solidFill>
                      <a:srgbClr val="0B254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Best for</a:t>
                      </a:r>
                      <a:endParaRPr lang="en-US" sz="1200" dirty="0">
                        <a:latin typeface="Calibri" charset="0"/>
                        <a:ea typeface="Calibri" charset="0"/>
                        <a:cs typeface="Calibri" charset="0"/>
                      </a:endParaRPr>
                    </a:p>
                  </a:txBody>
                  <a:tcPr>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548640">
                <a:tc>
                  <a:txBody>
                    <a:bodyPr/>
                    <a:lstStyle/>
                    <a:p>
                      <a:pPr marL="0" indent="0">
                        <a:buNone/>
                      </a:pPr>
                      <a:r>
                        <a:rPr lang="en-US" sz="1200" b="1" dirty="0">
                          <a:solidFill>
                            <a:srgbClr val="0B2545"/>
                          </a:solidFill>
                          <a:latin typeface="Calibri" pitchFamily="34" charset="0"/>
                          <a:ea typeface="Calibri" pitchFamily="34" charset="-122"/>
                          <a:cs typeface="Calibri" pitchFamily="34" charset="-120"/>
                        </a:rPr>
                        <a:t>RBAC</a:t>
                      </a:r>
                      <a:endParaRPr lang="en-US" sz="1200" dirty="0">
                        <a:latin typeface="Calibri" charset="0"/>
                        <a:ea typeface="Calibri" charset="0"/>
                        <a:cs typeface="Calibri" charset="0"/>
                      </a:endParaRPr>
                    </a:p>
                  </a:txBody>
                  <a:tcPr>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buNone/>
                      </a:pPr>
                      <a:r>
                        <a:rPr lang="en-US" sz="1100" dirty="0">
                          <a:solidFill>
                            <a:srgbClr val="1A202C"/>
                          </a:solidFill>
                          <a:latin typeface="Calibri" pitchFamily="34" charset="0"/>
                          <a:ea typeface="Calibri" pitchFamily="34" charset="-122"/>
                          <a:cs typeface="Calibri" pitchFamily="34" charset="-120"/>
                        </a:rPr>
                        <a:t>Access assigned via roles mapped to job functions.</a:t>
                      </a:r>
                      <a:endParaRPr lang="en-US" sz="1100" dirty="0">
                        <a:latin typeface="Calibri" charset="0"/>
                        <a:ea typeface="Calibri" charset="0"/>
                        <a:cs typeface="Calibri" charset="0"/>
                      </a:endParaRPr>
                    </a:p>
                  </a:txBody>
                  <a:tcPr>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Stable teams with clear job roles.</a:t>
                      </a:r>
                      <a:endParaRPr lang="en-US" sz="1100" dirty="0">
                        <a:latin typeface="Calibri" charset="0"/>
                        <a:ea typeface="Calibri" charset="0"/>
                        <a:cs typeface="Calibri" charset="0"/>
                      </a:endParaRPr>
                    </a:p>
                  </a:txBody>
                  <a:tcPr>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200" b="1" dirty="0">
                          <a:solidFill>
                            <a:srgbClr val="0B2545"/>
                          </a:solidFill>
                          <a:latin typeface="Calibri" pitchFamily="34" charset="0"/>
                          <a:ea typeface="Calibri" pitchFamily="34" charset="-122"/>
                          <a:cs typeface="Calibri" pitchFamily="34" charset="-120"/>
                        </a:rPr>
                        <a:t>ABAC</a:t>
                      </a:r>
                      <a:endParaRPr lang="en-US" sz="1200" dirty="0">
                        <a:latin typeface="Calibri" charset="0"/>
                        <a:ea typeface="Calibri" charset="0"/>
                        <a:cs typeface="Calibri" charset="0"/>
                      </a:endParaRPr>
                    </a:p>
                  </a:txBody>
                  <a:tcPr>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solidFill>
                      <a:srgbClr val="F1F6FC"/>
                    </a:solidFill>
                  </a:tcPr>
                </a:tc>
                <a:tc>
                  <a:txBody>
                    <a:bodyPr/>
                    <a:lstStyle/>
                    <a:p>
                      <a:pPr marL="0" indent="0">
                        <a:buNone/>
                      </a:pPr>
                      <a:r>
                        <a:rPr lang="en-US" sz="1100" dirty="0">
                          <a:solidFill>
                            <a:srgbClr val="1A202C"/>
                          </a:solidFill>
                          <a:latin typeface="Calibri" pitchFamily="34" charset="0"/>
                          <a:ea typeface="Calibri" pitchFamily="34" charset="-122"/>
                          <a:cs typeface="Calibri" pitchFamily="34" charset="-120"/>
                        </a:rPr>
                        <a:t>Decisions from attributes: user, resource, context.</a:t>
                      </a:r>
                      <a:endParaRPr lang="en-US" sz="1100" dirty="0">
                        <a:latin typeface="Calibri" charset="0"/>
                        <a:ea typeface="Calibri" charset="0"/>
                        <a:cs typeface="Calibri" charset="0"/>
                      </a:endParaRPr>
                    </a:p>
                  </a:txBody>
                  <a:tcPr>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solidFill>
                      <a:srgbClr val="F1F6FC"/>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Dynamic, fine-grained access at scale.</a:t>
                      </a:r>
                      <a:endParaRPr lang="en-US" sz="1100" dirty="0">
                        <a:latin typeface="Calibri" charset="0"/>
                        <a:ea typeface="Calibri" charset="0"/>
                        <a:cs typeface="Calibri" charset="0"/>
                      </a:endParaRPr>
                    </a:p>
                  </a:txBody>
                  <a:tcPr>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solidFill>
                      <a:srgbClr val="F1F6FC"/>
                    </a:solidFill>
                  </a:tcPr>
                </a:tc>
                <a:extLst>
                  <a:ext uri="{0D108BD9-81ED-4DB2-BD59-A6C34878D82A}">
                    <a16:rowId xmlns:a16="http://schemas.microsoft.com/office/drawing/2014/main" val="10002"/>
                  </a:ext>
                </a:extLst>
              </a:tr>
              <a:tr h="548640">
                <a:tc>
                  <a:txBody>
                    <a:bodyPr/>
                    <a:lstStyle/>
                    <a:p>
                      <a:pPr marL="0" indent="0">
                        <a:buNone/>
                      </a:pPr>
                      <a:r>
                        <a:rPr lang="en-US" sz="1200" b="1" dirty="0">
                          <a:solidFill>
                            <a:srgbClr val="0B2545"/>
                          </a:solidFill>
                          <a:latin typeface="Calibri" pitchFamily="34" charset="0"/>
                          <a:ea typeface="Calibri" pitchFamily="34" charset="-122"/>
                          <a:cs typeface="Calibri" pitchFamily="34" charset="-120"/>
                        </a:rPr>
                        <a:t>Policy-Based</a:t>
                      </a:r>
                      <a:endParaRPr lang="en-US" sz="1200" dirty="0">
                        <a:latin typeface="Calibri" charset="0"/>
                        <a:ea typeface="Calibri" charset="0"/>
                        <a:cs typeface="Calibri" charset="0"/>
                      </a:endParaRPr>
                    </a:p>
                  </a:txBody>
                  <a:tcPr>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buNone/>
                      </a:pPr>
                      <a:r>
                        <a:rPr lang="en-US" sz="1100" dirty="0">
                          <a:solidFill>
                            <a:srgbClr val="1A202C"/>
                          </a:solidFill>
                          <a:latin typeface="Calibri" pitchFamily="34" charset="0"/>
                          <a:ea typeface="Calibri" pitchFamily="34" charset="-122"/>
                          <a:cs typeface="Calibri" pitchFamily="34" charset="-120"/>
                        </a:rPr>
                        <a:t>Explicit JSON / rule policies attached to identities.</a:t>
                      </a:r>
                      <a:endParaRPr lang="en-US" sz="1100" dirty="0">
                        <a:latin typeface="Calibri" charset="0"/>
                        <a:ea typeface="Calibri" charset="0"/>
                        <a:cs typeface="Calibri" charset="0"/>
                      </a:endParaRPr>
                    </a:p>
                  </a:txBody>
                  <a:tcPr>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Central governance &amp; auditing.</a:t>
                      </a:r>
                      <a:endParaRPr lang="en-US" sz="1100" dirty="0">
                        <a:latin typeface="Calibri" charset="0"/>
                        <a:ea typeface="Calibri" charset="0"/>
                        <a:cs typeface="Calibri" charset="0"/>
                      </a:endParaRPr>
                    </a:p>
                  </a:txBody>
                  <a:tcPr>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200" b="1" dirty="0">
                          <a:solidFill>
                            <a:srgbClr val="0B2545"/>
                          </a:solidFill>
                          <a:latin typeface="Calibri" pitchFamily="34" charset="0"/>
                          <a:ea typeface="Calibri" pitchFamily="34" charset="-122"/>
                          <a:cs typeface="Calibri" pitchFamily="34" charset="-120"/>
                        </a:rPr>
                        <a:t>Least Privilege</a:t>
                      </a:r>
                      <a:endParaRPr lang="en-US" sz="1200" dirty="0">
                        <a:latin typeface="Calibri" charset="0"/>
                        <a:ea typeface="Calibri" charset="0"/>
                        <a:cs typeface="Calibri" charset="0"/>
                      </a:endParaRPr>
                    </a:p>
                  </a:txBody>
                  <a:tcPr>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solidFill>
                      <a:srgbClr val="F1F6FC"/>
                    </a:solidFill>
                  </a:tcPr>
                </a:tc>
                <a:tc>
                  <a:txBody>
                    <a:bodyPr/>
                    <a:lstStyle/>
                    <a:p>
                      <a:pPr marL="0" indent="0">
                        <a:buNone/>
                      </a:pPr>
                      <a:r>
                        <a:rPr lang="en-US" sz="1100" dirty="0">
                          <a:solidFill>
                            <a:srgbClr val="1A202C"/>
                          </a:solidFill>
                          <a:latin typeface="Calibri" pitchFamily="34" charset="0"/>
                          <a:ea typeface="Calibri" pitchFamily="34" charset="-122"/>
                          <a:cs typeface="Calibri" pitchFamily="34" charset="-120"/>
                        </a:rPr>
                        <a:t>Grant only the minimum rights required for a task.</a:t>
                      </a:r>
                      <a:endParaRPr lang="en-US" sz="1100" dirty="0">
                        <a:latin typeface="Calibri" charset="0"/>
                        <a:ea typeface="Calibri" charset="0"/>
                        <a:cs typeface="Calibri" charset="0"/>
                      </a:endParaRPr>
                    </a:p>
                  </a:txBody>
                  <a:tcPr>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solidFill>
                      <a:srgbClr val="F1F6FC"/>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Reducing blast radius of compromise.</a:t>
                      </a:r>
                      <a:endParaRPr lang="en-US" sz="1100" dirty="0">
                        <a:latin typeface="Calibri" charset="0"/>
                        <a:ea typeface="Calibri" charset="0"/>
                        <a:cs typeface="Calibri" charset="0"/>
                      </a:endParaRPr>
                    </a:p>
                  </a:txBody>
                  <a:tcPr>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solidFill>
                      <a:srgbClr val="F1F6FC"/>
                    </a:solidFill>
                  </a:tcPr>
                </a:tc>
                <a:extLst>
                  <a:ext uri="{0D108BD9-81ED-4DB2-BD59-A6C34878D82A}">
                    <a16:rowId xmlns:a16="http://schemas.microsoft.com/office/drawing/2014/main" val="10004"/>
                  </a:ext>
                </a:extLst>
              </a:tr>
              <a:tr h="548640">
                <a:tc>
                  <a:txBody>
                    <a:bodyPr/>
                    <a:lstStyle/>
                    <a:p>
                      <a:pPr marL="0" indent="0">
                        <a:buNone/>
                      </a:pPr>
                      <a:r>
                        <a:rPr lang="en-US" sz="1200" b="1" dirty="0">
                          <a:solidFill>
                            <a:srgbClr val="0B2545"/>
                          </a:solidFill>
                          <a:latin typeface="Calibri" pitchFamily="34" charset="0"/>
                          <a:ea typeface="Calibri" pitchFamily="34" charset="-122"/>
                          <a:cs typeface="Calibri" pitchFamily="34" charset="-120"/>
                        </a:rPr>
                        <a:t>Zero Trust</a:t>
                      </a:r>
                      <a:endParaRPr lang="en-US" sz="1200" dirty="0">
                        <a:latin typeface="Calibri" charset="0"/>
                        <a:ea typeface="Calibri" charset="0"/>
                        <a:cs typeface="Calibri" charset="0"/>
                      </a:endParaRPr>
                    </a:p>
                  </a:txBody>
                  <a:tcPr>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buNone/>
                      </a:pPr>
                      <a:r>
                        <a:rPr lang="en-US" sz="1100" dirty="0">
                          <a:solidFill>
                            <a:srgbClr val="1A202C"/>
                          </a:solidFill>
                          <a:latin typeface="Calibri" pitchFamily="34" charset="0"/>
                          <a:ea typeface="Calibri" pitchFamily="34" charset="-122"/>
                          <a:cs typeface="Calibri" pitchFamily="34" charset="-120"/>
                        </a:rPr>
                        <a:t>Never trust, always verify — every request re-checked.</a:t>
                      </a:r>
                      <a:endParaRPr lang="en-US" sz="1100" dirty="0">
                        <a:latin typeface="Calibri" charset="0"/>
                        <a:ea typeface="Calibri" charset="0"/>
                        <a:cs typeface="Calibri" charset="0"/>
                      </a:endParaRPr>
                    </a:p>
                  </a:txBody>
                  <a:tcPr>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Hybrid / remote / multi-cloud.</a:t>
                      </a:r>
                      <a:endParaRPr lang="en-US" sz="1100" dirty="0">
                        <a:latin typeface="Calibri" charset="0"/>
                        <a:ea typeface="Calibri" charset="0"/>
                        <a:cs typeface="Calibri" charset="0"/>
                      </a:endParaRPr>
                    </a:p>
                  </a:txBody>
                  <a:tcPr>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1" name="Shape 8"/>
          <p:cNvSpPr/>
          <p:nvPr/>
        </p:nvSpPr>
        <p:spPr>
          <a:xfrm>
            <a:off x="548640" y="5623560"/>
            <a:ext cx="11064240" cy="777240"/>
          </a:xfrm>
          <a:prstGeom prst="roundRect">
            <a:avLst>
              <a:gd name="adj" fmla="val 9412"/>
            </a:avLst>
          </a:prstGeom>
          <a:solidFill>
            <a:srgbClr val="E8F1FB"/>
          </a:solidFill>
          <a:ln w="12700">
            <a:solidFill>
              <a:srgbClr val="2E86DE"/>
            </a:solidFill>
            <a:prstDash val="solid"/>
          </a:ln>
        </p:spPr>
        <p:txBody>
          <a:bodyPr/>
          <a:lstStyle/>
          <a:p>
            <a:endParaRPr lang="en-IN"/>
          </a:p>
        </p:txBody>
      </p:sp>
      <p:sp>
        <p:nvSpPr>
          <p:cNvPr id="12" name="Text 9"/>
          <p:cNvSpPr/>
          <p:nvPr/>
        </p:nvSpPr>
        <p:spPr>
          <a:xfrm>
            <a:off x="777240" y="5669280"/>
            <a:ext cx="10698480" cy="685800"/>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In practice: </a:t>
            </a:r>
            <a:r>
              <a:rPr lang="en-US" sz="1200" dirty="0">
                <a:solidFill>
                  <a:srgbClr val="1A202C"/>
                </a:solidFill>
                <a:latin typeface="Calibri" pitchFamily="34" charset="0"/>
                <a:ea typeface="Calibri" pitchFamily="34" charset="-122"/>
                <a:cs typeface="Calibri" pitchFamily="34" charset="-120"/>
              </a:rPr>
              <a:t>Cloud providers combine RBAC + ABAC + policy documents under a Zero Trust mindset, enforcing least privilege by default.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D"/>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B2545"/>
          </a:solidFill>
          <a:ln w="12700">
            <a:solidFill>
              <a:srgbClr val="0B2545"/>
            </a:solidFill>
            <a:prstDash val="solid"/>
          </a:ln>
        </p:spPr>
        <p:txBody>
          <a:bodyPr/>
          <a:lstStyle/>
          <a:p>
            <a:endParaRPr lang="en-IN"/>
          </a:p>
        </p:txBody>
      </p:sp>
      <p:sp>
        <p:nvSpPr>
          <p:cNvPr id="3" name="Shape 1"/>
          <p:cNvSpPr/>
          <p:nvPr/>
        </p:nvSpPr>
        <p:spPr>
          <a:xfrm>
            <a:off x="0" y="320040"/>
            <a:ext cx="12161520" cy="45720"/>
          </a:xfrm>
          <a:prstGeom prst="rect">
            <a:avLst/>
          </a:prstGeom>
          <a:solidFill>
            <a:srgbClr val="2E86DE"/>
          </a:solidFill>
          <a:ln w="12700">
            <a:solidFill>
              <a:srgbClr val="2E86DE"/>
            </a:solidFill>
            <a:prstDash val="solid"/>
          </a:ln>
        </p:spPr>
        <p:txBody>
          <a:bodyPr/>
          <a:lstStyle/>
          <a:p>
            <a:endParaRPr lang="en-IN"/>
          </a:p>
        </p:txBody>
      </p:sp>
      <p:sp>
        <p:nvSpPr>
          <p:cNvPr id="4" name="Text 2"/>
          <p:cNvSpPr/>
          <p:nvPr/>
        </p:nvSpPr>
        <p:spPr>
          <a:xfrm>
            <a:off x="548640" y="502920"/>
            <a:ext cx="7315200" cy="320040"/>
          </a:xfrm>
          <a:prstGeom prst="rect">
            <a:avLst/>
          </a:prstGeom>
          <a:noFill/>
          <a:ln/>
        </p:spPr>
        <p:txBody>
          <a:bodyPr wrap="square" lIns="0" tIns="0" rIns="0" bIns="0" rtlCol="0" anchor="ctr"/>
          <a:lstStyle/>
          <a:p>
            <a:pPr marL="0" indent="0">
              <a:buNone/>
            </a:pPr>
            <a:r>
              <a:rPr lang="en-US" sz="1100" b="1" kern="0" spc="400" dirty="0">
                <a:solidFill>
                  <a:srgbClr val="2E86DE"/>
                </a:solidFill>
                <a:latin typeface="Calibri" pitchFamily="34" charset="0"/>
                <a:ea typeface="Calibri" pitchFamily="34" charset="-122"/>
                <a:cs typeface="Calibri" pitchFamily="34" charset="-120"/>
              </a:rPr>
              <a:t>SLIDE 09</a:t>
            </a:r>
            <a:endParaRPr lang="en-US" sz="1100" dirty="0"/>
          </a:p>
        </p:txBody>
      </p:sp>
      <p:sp>
        <p:nvSpPr>
          <p:cNvPr id="5" name="Text 3"/>
          <p:cNvSpPr/>
          <p:nvPr/>
        </p:nvSpPr>
        <p:spPr>
          <a:xfrm>
            <a:off x="548640" y="777240"/>
            <a:ext cx="10972800" cy="64008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Security Benefits of IAM</a:t>
            </a:r>
            <a:endParaRPr lang="en-US" sz="3000" dirty="0"/>
          </a:p>
        </p:txBody>
      </p:sp>
      <p:sp>
        <p:nvSpPr>
          <p:cNvPr id="6" name="Shape 4"/>
          <p:cNvSpPr/>
          <p:nvPr/>
        </p:nvSpPr>
        <p:spPr>
          <a:xfrm>
            <a:off x="548640" y="1463040"/>
            <a:ext cx="1097280" cy="0"/>
          </a:xfrm>
          <a:prstGeom prst="line">
            <a:avLst/>
          </a:prstGeom>
          <a:noFill/>
          <a:ln w="38100">
            <a:solidFill>
              <a:srgbClr val="2E86DE"/>
            </a:solidFill>
            <a:prstDash val="solid"/>
          </a:ln>
        </p:spPr>
        <p:txBody>
          <a:bodyPr/>
          <a:lstStyle/>
          <a:p>
            <a:endParaRPr lang="en-IN"/>
          </a:p>
        </p:txBody>
      </p:sp>
      <p:sp>
        <p:nvSpPr>
          <p:cNvPr id="7" name="Shape 5"/>
          <p:cNvSpPr/>
          <p:nvPr/>
        </p:nvSpPr>
        <p:spPr>
          <a:xfrm>
            <a:off x="0" y="6583680"/>
            <a:ext cx="12161520" cy="274320"/>
          </a:xfrm>
          <a:prstGeom prst="rect">
            <a:avLst/>
          </a:prstGeom>
          <a:solidFill>
            <a:srgbClr val="0B2545"/>
          </a:solidFill>
          <a:ln w="12700">
            <a:solidFill>
              <a:srgbClr val="0B2545"/>
            </a:solidFill>
            <a:prstDash val="solid"/>
          </a:ln>
        </p:spPr>
        <p:txBody>
          <a:bodyPr/>
          <a:lstStyle/>
          <a:p>
            <a:endParaRPr lang="en-IN"/>
          </a:p>
        </p:txBody>
      </p:sp>
      <p:sp>
        <p:nvSpPr>
          <p:cNvPr id="8" name="Text 6"/>
          <p:cNvSpPr/>
          <p:nvPr/>
        </p:nvSpPr>
        <p:spPr>
          <a:xfrm>
            <a:off x="548640" y="6583680"/>
            <a:ext cx="7315200" cy="27432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IAM in Cloud Environments  •  CSA15</a:t>
            </a:r>
            <a:endParaRPr lang="en-US" sz="900" dirty="0"/>
          </a:p>
        </p:txBody>
      </p:sp>
      <p:sp>
        <p:nvSpPr>
          <p:cNvPr id="9" name="Text 7"/>
          <p:cNvSpPr/>
          <p:nvPr/>
        </p:nvSpPr>
        <p:spPr>
          <a:xfrm>
            <a:off x="10789920" y="6583680"/>
            <a:ext cx="822960" cy="27432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9 / 12</a:t>
            </a:r>
            <a:endParaRPr lang="en-US" sz="900" dirty="0"/>
          </a:p>
        </p:txBody>
      </p:sp>
      <p:sp>
        <p:nvSpPr>
          <p:cNvPr id="10" name="Shape 8"/>
          <p:cNvSpPr/>
          <p:nvPr/>
        </p:nvSpPr>
        <p:spPr>
          <a:xfrm>
            <a:off x="548640" y="1828800"/>
            <a:ext cx="2594610" cy="221742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11" name="Shape 9"/>
          <p:cNvSpPr/>
          <p:nvPr/>
        </p:nvSpPr>
        <p:spPr>
          <a:xfrm>
            <a:off x="548640" y="1828800"/>
            <a:ext cx="73152" cy="2217420"/>
          </a:xfrm>
          <a:prstGeom prst="rect">
            <a:avLst/>
          </a:prstGeom>
          <a:solidFill>
            <a:srgbClr val="2E86DE"/>
          </a:solidFill>
          <a:ln w="12700">
            <a:solidFill>
              <a:srgbClr val="2E86DE"/>
            </a:solidFill>
            <a:prstDash val="solid"/>
          </a:ln>
        </p:spPr>
        <p:txBody>
          <a:bodyPr/>
          <a:lstStyle/>
          <a:p>
            <a:endParaRPr lang="en-IN"/>
          </a:p>
        </p:txBody>
      </p:sp>
      <p:sp>
        <p:nvSpPr>
          <p:cNvPr id="12" name="Shape 10"/>
          <p:cNvSpPr/>
          <p:nvPr/>
        </p:nvSpPr>
        <p:spPr>
          <a:xfrm>
            <a:off x="777240" y="2103120"/>
            <a:ext cx="640080" cy="640080"/>
          </a:xfrm>
          <a:prstGeom prst="ellipse">
            <a:avLst/>
          </a:prstGeom>
          <a:solidFill>
            <a:srgbClr val="E8F1FB"/>
          </a:solidFill>
          <a:ln w="12700">
            <a:solidFill>
              <a:srgbClr val="E8F1FB"/>
            </a:solidFill>
            <a:prstDash val="solid"/>
          </a:ln>
        </p:spPr>
        <p:txBody>
          <a:bodyPr/>
          <a:lstStyle/>
          <a:p>
            <a:endParaRPr lang="en-IN"/>
          </a:p>
        </p:txBody>
      </p:sp>
      <p:sp>
        <p:nvSpPr>
          <p:cNvPr id="13" name="Text 11"/>
          <p:cNvSpPr/>
          <p:nvPr/>
        </p:nvSpPr>
        <p:spPr>
          <a:xfrm>
            <a:off x="777240" y="2103120"/>
            <a:ext cx="640080" cy="640080"/>
          </a:xfrm>
          <a:prstGeom prst="rect">
            <a:avLst/>
          </a:prstGeom>
          <a:noFill/>
          <a:ln/>
        </p:spPr>
        <p:txBody>
          <a:bodyPr wrap="square" lIns="0" tIns="0" rIns="0" bIns="0" rtlCol="0" anchor="ctr"/>
          <a:lstStyle/>
          <a:p>
            <a:pPr marL="0" indent="0" algn="ctr">
              <a:buNone/>
            </a:pPr>
            <a:r>
              <a:rPr lang="en-US" sz="2400" b="1" dirty="0">
                <a:solidFill>
                  <a:srgbClr val="1E5AA8"/>
                </a:solidFill>
                <a:latin typeface="Calibri" pitchFamily="34" charset="0"/>
                <a:ea typeface="Calibri" pitchFamily="34" charset="-122"/>
                <a:cs typeface="Calibri" pitchFamily="34" charset="-120"/>
              </a:rPr>
              <a:t>✓</a:t>
            </a:r>
            <a:endParaRPr lang="en-US" sz="2400" dirty="0"/>
          </a:p>
        </p:txBody>
      </p:sp>
      <p:sp>
        <p:nvSpPr>
          <p:cNvPr id="14" name="Text 12"/>
          <p:cNvSpPr/>
          <p:nvPr/>
        </p:nvSpPr>
        <p:spPr>
          <a:xfrm>
            <a:off x="731520" y="2834640"/>
            <a:ext cx="2320290"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Improved Security</a:t>
            </a:r>
            <a:endParaRPr lang="en-US" sz="1300" dirty="0"/>
          </a:p>
        </p:txBody>
      </p:sp>
      <p:sp>
        <p:nvSpPr>
          <p:cNvPr id="15" name="Text 13"/>
          <p:cNvSpPr/>
          <p:nvPr/>
        </p:nvSpPr>
        <p:spPr>
          <a:xfrm>
            <a:off x="731520" y="3200400"/>
            <a:ext cx="2320290" cy="75438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Strong authentication and centralized control reduce breach risk.</a:t>
            </a:r>
            <a:endParaRPr lang="en-US" sz="1050" dirty="0"/>
          </a:p>
        </p:txBody>
      </p:sp>
      <p:sp>
        <p:nvSpPr>
          <p:cNvPr id="16" name="Shape 14"/>
          <p:cNvSpPr/>
          <p:nvPr/>
        </p:nvSpPr>
        <p:spPr>
          <a:xfrm>
            <a:off x="3371850" y="1828800"/>
            <a:ext cx="2594610" cy="221742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17" name="Shape 15"/>
          <p:cNvSpPr/>
          <p:nvPr/>
        </p:nvSpPr>
        <p:spPr>
          <a:xfrm>
            <a:off x="3371850" y="1828800"/>
            <a:ext cx="73152" cy="2217420"/>
          </a:xfrm>
          <a:prstGeom prst="rect">
            <a:avLst/>
          </a:prstGeom>
          <a:solidFill>
            <a:srgbClr val="2E86DE"/>
          </a:solidFill>
          <a:ln w="12700">
            <a:solidFill>
              <a:srgbClr val="2E86DE"/>
            </a:solidFill>
            <a:prstDash val="solid"/>
          </a:ln>
        </p:spPr>
        <p:txBody>
          <a:bodyPr/>
          <a:lstStyle/>
          <a:p>
            <a:endParaRPr lang="en-IN"/>
          </a:p>
        </p:txBody>
      </p:sp>
      <p:sp>
        <p:nvSpPr>
          <p:cNvPr id="18" name="Shape 16"/>
          <p:cNvSpPr/>
          <p:nvPr/>
        </p:nvSpPr>
        <p:spPr>
          <a:xfrm>
            <a:off x="3600450" y="2103120"/>
            <a:ext cx="640080" cy="640080"/>
          </a:xfrm>
          <a:prstGeom prst="ellipse">
            <a:avLst/>
          </a:prstGeom>
          <a:solidFill>
            <a:srgbClr val="E8F1FB"/>
          </a:solidFill>
          <a:ln w="12700">
            <a:solidFill>
              <a:srgbClr val="E8F1FB"/>
            </a:solidFill>
            <a:prstDash val="solid"/>
          </a:ln>
        </p:spPr>
        <p:txBody>
          <a:bodyPr/>
          <a:lstStyle/>
          <a:p>
            <a:endParaRPr lang="en-IN"/>
          </a:p>
        </p:txBody>
      </p:sp>
      <p:sp>
        <p:nvSpPr>
          <p:cNvPr id="19" name="Text 17"/>
          <p:cNvSpPr/>
          <p:nvPr/>
        </p:nvSpPr>
        <p:spPr>
          <a:xfrm>
            <a:off x="3600450" y="2103120"/>
            <a:ext cx="640080" cy="640080"/>
          </a:xfrm>
          <a:prstGeom prst="rect">
            <a:avLst/>
          </a:prstGeom>
          <a:noFill/>
          <a:ln/>
        </p:spPr>
        <p:txBody>
          <a:bodyPr wrap="square" lIns="0" tIns="0" rIns="0" bIns="0" rtlCol="0" anchor="ctr"/>
          <a:lstStyle/>
          <a:p>
            <a:pPr marL="0" indent="0" algn="ctr">
              <a:buNone/>
            </a:pPr>
            <a:r>
              <a:rPr lang="en-US" sz="2400" b="1" dirty="0">
                <a:solidFill>
                  <a:srgbClr val="1E5AA8"/>
                </a:solidFill>
                <a:latin typeface="Calibri" pitchFamily="34" charset="0"/>
                <a:ea typeface="Calibri" pitchFamily="34" charset="-122"/>
                <a:cs typeface="Calibri" pitchFamily="34" charset="-120"/>
              </a:rPr>
              <a:t>✓</a:t>
            </a:r>
            <a:endParaRPr lang="en-US" sz="2400" dirty="0"/>
          </a:p>
        </p:txBody>
      </p:sp>
      <p:sp>
        <p:nvSpPr>
          <p:cNvPr id="20" name="Text 18"/>
          <p:cNvSpPr/>
          <p:nvPr/>
        </p:nvSpPr>
        <p:spPr>
          <a:xfrm>
            <a:off x="3554730" y="2834640"/>
            <a:ext cx="2320290"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Reduced Insider Threats</a:t>
            </a:r>
            <a:endParaRPr lang="en-US" sz="1300" dirty="0"/>
          </a:p>
        </p:txBody>
      </p:sp>
      <p:sp>
        <p:nvSpPr>
          <p:cNvPr id="21" name="Text 19"/>
          <p:cNvSpPr/>
          <p:nvPr/>
        </p:nvSpPr>
        <p:spPr>
          <a:xfrm>
            <a:off x="3554730" y="3200400"/>
            <a:ext cx="2320290" cy="75438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Least privilege limits what compromised accounts can do.</a:t>
            </a:r>
            <a:endParaRPr lang="en-US" sz="1050" dirty="0"/>
          </a:p>
        </p:txBody>
      </p:sp>
      <p:sp>
        <p:nvSpPr>
          <p:cNvPr id="22" name="Shape 20"/>
          <p:cNvSpPr/>
          <p:nvPr/>
        </p:nvSpPr>
        <p:spPr>
          <a:xfrm>
            <a:off x="6195060" y="1828800"/>
            <a:ext cx="2594610" cy="221742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23" name="Shape 21"/>
          <p:cNvSpPr/>
          <p:nvPr/>
        </p:nvSpPr>
        <p:spPr>
          <a:xfrm>
            <a:off x="6195060" y="1828800"/>
            <a:ext cx="73152" cy="2217420"/>
          </a:xfrm>
          <a:prstGeom prst="rect">
            <a:avLst/>
          </a:prstGeom>
          <a:solidFill>
            <a:srgbClr val="2E86DE"/>
          </a:solidFill>
          <a:ln w="12700">
            <a:solidFill>
              <a:srgbClr val="2E86DE"/>
            </a:solidFill>
            <a:prstDash val="solid"/>
          </a:ln>
        </p:spPr>
        <p:txBody>
          <a:bodyPr/>
          <a:lstStyle/>
          <a:p>
            <a:endParaRPr lang="en-IN"/>
          </a:p>
        </p:txBody>
      </p:sp>
      <p:sp>
        <p:nvSpPr>
          <p:cNvPr id="24" name="Shape 22"/>
          <p:cNvSpPr/>
          <p:nvPr/>
        </p:nvSpPr>
        <p:spPr>
          <a:xfrm>
            <a:off x="6423660" y="2103120"/>
            <a:ext cx="640080" cy="640080"/>
          </a:xfrm>
          <a:prstGeom prst="ellipse">
            <a:avLst/>
          </a:prstGeom>
          <a:solidFill>
            <a:srgbClr val="E8F1FB"/>
          </a:solidFill>
          <a:ln w="12700">
            <a:solidFill>
              <a:srgbClr val="E8F1FB"/>
            </a:solidFill>
            <a:prstDash val="solid"/>
          </a:ln>
        </p:spPr>
        <p:txBody>
          <a:bodyPr/>
          <a:lstStyle/>
          <a:p>
            <a:endParaRPr lang="en-IN"/>
          </a:p>
        </p:txBody>
      </p:sp>
      <p:sp>
        <p:nvSpPr>
          <p:cNvPr id="25" name="Text 23"/>
          <p:cNvSpPr/>
          <p:nvPr/>
        </p:nvSpPr>
        <p:spPr>
          <a:xfrm>
            <a:off x="6423660" y="2103120"/>
            <a:ext cx="640080" cy="640080"/>
          </a:xfrm>
          <a:prstGeom prst="rect">
            <a:avLst/>
          </a:prstGeom>
          <a:noFill/>
          <a:ln/>
        </p:spPr>
        <p:txBody>
          <a:bodyPr wrap="square" lIns="0" tIns="0" rIns="0" bIns="0" rtlCol="0" anchor="ctr"/>
          <a:lstStyle/>
          <a:p>
            <a:pPr marL="0" indent="0" algn="ctr">
              <a:buNone/>
            </a:pPr>
            <a:r>
              <a:rPr lang="en-US" sz="2400" b="1" dirty="0">
                <a:solidFill>
                  <a:srgbClr val="1E5AA8"/>
                </a:solidFill>
                <a:latin typeface="Calibri" pitchFamily="34" charset="0"/>
                <a:ea typeface="Calibri" pitchFamily="34" charset="-122"/>
                <a:cs typeface="Calibri" pitchFamily="34" charset="-120"/>
              </a:rPr>
              <a:t>✓</a:t>
            </a:r>
            <a:endParaRPr lang="en-US" sz="2400" dirty="0"/>
          </a:p>
        </p:txBody>
      </p:sp>
      <p:sp>
        <p:nvSpPr>
          <p:cNvPr id="26" name="Text 24"/>
          <p:cNvSpPr/>
          <p:nvPr/>
        </p:nvSpPr>
        <p:spPr>
          <a:xfrm>
            <a:off x="6377940" y="2834640"/>
            <a:ext cx="2320290"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Compliance Support</a:t>
            </a:r>
            <a:endParaRPr lang="en-US" sz="1300" dirty="0"/>
          </a:p>
        </p:txBody>
      </p:sp>
      <p:sp>
        <p:nvSpPr>
          <p:cNvPr id="27" name="Text 25"/>
          <p:cNvSpPr/>
          <p:nvPr/>
        </p:nvSpPr>
        <p:spPr>
          <a:xfrm>
            <a:off x="6377940" y="3200400"/>
            <a:ext cx="2320290" cy="75438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Meets GDPR, HIPAA, ISO 27001, SOC 2 audit requirements.</a:t>
            </a:r>
            <a:endParaRPr lang="en-US" sz="1050" dirty="0"/>
          </a:p>
        </p:txBody>
      </p:sp>
      <p:sp>
        <p:nvSpPr>
          <p:cNvPr id="28" name="Shape 26"/>
          <p:cNvSpPr/>
          <p:nvPr/>
        </p:nvSpPr>
        <p:spPr>
          <a:xfrm>
            <a:off x="9018270" y="1828800"/>
            <a:ext cx="2594610" cy="221742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29" name="Shape 27"/>
          <p:cNvSpPr/>
          <p:nvPr/>
        </p:nvSpPr>
        <p:spPr>
          <a:xfrm>
            <a:off x="9018270" y="1828800"/>
            <a:ext cx="73152" cy="2217420"/>
          </a:xfrm>
          <a:prstGeom prst="rect">
            <a:avLst/>
          </a:prstGeom>
          <a:solidFill>
            <a:srgbClr val="2E86DE"/>
          </a:solidFill>
          <a:ln w="12700">
            <a:solidFill>
              <a:srgbClr val="2E86DE"/>
            </a:solidFill>
            <a:prstDash val="solid"/>
          </a:ln>
        </p:spPr>
        <p:txBody>
          <a:bodyPr/>
          <a:lstStyle/>
          <a:p>
            <a:endParaRPr lang="en-IN"/>
          </a:p>
        </p:txBody>
      </p:sp>
      <p:sp>
        <p:nvSpPr>
          <p:cNvPr id="30" name="Shape 28"/>
          <p:cNvSpPr/>
          <p:nvPr/>
        </p:nvSpPr>
        <p:spPr>
          <a:xfrm>
            <a:off x="9246870" y="2103120"/>
            <a:ext cx="640080" cy="640080"/>
          </a:xfrm>
          <a:prstGeom prst="ellipse">
            <a:avLst/>
          </a:prstGeom>
          <a:solidFill>
            <a:srgbClr val="E8F1FB"/>
          </a:solidFill>
          <a:ln w="12700">
            <a:solidFill>
              <a:srgbClr val="E8F1FB"/>
            </a:solidFill>
            <a:prstDash val="solid"/>
          </a:ln>
        </p:spPr>
        <p:txBody>
          <a:bodyPr/>
          <a:lstStyle/>
          <a:p>
            <a:endParaRPr lang="en-IN"/>
          </a:p>
        </p:txBody>
      </p:sp>
      <p:sp>
        <p:nvSpPr>
          <p:cNvPr id="31" name="Text 29"/>
          <p:cNvSpPr/>
          <p:nvPr/>
        </p:nvSpPr>
        <p:spPr>
          <a:xfrm>
            <a:off x="9246870" y="2103120"/>
            <a:ext cx="640080" cy="640080"/>
          </a:xfrm>
          <a:prstGeom prst="rect">
            <a:avLst/>
          </a:prstGeom>
          <a:noFill/>
          <a:ln/>
        </p:spPr>
        <p:txBody>
          <a:bodyPr wrap="square" lIns="0" tIns="0" rIns="0" bIns="0" rtlCol="0" anchor="ctr"/>
          <a:lstStyle/>
          <a:p>
            <a:pPr marL="0" indent="0" algn="ctr">
              <a:buNone/>
            </a:pPr>
            <a:r>
              <a:rPr lang="en-US" sz="2400" b="1" dirty="0">
                <a:solidFill>
                  <a:srgbClr val="1E5AA8"/>
                </a:solidFill>
                <a:latin typeface="Calibri" pitchFamily="34" charset="0"/>
                <a:ea typeface="Calibri" pitchFamily="34" charset="-122"/>
                <a:cs typeface="Calibri" pitchFamily="34" charset="-120"/>
              </a:rPr>
              <a:t>✓</a:t>
            </a:r>
            <a:endParaRPr lang="en-US" sz="2400" dirty="0"/>
          </a:p>
        </p:txBody>
      </p:sp>
      <p:sp>
        <p:nvSpPr>
          <p:cNvPr id="32" name="Text 30"/>
          <p:cNvSpPr/>
          <p:nvPr/>
        </p:nvSpPr>
        <p:spPr>
          <a:xfrm>
            <a:off x="9201150" y="2834640"/>
            <a:ext cx="2320290"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Centralized Management</a:t>
            </a:r>
            <a:endParaRPr lang="en-US" sz="1300" dirty="0"/>
          </a:p>
        </p:txBody>
      </p:sp>
      <p:sp>
        <p:nvSpPr>
          <p:cNvPr id="33" name="Text 31"/>
          <p:cNvSpPr/>
          <p:nvPr/>
        </p:nvSpPr>
        <p:spPr>
          <a:xfrm>
            <a:off x="9201150" y="3200400"/>
            <a:ext cx="2320290" cy="75438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Single pane for users, roles, groups and policies.</a:t>
            </a:r>
            <a:endParaRPr lang="en-US" sz="1050" dirty="0"/>
          </a:p>
        </p:txBody>
      </p:sp>
      <p:sp>
        <p:nvSpPr>
          <p:cNvPr id="34" name="Shape 32"/>
          <p:cNvSpPr/>
          <p:nvPr/>
        </p:nvSpPr>
        <p:spPr>
          <a:xfrm>
            <a:off x="548640" y="4274820"/>
            <a:ext cx="2594610" cy="221742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35" name="Shape 33"/>
          <p:cNvSpPr/>
          <p:nvPr/>
        </p:nvSpPr>
        <p:spPr>
          <a:xfrm>
            <a:off x="548640" y="4274820"/>
            <a:ext cx="73152" cy="2217420"/>
          </a:xfrm>
          <a:prstGeom prst="rect">
            <a:avLst/>
          </a:prstGeom>
          <a:solidFill>
            <a:srgbClr val="2E86DE"/>
          </a:solidFill>
          <a:ln w="12700">
            <a:solidFill>
              <a:srgbClr val="2E86DE"/>
            </a:solidFill>
            <a:prstDash val="solid"/>
          </a:ln>
        </p:spPr>
        <p:txBody>
          <a:bodyPr/>
          <a:lstStyle/>
          <a:p>
            <a:endParaRPr lang="en-IN"/>
          </a:p>
        </p:txBody>
      </p:sp>
      <p:sp>
        <p:nvSpPr>
          <p:cNvPr id="36" name="Shape 34"/>
          <p:cNvSpPr/>
          <p:nvPr/>
        </p:nvSpPr>
        <p:spPr>
          <a:xfrm>
            <a:off x="777240" y="4549140"/>
            <a:ext cx="640080" cy="640080"/>
          </a:xfrm>
          <a:prstGeom prst="ellipse">
            <a:avLst/>
          </a:prstGeom>
          <a:solidFill>
            <a:srgbClr val="E8F1FB"/>
          </a:solidFill>
          <a:ln w="12700">
            <a:solidFill>
              <a:srgbClr val="E8F1FB"/>
            </a:solidFill>
            <a:prstDash val="solid"/>
          </a:ln>
        </p:spPr>
        <p:txBody>
          <a:bodyPr/>
          <a:lstStyle/>
          <a:p>
            <a:endParaRPr lang="en-IN"/>
          </a:p>
        </p:txBody>
      </p:sp>
      <p:sp>
        <p:nvSpPr>
          <p:cNvPr id="37" name="Text 35"/>
          <p:cNvSpPr/>
          <p:nvPr/>
        </p:nvSpPr>
        <p:spPr>
          <a:xfrm>
            <a:off x="777240" y="4549140"/>
            <a:ext cx="640080" cy="640080"/>
          </a:xfrm>
          <a:prstGeom prst="rect">
            <a:avLst/>
          </a:prstGeom>
          <a:noFill/>
          <a:ln/>
        </p:spPr>
        <p:txBody>
          <a:bodyPr wrap="square" lIns="0" tIns="0" rIns="0" bIns="0" rtlCol="0" anchor="ctr"/>
          <a:lstStyle/>
          <a:p>
            <a:pPr marL="0" indent="0" algn="ctr">
              <a:buNone/>
            </a:pPr>
            <a:r>
              <a:rPr lang="en-US" sz="2400" b="1" dirty="0">
                <a:solidFill>
                  <a:srgbClr val="1E5AA8"/>
                </a:solidFill>
                <a:latin typeface="Calibri" pitchFamily="34" charset="0"/>
                <a:ea typeface="Calibri" pitchFamily="34" charset="-122"/>
                <a:cs typeface="Calibri" pitchFamily="34" charset="-120"/>
              </a:rPr>
              <a:t>✓</a:t>
            </a:r>
            <a:endParaRPr lang="en-US" sz="2400" dirty="0"/>
          </a:p>
        </p:txBody>
      </p:sp>
      <p:sp>
        <p:nvSpPr>
          <p:cNvPr id="38" name="Text 36"/>
          <p:cNvSpPr/>
          <p:nvPr/>
        </p:nvSpPr>
        <p:spPr>
          <a:xfrm>
            <a:off x="731520" y="5280660"/>
            <a:ext cx="2320290"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Secure Remote Access</a:t>
            </a:r>
            <a:endParaRPr lang="en-US" sz="1300" dirty="0"/>
          </a:p>
        </p:txBody>
      </p:sp>
      <p:sp>
        <p:nvSpPr>
          <p:cNvPr id="39" name="Text 37"/>
          <p:cNvSpPr/>
          <p:nvPr/>
        </p:nvSpPr>
        <p:spPr>
          <a:xfrm>
            <a:off x="731520" y="5646420"/>
            <a:ext cx="2320290" cy="75438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Enables hybrid work without exposing the perimeter.</a:t>
            </a:r>
            <a:endParaRPr lang="en-US" sz="1050" dirty="0"/>
          </a:p>
        </p:txBody>
      </p:sp>
      <p:sp>
        <p:nvSpPr>
          <p:cNvPr id="40" name="Shape 38"/>
          <p:cNvSpPr/>
          <p:nvPr/>
        </p:nvSpPr>
        <p:spPr>
          <a:xfrm>
            <a:off x="3371850" y="4274820"/>
            <a:ext cx="2594610" cy="221742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41" name="Shape 39"/>
          <p:cNvSpPr/>
          <p:nvPr/>
        </p:nvSpPr>
        <p:spPr>
          <a:xfrm>
            <a:off x="3371850" y="4274820"/>
            <a:ext cx="73152" cy="2217420"/>
          </a:xfrm>
          <a:prstGeom prst="rect">
            <a:avLst/>
          </a:prstGeom>
          <a:solidFill>
            <a:srgbClr val="2E86DE"/>
          </a:solidFill>
          <a:ln w="12700">
            <a:solidFill>
              <a:srgbClr val="2E86DE"/>
            </a:solidFill>
            <a:prstDash val="solid"/>
          </a:ln>
        </p:spPr>
        <p:txBody>
          <a:bodyPr/>
          <a:lstStyle/>
          <a:p>
            <a:endParaRPr lang="en-IN"/>
          </a:p>
        </p:txBody>
      </p:sp>
      <p:sp>
        <p:nvSpPr>
          <p:cNvPr id="42" name="Shape 40"/>
          <p:cNvSpPr/>
          <p:nvPr/>
        </p:nvSpPr>
        <p:spPr>
          <a:xfrm>
            <a:off x="3600450" y="4549140"/>
            <a:ext cx="640080" cy="640080"/>
          </a:xfrm>
          <a:prstGeom prst="ellipse">
            <a:avLst/>
          </a:prstGeom>
          <a:solidFill>
            <a:srgbClr val="E8F1FB"/>
          </a:solidFill>
          <a:ln w="12700">
            <a:solidFill>
              <a:srgbClr val="E8F1FB"/>
            </a:solidFill>
            <a:prstDash val="solid"/>
          </a:ln>
        </p:spPr>
        <p:txBody>
          <a:bodyPr/>
          <a:lstStyle/>
          <a:p>
            <a:endParaRPr lang="en-IN"/>
          </a:p>
        </p:txBody>
      </p:sp>
      <p:sp>
        <p:nvSpPr>
          <p:cNvPr id="43" name="Text 41"/>
          <p:cNvSpPr/>
          <p:nvPr/>
        </p:nvSpPr>
        <p:spPr>
          <a:xfrm>
            <a:off x="3600450" y="4549140"/>
            <a:ext cx="640080" cy="640080"/>
          </a:xfrm>
          <a:prstGeom prst="rect">
            <a:avLst/>
          </a:prstGeom>
          <a:noFill/>
          <a:ln/>
        </p:spPr>
        <p:txBody>
          <a:bodyPr wrap="square" lIns="0" tIns="0" rIns="0" bIns="0" rtlCol="0" anchor="ctr"/>
          <a:lstStyle/>
          <a:p>
            <a:pPr marL="0" indent="0" algn="ctr">
              <a:buNone/>
            </a:pPr>
            <a:r>
              <a:rPr lang="en-US" sz="2400" b="1" dirty="0">
                <a:solidFill>
                  <a:srgbClr val="1E5AA8"/>
                </a:solidFill>
                <a:latin typeface="Calibri" pitchFamily="34" charset="0"/>
                <a:ea typeface="Calibri" pitchFamily="34" charset="-122"/>
                <a:cs typeface="Calibri" pitchFamily="34" charset="-120"/>
              </a:rPr>
              <a:t>✓</a:t>
            </a:r>
            <a:endParaRPr lang="en-US" sz="2400" dirty="0"/>
          </a:p>
        </p:txBody>
      </p:sp>
      <p:sp>
        <p:nvSpPr>
          <p:cNvPr id="44" name="Text 42"/>
          <p:cNvSpPr/>
          <p:nvPr/>
        </p:nvSpPr>
        <p:spPr>
          <a:xfrm>
            <a:off x="3554730" y="5280660"/>
            <a:ext cx="2320290"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Audit Logs</a:t>
            </a:r>
            <a:endParaRPr lang="en-US" sz="1300" dirty="0"/>
          </a:p>
        </p:txBody>
      </p:sp>
      <p:sp>
        <p:nvSpPr>
          <p:cNvPr id="45" name="Text 43"/>
          <p:cNvSpPr/>
          <p:nvPr/>
        </p:nvSpPr>
        <p:spPr>
          <a:xfrm>
            <a:off x="3554730" y="5646420"/>
            <a:ext cx="2320290" cy="75438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Every access decision is recorded for forensic review.</a:t>
            </a:r>
            <a:endParaRPr lang="en-US" sz="1050" dirty="0"/>
          </a:p>
        </p:txBody>
      </p:sp>
      <p:sp>
        <p:nvSpPr>
          <p:cNvPr id="46" name="Shape 44"/>
          <p:cNvSpPr/>
          <p:nvPr/>
        </p:nvSpPr>
        <p:spPr>
          <a:xfrm>
            <a:off x="6195060" y="4274820"/>
            <a:ext cx="2594610" cy="221742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47" name="Shape 45"/>
          <p:cNvSpPr/>
          <p:nvPr/>
        </p:nvSpPr>
        <p:spPr>
          <a:xfrm>
            <a:off x="6195060" y="4274820"/>
            <a:ext cx="73152" cy="2217420"/>
          </a:xfrm>
          <a:prstGeom prst="rect">
            <a:avLst/>
          </a:prstGeom>
          <a:solidFill>
            <a:srgbClr val="2E86DE"/>
          </a:solidFill>
          <a:ln w="12700">
            <a:solidFill>
              <a:srgbClr val="2E86DE"/>
            </a:solidFill>
            <a:prstDash val="solid"/>
          </a:ln>
        </p:spPr>
        <p:txBody>
          <a:bodyPr/>
          <a:lstStyle/>
          <a:p>
            <a:endParaRPr lang="en-IN"/>
          </a:p>
        </p:txBody>
      </p:sp>
      <p:sp>
        <p:nvSpPr>
          <p:cNvPr id="48" name="Shape 46"/>
          <p:cNvSpPr/>
          <p:nvPr/>
        </p:nvSpPr>
        <p:spPr>
          <a:xfrm>
            <a:off x="6423660" y="4549140"/>
            <a:ext cx="640080" cy="640080"/>
          </a:xfrm>
          <a:prstGeom prst="ellipse">
            <a:avLst/>
          </a:prstGeom>
          <a:solidFill>
            <a:srgbClr val="E8F1FB"/>
          </a:solidFill>
          <a:ln w="12700">
            <a:solidFill>
              <a:srgbClr val="E8F1FB"/>
            </a:solidFill>
            <a:prstDash val="solid"/>
          </a:ln>
        </p:spPr>
        <p:txBody>
          <a:bodyPr/>
          <a:lstStyle/>
          <a:p>
            <a:endParaRPr lang="en-IN"/>
          </a:p>
        </p:txBody>
      </p:sp>
      <p:sp>
        <p:nvSpPr>
          <p:cNvPr id="49" name="Text 47"/>
          <p:cNvSpPr/>
          <p:nvPr/>
        </p:nvSpPr>
        <p:spPr>
          <a:xfrm>
            <a:off x="6423660" y="4549140"/>
            <a:ext cx="640080" cy="640080"/>
          </a:xfrm>
          <a:prstGeom prst="rect">
            <a:avLst/>
          </a:prstGeom>
          <a:noFill/>
          <a:ln/>
        </p:spPr>
        <p:txBody>
          <a:bodyPr wrap="square" lIns="0" tIns="0" rIns="0" bIns="0" rtlCol="0" anchor="ctr"/>
          <a:lstStyle/>
          <a:p>
            <a:pPr marL="0" indent="0" algn="ctr">
              <a:buNone/>
            </a:pPr>
            <a:r>
              <a:rPr lang="en-US" sz="2400" b="1" dirty="0">
                <a:solidFill>
                  <a:srgbClr val="1E5AA8"/>
                </a:solidFill>
                <a:latin typeface="Calibri" pitchFamily="34" charset="0"/>
                <a:ea typeface="Calibri" pitchFamily="34" charset="-122"/>
                <a:cs typeface="Calibri" pitchFamily="34" charset="-120"/>
              </a:rPr>
              <a:t>✓</a:t>
            </a:r>
            <a:endParaRPr lang="en-US" sz="2400" dirty="0"/>
          </a:p>
        </p:txBody>
      </p:sp>
      <p:sp>
        <p:nvSpPr>
          <p:cNvPr id="50" name="Text 48"/>
          <p:cNvSpPr/>
          <p:nvPr/>
        </p:nvSpPr>
        <p:spPr>
          <a:xfrm>
            <a:off x="6377940" y="5280660"/>
            <a:ext cx="2320290"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Risk Reduction</a:t>
            </a:r>
            <a:endParaRPr lang="en-US" sz="1300" dirty="0"/>
          </a:p>
        </p:txBody>
      </p:sp>
      <p:sp>
        <p:nvSpPr>
          <p:cNvPr id="51" name="Text 49"/>
          <p:cNvSpPr/>
          <p:nvPr/>
        </p:nvSpPr>
        <p:spPr>
          <a:xfrm>
            <a:off x="6377940" y="5646420"/>
            <a:ext cx="2320290" cy="75438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Adaptive policies react to unusual behavior in real time.</a:t>
            </a:r>
            <a:endParaRPr lang="en-US" sz="1050" dirty="0"/>
          </a:p>
        </p:txBody>
      </p:sp>
      <p:sp>
        <p:nvSpPr>
          <p:cNvPr id="52" name="Shape 50"/>
          <p:cNvSpPr/>
          <p:nvPr/>
        </p:nvSpPr>
        <p:spPr>
          <a:xfrm>
            <a:off x="9018270" y="4274820"/>
            <a:ext cx="2594610" cy="221742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53" name="Shape 51"/>
          <p:cNvSpPr/>
          <p:nvPr/>
        </p:nvSpPr>
        <p:spPr>
          <a:xfrm>
            <a:off x="9018270" y="4274820"/>
            <a:ext cx="73152" cy="2217420"/>
          </a:xfrm>
          <a:prstGeom prst="rect">
            <a:avLst/>
          </a:prstGeom>
          <a:solidFill>
            <a:srgbClr val="2E86DE"/>
          </a:solidFill>
          <a:ln w="12700">
            <a:solidFill>
              <a:srgbClr val="2E86DE"/>
            </a:solidFill>
            <a:prstDash val="solid"/>
          </a:ln>
        </p:spPr>
        <p:txBody>
          <a:bodyPr/>
          <a:lstStyle/>
          <a:p>
            <a:endParaRPr lang="en-IN"/>
          </a:p>
        </p:txBody>
      </p:sp>
      <p:sp>
        <p:nvSpPr>
          <p:cNvPr id="54" name="Shape 52"/>
          <p:cNvSpPr/>
          <p:nvPr/>
        </p:nvSpPr>
        <p:spPr>
          <a:xfrm>
            <a:off x="9246870" y="4549140"/>
            <a:ext cx="640080" cy="640080"/>
          </a:xfrm>
          <a:prstGeom prst="ellipse">
            <a:avLst/>
          </a:prstGeom>
          <a:solidFill>
            <a:srgbClr val="E8F1FB"/>
          </a:solidFill>
          <a:ln w="12700">
            <a:solidFill>
              <a:srgbClr val="E8F1FB"/>
            </a:solidFill>
            <a:prstDash val="solid"/>
          </a:ln>
        </p:spPr>
        <p:txBody>
          <a:bodyPr/>
          <a:lstStyle/>
          <a:p>
            <a:endParaRPr lang="en-IN"/>
          </a:p>
        </p:txBody>
      </p:sp>
      <p:sp>
        <p:nvSpPr>
          <p:cNvPr id="55" name="Text 53"/>
          <p:cNvSpPr/>
          <p:nvPr/>
        </p:nvSpPr>
        <p:spPr>
          <a:xfrm>
            <a:off x="9246870" y="4549140"/>
            <a:ext cx="640080" cy="640080"/>
          </a:xfrm>
          <a:prstGeom prst="rect">
            <a:avLst/>
          </a:prstGeom>
          <a:noFill/>
          <a:ln/>
        </p:spPr>
        <p:txBody>
          <a:bodyPr wrap="square" lIns="0" tIns="0" rIns="0" bIns="0" rtlCol="0" anchor="ctr"/>
          <a:lstStyle/>
          <a:p>
            <a:pPr marL="0" indent="0" algn="ctr">
              <a:buNone/>
            </a:pPr>
            <a:r>
              <a:rPr lang="en-US" sz="2400" b="1" dirty="0">
                <a:solidFill>
                  <a:srgbClr val="1E5AA8"/>
                </a:solidFill>
                <a:latin typeface="Calibri" pitchFamily="34" charset="0"/>
                <a:ea typeface="Calibri" pitchFamily="34" charset="-122"/>
                <a:cs typeface="Calibri" pitchFamily="34" charset="-120"/>
              </a:rPr>
              <a:t>✓</a:t>
            </a:r>
            <a:endParaRPr lang="en-US" sz="2400" dirty="0"/>
          </a:p>
        </p:txBody>
      </p:sp>
      <p:sp>
        <p:nvSpPr>
          <p:cNvPr id="56" name="Text 54"/>
          <p:cNvSpPr/>
          <p:nvPr/>
        </p:nvSpPr>
        <p:spPr>
          <a:xfrm>
            <a:off x="9201150" y="5280660"/>
            <a:ext cx="2320290"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Data Protection</a:t>
            </a:r>
            <a:endParaRPr lang="en-US" sz="1300" dirty="0"/>
          </a:p>
        </p:txBody>
      </p:sp>
      <p:sp>
        <p:nvSpPr>
          <p:cNvPr id="57" name="Text 55"/>
          <p:cNvSpPr/>
          <p:nvPr/>
        </p:nvSpPr>
        <p:spPr>
          <a:xfrm>
            <a:off x="9201150" y="5646420"/>
            <a:ext cx="2320290" cy="75438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Fine-grained control safeguards sensitive information.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D"/>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B2545"/>
          </a:solidFill>
          <a:ln w="12700">
            <a:solidFill>
              <a:srgbClr val="0B2545"/>
            </a:solidFill>
            <a:prstDash val="solid"/>
          </a:ln>
        </p:spPr>
        <p:txBody>
          <a:bodyPr/>
          <a:lstStyle/>
          <a:p>
            <a:endParaRPr lang="en-IN"/>
          </a:p>
        </p:txBody>
      </p:sp>
      <p:sp>
        <p:nvSpPr>
          <p:cNvPr id="3" name="Shape 1"/>
          <p:cNvSpPr/>
          <p:nvPr/>
        </p:nvSpPr>
        <p:spPr>
          <a:xfrm>
            <a:off x="0" y="320040"/>
            <a:ext cx="12161520" cy="45720"/>
          </a:xfrm>
          <a:prstGeom prst="rect">
            <a:avLst/>
          </a:prstGeom>
          <a:solidFill>
            <a:srgbClr val="2E86DE"/>
          </a:solidFill>
          <a:ln w="12700">
            <a:solidFill>
              <a:srgbClr val="2E86DE"/>
            </a:solidFill>
            <a:prstDash val="solid"/>
          </a:ln>
        </p:spPr>
        <p:txBody>
          <a:bodyPr/>
          <a:lstStyle/>
          <a:p>
            <a:endParaRPr lang="en-IN"/>
          </a:p>
        </p:txBody>
      </p:sp>
      <p:sp>
        <p:nvSpPr>
          <p:cNvPr id="4" name="Text 2"/>
          <p:cNvSpPr/>
          <p:nvPr/>
        </p:nvSpPr>
        <p:spPr>
          <a:xfrm>
            <a:off x="548640" y="502920"/>
            <a:ext cx="7315200" cy="320040"/>
          </a:xfrm>
          <a:prstGeom prst="rect">
            <a:avLst/>
          </a:prstGeom>
          <a:noFill/>
          <a:ln/>
        </p:spPr>
        <p:txBody>
          <a:bodyPr wrap="square" lIns="0" tIns="0" rIns="0" bIns="0" rtlCol="0" anchor="ctr"/>
          <a:lstStyle/>
          <a:p>
            <a:pPr marL="0" indent="0">
              <a:buNone/>
            </a:pPr>
            <a:r>
              <a:rPr lang="en-US" sz="1100" b="1" kern="0" spc="400" dirty="0">
                <a:solidFill>
                  <a:srgbClr val="2E86DE"/>
                </a:solidFill>
                <a:latin typeface="Calibri" pitchFamily="34" charset="0"/>
                <a:ea typeface="Calibri" pitchFamily="34" charset="-122"/>
                <a:cs typeface="Calibri" pitchFamily="34" charset="-120"/>
              </a:rPr>
              <a:t>SLIDE 10</a:t>
            </a:r>
            <a:endParaRPr lang="en-US" sz="1100" dirty="0"/>
          </a:p>
        </p:txBody>
      </p:sp>
      <p:sp>
        <p:nvSpPr>
          <p:cNvPr id="5" name="Text 3"/>
          <p:cNvSpPr/>
          <p:nvPr/>
        </p:nvSpPr>
        <p:spPr>
          <a:xfrm>
            <a:off x="548640" y="777240"/>
            <a:ext cx="10972800" cy="64008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Enterprise IAM Implementations</a:t>
            </a:r>
            <a:endParaRPr lang="en-US" sz="3000" dirty="0"/>
          </a:p>
        </p:txBody>
      </p:sp>
      <p:sp>
        <p:nvSpPr>
          <p:cNvPr id="6" name="Shape 4"/>
          <p:cNvSpPr/>
          <p:nvPr/>
        </p:nvSpPr>
        <p:spPr>
          <a:xfrm>
            <a:off x="548640" y="1463040"/>
            <a:ext cx="1097280" cy="0"/>
          </a:xfrm>
          <a:prstGeom prst="line">
            <a:avLst/>
          </a:prstGeom>
          <a:noFill/>
          <a:ln w="38100">
            <a:solidFill>
              <a:srgbClr val="2E86DE"/>
            </a:solidFill>
            <a:prstDash val="solid"/>
          </a:ln>
        </p:spPr>
        <p:txBody>
          <a:bodyPr/>
          <a:lstStyle/>
          <a:p>
            <a:endParaRPr lang="en-IN"/>
          </a:p>
        </p:txBody>
      </p:sp>
      <p:sp>
        <p:nvSpPr>
          <p:cNvPr id="7" name="Shape 5"/>
          <p:cNvSpPr/>
          <p:nvPr/>
        </p:nvSpPr>
        <p:spPr>
          <a:xfrm>
            <a:off x="0" y="6583680"/>
            <a:ext cx="12161520" cy="274320"/>
          </a:xfrm>
          <a:prstGeom prst="rect">
            <a:avLst/>
          </a:prstGeom>
          <a:solidFill>
            <a:srgbClr val="0B2545"/>
          </a:solidFill>
          <a:ln w="12700">
            <a:solidFill>
              <a:srgbClr val="0B2545"/>
            </a:solidFill>
            <a:prstDash val="solid"/>
          </a:ln>
        </p:spPr>
        <p:txBody>
          <a:bodyPr/>
          <a:lstStyle/>
          <a:p>
            <a:endParaRPr lang="en-IN"/>
          </a:p>
        </p:txBody>
      </p:sp>
      <p:sp>
        <p:nvSpPr>
          <p:cNvPr id="8" name="Text 6"/>
          <p:cNvSpPr/>
          <p:nvPr/>
        </p:nvSpPr>
        <p:spPr>
          <a:xfrm>
            <a:off x="548640" y="6583680"/>
            <a:ext cx="7315200" cy="27432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IAM in Cloud Environments  •  CSA15</a:t>
            </a:r>
            <a:endParaRPr lang="en-US" sz="900" dirty="0"/>
          </a:p>
        </p:txBody>
      </p:sp>
      <p:sp>
        <p:nvSpPr>
          <p:cNvPr id="9" name="Text 7"/>
          <p:cNvSpPr/>
          <p:nvPr/>
        </p:nvSpPr>
        <p:spPr>
          <a:xfrm>
            <a:off x="10789920" y="6583680"/>
            <a:ext cx="822960" cy="27432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10 / 12</a:t>
            </a:r>
            <a:endParaRPr lang="en-US" sz="900" dirty="0"/>
          </a:p>
        </p:txBody>
      </p:sp>
      <p:sp>
        <p:nvSpPr>
          <p:cNvPr id="10" name="Shape 8"/>
          <p:cNvSpPr/>
          <p:nvPr/>
        </p:nvSpPr>
        <p:spPr>
          <a:xfrm>
            <a:off x="548640" y="1828800"/>
            <a:ext cx="5394960" cy="219456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11" name="Shape 9"/>
          <p:cNvSpPr/>
          <p:nvPr/>
        </p:nvSpPr>
        <p:spPr>
          <a:xfrm>
            <a:off x="548640" y="1828800"/>
            <a:ext cx="5394960" cy="109728"/>
          </a:xfrm>
          <a:prstGeom prst="rect">
            <a:avLst/>
          </a:prstGeom>
          <a:solidFill>
            <a:srgbClr val="FF9900"/>
          </a:solidFill>
          <a:ln w="12700">
            <a:solidFill>
              <a:srgbClr val="FF9900"/>
            </a:solidFill>
            <a:prstDash val="solid"/>
          </a:ln>
        </p:spPr>
        <p:txBody>
          <a:bodyPr/>
          <a:lstStyle/>
          <a:p>
            <a:endParaRPr lang="en-IN"/>
          </a:p>
        </p:txBody>
      </p:sp>
      <p:sp>
        <p:nvSpPr>
          <p:cNvPr id="12" name="Shape 10"/>
          <p:cNvSpPr/>
          <p:nvPr/>
        </p:nvSpPr>
        <p:spPr>
          <a:xfrm>
            <a:off x="822960" y="2240280"/>
            <a:ext cx="1005840" cy="1005840"/>
          </a:xfrm>
          <a:prstGeom prst="roundRect">
            <a:avLst>
              <a:gd name="adj" fmla="val 9091"/>
            </a:avLst>
          </a:prstGeom>
          <a:solidFill>
            <a:srgbClr val="FF9900"/>
          </a:solidFill>
          <a:ln w="12700">
            <a:solidFill>
              <a:srgbClr val="FF9900"/>
            </a:solidFill>
            <a:prstDash val="solid"/>
          </a:ln>
        </p:spPr>
        <p:txBody>
          <a:bodyPr/>
          <a:lstStyle/>
          <a:p>
            <a:endParaRPr lang="en-IN"/>
          </a:p>
        </p:txBody>
      </p:sp>
      <p:sp>
        <p:nvSpPr>
          <p:cNvPr id="13" name="Text 11"/>
          <p:cNvSpPr/>
          <p:nvPr/>
        </p:nvSpPr>
        <p:spPr>
          <a:xfrm>
            <a:off x="822960" y="2240280"/>
            <a:ext cx="1005840" cy="100584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AWS</a:t>
            </a:r>
            <a:endParaRPr lang="en-US" sz="2400" dirty="0"/>
          </a:p>
        </p:txBody>
      </p:sp>
      <p:sp>
        <p:nvSpPr>
          <p:cNvPr id="14" name="Text 12"/>
          <p:cNvSpPr/>
          <p:nvPr/>
        </p:nvSpPr>
        <p:spPr>
          <a:xfrm>
            <a:off x="1965960" y="2331720"/>
            <a:ext cx="3794760" cy="45720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AWS IAM</a:t>
            </a:r>
            <a:endParaRPr lang="en-US" sz="1800" dirty="0"/>
          </a:p>
        </p:txBody>
      </p:sp>
      <p:sp>
        <p:nvSpPr>
          <p:cNvPr id="15" name="Text 13"/>
          <p:cNvSpPr/>
          <p:nvPr/>
        </p:nvSpPr>
        <p:spPr>
          <a:xfrm>
            <a:off x="1965960" y="2788920"/>
            <a:ext cx="3794760" cy="1143000"/>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Users, groups, roles and JSON policies with fine-grained resource control. Supports IAM Identity Center (SSO) and STS temporary credentials.</a:t>
            </a:r>
            <a:endParaRPr lang="en-US" sz="1200" dirty="0"/>
          </a:p>
        </p:txBody>
      </p:sp>
      <p:sp>
        <p:nvSpPr>
          <p:cNvPr id="16" name="Shape 14"/>
          <p:cNvSpPr/>
          <p:nvPr/>
        </p:nvSpPr>
        <p:spPr>
          <a:xfrm>
            <a:off x="6217920" y="1828800"/>
            <a:ext cx="5394960" cy="219456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17" name="Shape 15"/>
          <p:cNvSpPr/>
          <p:nvPr/>
        </p:nvSpPr>
        <p:spPr>
          <a:xfrm>
            <a:off x="6217920" y="1828800"/>
            <a:ext cx="5394960" cy="109728"/>
          </a:xfrm>
          <a:prstGeom prst="rect">
            <a:avLst/>
          </a:prstGeom>
          <a:solidFill>
            <a:srgbClr val="0078D4"/>
          </a:solidFill>
          <a:ln w="12700">
            <a:solidFill>
              <a:srgbClr val="0078D4"/>
            </a:solidFill>
            <a:prstDash val="solid"/>
          </a:ln>
        </p:spPr>
        <p:txBody>
          <a:bodyPr/>
          <a:lstStyle/>
          <a:p>
            <a:endParaRPr lang="en-IN"/>
          </a:p>
        </p:txBody>
      </p:sp>
      <p:sp>
        <p:nvSpPr>
          <p:cNvPr id="18" name="Shape 16"/>
          <p:cNvSpPr/>
          <p:nvPr/>
        </p:nvSpPr>
        <p:spPr>
          <a:xfrm>
            <a:off x="6492240" y="2240280"/>
            <a:ext cx="1005840" cy="1005840"/>
          </a:xfrm>
          <a:prstGeom prst="roundRect">
            <a:avLst>
              <a:gd name="adj" fmla="val 9091"/>
            </a:avLst>
          </a:prstGeom>
          <a:solidFill>
            <a:srgbClr val="0078D4"/>
          </a:solidFill>
          <a:ln w="12700">
            <a:solidFill>
              <a:srgbClr val="0078D4"/>
            </a:solidFill>
            <a:prstDash val="solid"/>
          </a:ln>
        </p:spPr>
        <p:txBody>
          <a:bodyPr/>
          <a:lstStyle/>
          <a:p>
            <a:endParaRPr lang="en-IN"/>
          </a:p>
        </p:txBody>
      </p:sp>
      <p:sp>
        <p:nvSpPr>
          <p:cNvPr id="19" name="Text 17"/>
          <p:cNvSpPr/>
          <p:nvPr/>
        </p:nvSpPr>
        <p:spPr>
          <a:xfrm>
            <a:off x="6492240" y="2240280"/>
            <a:ext cx="1005840" cy="100584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AZ</a:t>
            </a:r>
            <a:endParaRPr lang="en-US" sz="2400" dirty="0"/>
          </a:p>
        </p:txBody>
      </p:sp>
      <p:sp>
        <p:nvSpPr>
          <p:cNvPr id="20" name="Text 18"/>
          <p:cNvSpPr/>
          <p:nvPr/>
        </p:nvSpPr>
        <p:spPr>
          <a:xfrm>
            <a:off x="7635240" y="2331720"/>
            <a:ext cx="3794760" cy="45720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Microsoft Entra ID</a:t>
            </a:r>
            <a:endParaRPr lang="en-US" sz="1800" dirty="0"/>
          </a:p>
        </p:txBody>
      </p:sp>
      <p:sp>
        <p:nvSpPr>
          <p:cNvPr id="21" name="Text 19"/>
          <p:cNvSpPr/>
          <p:nvPr/>
        </p:nvSpPr>
        <p:spPr>
          <a:xfrm>
            <a:off x="7635240" y="2788920"/>
            <a:ext cx="3794760" cy="1143000"/>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Azure's identity platform (formerly Azure AD). Conditional Access, MFA, RBAC on Azure resources and B2B/B2C federation.</a:t>
            </a:r>
            <a:endParaRPr lang="en-US" sz="1200" dirty="0"/>
          </a:p>
        </p:txBody>
      </p:sp>
      <p:sp>
        <p:nvSpPr>
          <p:cNvPr id="22" name="Shape 20"/>
          <p:cNvSpPr/>
          <p:nvPr/>
        </p:nvSpPr>
        <p:spPr>
          <a:xfrm>
            <a:off x="548640" y="4297680"/>
            <a:ext cx="5394960" cy="219456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23" name="Shape 21"/>
          <p:cNvSpPr/>
          <p:nvPr/>
        </p:nvSpPr>
        <p:spPr>
          <a:xfrm>
            <a:off x="548640" y="4297680"/>
            <a:ext cx="5394960" cy="109728"/>
          </a:xfrm>
          <a:prstGeom prst="rect">
            <a:avLst/>
          </a:prstGeom>
          <a:solidFill>
            <a:srgbClr val="4285F4"/>
          </a:solidFill>
          <a:ln w="12700">
            <a:solidFill>
              <a:srgbClr val="4285F4"/>
            </a:solidFill>
            <a:prstDash val="solid"/>
          </a:ln>
        </p:spPr>
        <p:txBody>
          <a:bodyPr/>
          <a:lstStyle/>
          <a:p>
            <a:endParaRPr lang="en-IN"/>
          </a:p>
        </p:txBody>
      </p:sp>
      <p:sp>
        <p:nvSpPr>
          <p:cNvPr id="24" name="Shape 22"/>
          <p:cNvSpPr/>
          <p:nvPr/>
        </p:nvSpPr>
        <p:spPr>
          <a:xfrm>
            <a:off x="822960" y="4709160"/>
            <a:ext cx="1005840" cy="1005840"/>
          </a:xfrm>
          <a:prstGeom prst="roundRect">
            <a:avLst>
              <a:gd name="adj" fmla="val 9091"/>
            </a:avLst>
          </a:prstGeom>
          <a:solidFill>
            <a:srgbClr val="4285F4"/>
          </a:solidFill>
          <a:ln w="12700">
            <a:solidFill>
              <a:srgbClr val="4285F4"/>
            </a:solidFill>
            <a:prstDash val="solid"/>
          </a:ln>
        </p:spPr>
        <p:txBody>
          <a:bodyPr/>
          <a:lstStyle/>
          <a:p>
            <a:endParaRPr lang="en-IN"/>
          </a:p>
        </p:txBody>
      </p:sp>
      <p:sp>
        <p:nvSpPr>
          <p:cNvPr id="25" name="Text 23"/>
          <p:cNvSpPr/>
          <p:nvPr/>
        </p:nvSpPr>
        <p:spPr>
          <a:xfrm>
            <a:off x="822960" y="4709160"/>
            <a:ext cx="1005840" cy="100584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GC</a:t>
            </a:r>
            <a:endParaRPr lang="en-US" sz="2400" dirty="0"/>
          </a:p>
        </p:txBody>
      </p:sp>
      <p:sp>
        <p:nvSpPr>
          <p:cNvPr id="26" name="Text 24"/>
          <p:cNvSpPr/>
          <p:nvPr/>
        </p:nvSpPr>
        <p:spPr>
          <a:xfrm>
            <a:off x="1965960" y="4800600"/>
            <a:ext cx="3794760" cy="45720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Google Cloud IAM</a:t>
            </a:r>
            <a:endParaRPr lang="en-US" sz="1800" dirty="0"/>
          </a:p>
        </p:txBody>
      </p:sp>
      <p:sp>
        <p:nvSpPr>
          <p:cNvPr id="27" name="Text 25"/>
          <p:cNvSpPr/>
          <p:nvPr/>
        </p:nvSpPr>
        <p:spPr>
          <a:xfrm>
            <a:off x="1965960" y="5257800"/>
            <a:ext cx="3794760" cy="1143000"/>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Principal + Role + Resource model with hierarchical policies across Organization → Folder → Project → Resource.</a:t>
            </a:r>
            <a:endParaRPr lang="en-US" sz="1200" dirty="0"/>
          </a:p>
        </p:txBody>
      </p:sp>
      <p:sp>
        <p:nvSpPr>
          <p:cNvPr id="28" name="Shape 26"/>
          <p:cNvSpPr/>
          <p:nvPr/>
        </p:nvSpPr>
        <p:spPr>
          <a:xfrm>
            <a:off x="6217920" y="4297680"/>
            <a:ext cx="5394960" cy="219456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29" name="Shape 27"/>
          <p:cNvSpPr/>
          <p:nvPr/>
        </p:nvSpPr>
        <p:spPr>
          <a:xfrm>
            <a:off x="6217920" y="4297680"/>
            <a:ext cx="5394960" cy="109728"/>
          </a:xfrm>
          <a:prstGeom prst="rect">
            <a:avLst/>
          </a:prstGeom>
          <a:solidFill>
            <a:srgbClr val="0F62FE"/>
          </a:solidFill>
          <a:ln w="12700">
            <a:solidFill>
              <a:srgbClr val="0F62FE"/>
            </a:solidFill>
            <a:prstDash val="solid"/>
          </a:ln>
        </p:spPr>
        <p:txBody>
          <a:bodyPr/>
          <a:lstStyle/>
          <a:p>
            <a:endParaRPr lang="en-IN"/>
          </a:p>
        </p:txBody>
      </p:sp>
      <p:sp>
        <p:nvSpPr>
          <p:cNvPr id="30" name="Shape 28"/>
          <p:cNvSpPr/>
          <p:nvPr/>
        </p:nvSpPr>
        <p:spPr>
          <a:xfrm>
            <a:off x="6492240" y="4709160"/>
            <a:ext cx="1005840" cy="1005840"/>
          </a:xfrm>
          <a:prstGeom prst="roundRect">
            <a:avLst>
              <a:gd name="adj" fmla="val 9091"/>
            </a:avLst>
          </a:prstGeom>
          <a:solidFill>
            <a:srgbClr val="0F62FE"/>
          </a:solidFill>
          <a:ln w="12700">
            <a:solidFill>
              <a:srgbClr val="0F62FE"/>
            </a:solidFill>
            <a:prstDash val="solid"/>
          </a:ln>
        </p:spPr>
        <p:txBody>
          <a:bodyPr/>
          <a:lstStyle/>
          <a:p>
            <a:endParaRPr lang="en-IN"/>
          </a:p>
        </p:txBody>
      </p:sp>
      <p:sp>
        <p:nvSpPr>
          <p:cNvPr id="31" name="Text 29"/>
          <p:cNvSpPr/>
          <p:nvPr/>
        </p:nvSpPr>
        <p:spPr>
          <a:xfrm>
            <a:off x="6492240" y="4709160"/>
            <a:ext cx="1005840" cy="100584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IBM</a:t>
            </a:r>
            <a:endParaRPr lang="en-US" sz="2400" dirty="0"/>
          </a:p>
        </p:txBody>
      </p:sp>
      <p:sp>
        <p:nvSpPr>
          <p:cNvPr id="32" name="Text 30"/>
          <p:cNvSpPr/>
          <p:nvPr/>
        </p:nvSpPr>
        <p:spPr>
          <a:xfrm>
            <a:off x="7635240" y="4800600"/>
            <a:ext cx="3794760" cy="45720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IBM Cloud IAM</a:t>
            </a:r>
            <a:endParaRPr lang="en-US" sz="1800" dirty="0"/>
          </a:p>
        </p:txBody>
      </p:sp>
      <p:sp>
        <p:nvSpPr>
          <p:cNvPr id="33" name="Text 31"/>
          <p:cNvSpPr/>
          <p:nvPr/>
        </p:nvSpPr>
        <p:spPr>
          <a:xfrm>
            <a:off x="7635240" y="5257800"/>
            <a:ext cx="3794760" cy="1143000"/>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Unified access via access groups, service IDs and trusted profiles across IBM Cloud services with policy-based control.</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D"/>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B2545"/>
          </a:solidFill>
          <a:ln w="12700">
            <a:solidFill>
              <a:srgbClr val="0B2545"/>
            </a:solidFill>
            <a:prstDash val="solid"/>
          </a:ln>
        </p:spPr>
        <p:txBody>
          <a:bodyPr/>
          <a:lstStyle/>
          <a:p>
            <a:endParaRPr lang="en-IN"/>
          </a:p>
        </p:txBody>
      </p:sp>
      <p:sp>
        <p:nvSpPr>
          <p:cNvPr id="3" name="Shape 1"/>
          <p:cNvSpPr/>
          <p:nvPr/>
        </p:nvSpPr>
        <p:spPr>
          <a:xfrm>
            <a:off x="0" y="320040"/>
            <a:ext cx="12161520" cy="45720"/>
          </a:xfrm>
          <a:prstGeom prst="rect">
            <a:avLst/>
          </a:prstGeom>
          <a:solidFill>
            <a:srgbClr val="2E86DE"/>
          </a:solidFill>
          <a:ln w="12700">
            <a:solidFill>
              <a:srgbClr val="2E86DE"/>
            </a:solidFill>
            <a:prstDash val="solid"/>
          </a:ln>
        </p:spPr>
        <p:txBody>
          <a:bodyPr/>
          <a:lstStyle/>
          <a:p>
            <a:endParaRPr lang="en-IN"/>
          </a:p>
        </p:txBody>
      </p:sp>
      <p:sp>
        <p:nvSpPr>
          <p:cNvPr id="4" name="Text 2"/>
          <p:cNvSpPr/>
          <p:nvPr/>
        </p:nvSpPr>
        <p:spPr>
          <a:xfrm>
            <a:off x="548640" y="502920"/>
            <a:ext cx="7315200" cy="320040"/>
          </a:xfrm>
          <a:prstGeom prst="rect">
            <a:avLst/>
          </a:prstGeom>
          <a:noFill/>
          <a:ln/>
        </p:spPr>
        <p:txBody>
          <a:bodyPr wrap="square" lIns="0" tIns="0" rIns="0" bIns="0" rtlCol="0" anchor="ctr"/>
          <a:lstStyle/>
          <a:p>
            <a:pPr marL="0" indent="0">
              <a:buNone/>
            </a:pPr>
            <a:r>
              <a:rPr lang="en-US" sz="1100" b="1" kern="0" spc="400" dirty="0">
                <a:solidFill>
                  <a:srgbClr val="2E86DE"/>
                </a:solidFill>
                <a:latin typeface="Calibri" pitchFamily="34" charset="0"/>
                <a:ea typeface="Calibri" pitchFamily="34" charset="-122"/>
                <a:cs typeface="Calibri" pitchFamily="34" charset="-120"/>
              </a:rPr>
              <a:t>SLIDE 11</a:t>
            </a:r>
            <a:endParaRPr lang="en-US" sz="1100" dirty="0"/>
          </a:p>
        </p:txBody>
      </p:sp>
      <p:sp>
        <p:nvSpPr>
          <p:cNvPr id="5" name="Text 3"/>
          <p:cNvSpPr/>
          <p:nvPr/>
        </p:nvSpPr>
        <p:spPr>
          <a:xfrm>
            <a:off x="548640" y="777240"/>
            <a:ext cx="10972800" cy="64008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Practical Example — University Cloud Portal</a:t>
            </a:r>
            <a:endParaRPr lang="en-US" sz="3000" dirty="0"/>
          </a:p>
        </p:txBody>
      </p:sp>
      <p:sp>
        <p:nvSpPr>
          <p:cNvPr id="6" name="Shape 4"/>
          <p:cNvSpPr/>
          <p:nvPr/>
        </p:nvSpPr>
        <p:spPr>
          <a:xfrm>
            <a:off x="548640" y="1463040"/>
            <a:ext cx="1097280" cy="0"/>
          </a:xfrm>
          <a:prstGeom prst="line">
            <a:avLst/>
          </a:prstGeom>
          <a:noFill/>
          <a:ln w="38100">
            <a:solidFill>
              <a:srgbClr val="2E86DE"/>
            </a:solidFill>
            <a:prstDash val="solid"/>
          </a:ln>
        </p:spPr>
        <p:txBody>
          <a:bodyPr/>
          <a:lstStyle/>
          <a:p>
            <a:endParaRPr lang="en-IN"/>
          </a:p>
        </p:txBody>
      </p:sp>
      <p:sp>
        <p:nvSpPr>
          <p:cNvPr id="7" name="Shape 5"/>
          <p:cNvSpPr/>
          <p:nvPr/>
        </p:nvSpPr>
        <p:spPr>
          <a:xfrm>
            <a:off x="0" y="6583680"/>
            <a:ext cx="12161520" cy="274320"/>
          </a:xfrm>
          <a:prstGeom prst="rect">
            <a:avLst/>
          </a:prstGeom>
          <a:solidFill>
            <a:srgbClr val="0B2545"/>
          </a:solidFill>
          <a:ln w="12700">
            <a:solidFill>
              <a:srgbClr val="0B2545"/>
            </a:solidFill>
            <a:prstDash val="solid"/>
          </a:ln>
        </p:spPr>
        <p:txBody>
          <a:bodyPr/>
          <a:lstStyle/>
          <a:p>
            <a:endParaRPr lang="en-IN"/>
          </a:p>
        </p:txBody>
      </p:sp>
      <p:sp>
        <p:nvSpPr>
          <p:cNvPr id="8" name="Text 6"/>
          <p:cNvSpPr/>
          <p:nvPr/>
        </p:nvSpPr>
        <p:spPr>
          <a:xfrm>
            <a:off x="548640" y="6583680"/>
            <a:ext cx="7315200" cy="27432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IAM in Cloud Environments  •  CSA15</a:t>
            </a:r>
            <a:endParaRPr lang="en-US" sz="900" dirty="0"/>
          </a:p>
        </p:txBody>
      </p:sp>
      <p:sp>
        <p:nvSpPr>
          <p:cNvPr id="9" name="Text 7"/>
          <p:cNvSpPr/>
          <p:nvPr/>
        </p:nvSpPr>
        <p:spPr>
          <a:xfrm>
            <a:off x="10789920" y="6583680"/>
            <a:ext cx="822960" cy="27432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11 / 12</a:t>
            </a:r>
            <a:endParaRPr lang="en-US" sz="900" dirty="0"/>
          </a:p>
        </p:txBody>
      </p:sp>
      <p:sp>
        <p:nvSpPr>
          <p:cNvPr id="10" name="Shape 8"/>
          <p:cNvSpPr/>
          <p:nvPr/>
        </p:nvSpPr>
        <p:spPr>
          <a:xfrm>
            <a:off x="548640" y="1828800"/>
            <a:ext cx="2926080" cy="128016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11" name="Shape 9"/>
          <p:cNvSpPr/>
          <p:nvPr/>
        </p:nvSpPr>
        <p:spPr>
          <a:xfrm>
            <a:off x="548640" y="1828800"/>
            <a:ext cx="73152" cy="1280160"/>
          </a:xfrm>
          <a:prstGeom prst="rect">
            <a:avLst/>
          </a:prstGeom>
          <a:solidFill>
            <a:srgbClr val="2E86DE"/>
          </a:solidFill>
          <a:ln w="12700">
            <a:solidFill>
              <a:srgbClr val="2E86DE"/>
            </a:solidFill>
            <a:prstDash val="solid"/>
          </a:ln>
        </p:spPr>
        <p:txBody>
          <a:bodyPr/>
          <a:lstStyle/>
          <a:p>
            <a:endParaRPr lang="en-IN"/>
          </a:p>
        </p:txBody>
      </p:sp>
      <p:sp>
        <p:nvSpPr>
          <p:cNvPr id="12" name="Shape 10"/>
          <p:cNvSpPr/>
          <p:nvPr/>
        </p:nvSpPr>
        <p:spPr>
          <a:xfrm>
            <a:off x="777240" y="2103120"/>
            <a:ext cx="731520" cy="731520"/>
          </a:xfrm>
          <a:prstGeom prst="ellipse">
            <a:avLst/>
          </a:prstGeom>
          <a:solidFill>
            <a:srgbClr val="2E86DE"/>
          </a:solidFill>
          <a:ln w="12700">
            <a:solidFill>
              <a:srgbClr val="2E86DE"/>
            </a:solidFill>
            <a:prstDash val="solid"/>
          </a:ln>
        </p:spPr>
        <p:txBody>
          <a:bodyPr/>
          <a:lstStyle/>
          <a:p>
            <a:endParaRPr lang="en-IN"/>
          </a:p>
        </p:txBody>
      </p:sp>
      <p:sp>
        <p:nvSpPr>
          <p:cNvPr id="13" name="Text 11"/>
          <p:cNvSpPr/>
          <p:nvPr/>
        </p:nvSpPr>
        <p:spPr>
          <a:xfrm>
            <a:off x="777240" y="210312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a:t>
            </a:r>
            <a:endParaRPr lang="en-US" sz="2200" dirty="0"/>
          </a:p>
        </p:txBody>
      </p:sp>
      <p:sp>
        <p:nvSpPr>
          <p:cNvPr id="14" name="Text 12"/>
          <p:cNvSpPr/>
          <p:nvPr/>
        </p:nvSpPr>
        <p:spPr>
          <a:xfrm>
            <a:off x="1645920" y="2011680"/>
            <a:ext cx="1737360" cy="36576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Student</a:t>
            </a:r>
            <a:endParaRPr lang="en-US" sz="1500" dirty="0"/>
          </a:p>
        </p:txBody>
      </p:sp>
      <p:sp>
        <p:nvSpPr>
          <p:cNvPr id="15" name="Text 13"/>
          <p:cNvSpPr/>
          <p:nvPr/>
        </p:nvSpPr>
        <p:spPr>
          <a:xfrm>
            <a:off x="1645920" y="2377440"/>
            <a:ext cx="1737360" cy="6858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View assignments, submit work, check grades.</a:t>
            </a:r>
            <a:endParaRPr lang="en-US" sz="1050" dirty="0"/>
          </a:p>
        </p:txBody>
      </p:sp>
      <p:sp>
        <p:nvSpPr>
          <p:cNvPr id="16" name="Shape 14"/>
          <p:cNvSpPr/>
          <p:nvPr/>
        </p:nvSpPr>
        <p:spPr>
          <a:xfrm>
            <a:off x="548640" y="3246120"/>
            <a:ext cx="2926080" cy="128016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17" name="Shape 15"/>
          <p:cNvSpPr/>
          <p:nvPr/>
        </p:nvSpPr>
        <p:spPr>
          <a:xfrm>
            <a:off x="548640" y="3246120"/>
            <a:ext cx="73152" cy="1280160"/>
          </a:xfrm>
          <a:prstGeom prst="rect">
            <a:avLst/>
          </a:prstGeom>
          <a:solidFill>
            <a:srgbClr val="1E5AA8"/>
          </a:solidFill>
          <a:ln w="12700">
            <a:solidFill>
              <a:srgbClr val="1E5AA8"/>
            </a:solidFill>
            <a:prstDash val="solid"/>
          </a:ln>
        </p:spPr>
        <p:txBody>
          <a:bodyPr/>
          <a:lstStyle/>
          <a:p>
            <a:endParaRPr lang="en-IN"/>
          </a:p>
        </p:txBody>
      </p:sp>
      <p:sp>
        <p:nvSpPr>
          <p:cNvPr id="18" name="Shape 16"/>
          <p:cNvSpPr/>
          <p:nvPr/>
        </p:nvSpPr>
        <p:spPr>
          <a:xfrm>
            <a:off x="777240" y="3520440"/>
            <a:ext cx="731520" cy="731520"/>
          </a:xfrm>
          <a:prstGeom prst="ellipse">
            <a:avLst/>
          </a:prstGeom>
          <a:solidFill>
            <a:srgbClr val="1E5AA8"/>
          </a:solidFill>
          <a:ln w="12700">
            <a:solidFill>
              <a:srgbClr val="1E5AA8"/>
            </a:solidFill>
            <a:prstDash val="solid"/>
          </a:ln>
        </p:spPr>
        <p:txBody>
          <a:bodyPr/>
          <a:lstStyle/>
          <a:p>
            <a:endParaRPr lang="en-IN"/>
          </a:p>
        </p:txBody>
      </p:sp>
      <p:sp>
        <p:nvSpPr>
          <p:cNvPr id="19" name="Text 17"/>
          <p:cNvSpPr/>
          <p:nvPr/>
        </p:nvSpPr>
        <p:spPr>
          <a:xfrm>
            <a:off x="777240" y="352044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F</a:t>
            </a:r>
            <a:endParaRPr lang="en-US" sz="2200" dirty="0"/>
          </a:p>
        </p:txBody>
      </p:sp>
      <p:sp>
        <p:nvSpPr>
          <p:cNvPr id="20" name="Text 18"/>
          <p:cNvSpPr/>
          <p:nvPr/>
        </p:nvSpPr>
        <p:spPr>
          <a:xfrm>
            <a:off x="1645920" y="3429000"/>
            <a:ext cx="1737360" cy="36576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Faculty</a:t>
            </a:r>
            <a:endParaRPr lang="en-US" sz="1500" dirty="0"/>
          </a:p>
        </p:txBody>
      </p:sp>
      <p:sp>
        <p:nvSpPr>
          <p:cNvPr id="21" name="Text 19"/>
          <p:cNvSpPr/>
          <p:nvPr/>
        </p:nvSpPr>
        <p:spPr>
          <a:xfrm>
            <a:off x="1645920" y="3794760"/>
            <a:ext cx="1737360" cy="6858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Upload marks, manage courses, view rosters.</a:t>
            </a:r>
            <a:endParaRPr lang="en-US" sz="1050" dirty="0"/>
          </a:p>
        </p:txBody>
      </p:sp>
      <p:sp>
        <p:nvSpPr>
          <p:cNvPr id="22" name="Shape 20"/>
          <p:cNvSpPr/>
          <p:nvPr/>
        </p:nvSpPr>
        <p:spPr>
          <a:xfrm>
            <a:off x="548640" y="4663440"/>
            <a:ext cx="2926080" cy="128016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23" name="Shape 21"/>
          <p:cNvSpPr/>
          <p:nvPr/>
        </p:nvSpPr>
        <p:spPr>
          <a:xfrm>
            <a:off x="548640" y="4663440"/>
            <a:ext cx="73152" cy="1280160"/>
          </a:xfrm>
          <a:prstGeom prst="rect">
            <a:avLst/>
          </a:prstGeom>
          <a:solidFill>
            <a:srgbClr val="0B2545"/>
          </a:solidFill>
          <a:ln w="12700">
            <a:solidFill>
              <a:srgbClr val="0B2545"/>
            </a:solidFill>
            <a:prstDash val="solid"/>
          </a:ln>
        </p:spPr>
        <p:txBody>
          <a:bodyPr/>
          <a:lstStyle/>
          <a:p>
            <a:endParaRPr lang="en-IN"/>
          </a:p>
        </p:txBody>
      </p:sp>
      <p:sp>
        <p:nvSpPr>
          <p:cNvPr id="24" name="Shape 22"/>
          <p:cNvSpPr/>
          <p:nvPr/>
        </p:nvSpPr>
        <p:spPr>
          <a:xfrm>
            <a:off x="777240" y="4937760"/>
            <a:ext cx="731520" cy="731520"/>
          </a:xfrm>
          <a:prstGeom prst="ellipse">
            <a:avLst/>
          </a:prstGeom>
          <a:solidFill>
            <a:srgbClr val="0B2545"/>
          </a:solidFill>
          <a:ln w="12700">
            <a:solidFill>
              <a:srgbClr val="0B2545"/>
            </a:solidFill>
            <a:prstDash val="solid"/>
          </a:ln>
        </p:spPr>
        <p:txBody>
          <a:bodyPr/>
          <a:lstStyle/>
          <a:p>
            <a:endParaRPr lang="en-IN"/>
          </a:p>
        </p:txBody>
      </p:sp>
      <p:sp>
        <p:nvSpPr>
          <p:cNvPr id="25" name="Text 23"/>
          <p:cNvSpPr/>
          <p:nvPr/>
        </p:nvSpPr>
        <p:spPr>
          <a:xfrm>
            <a:off x="777240" y="49377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a:t>
            </a:r>
            <a:endParaRPr lang="en-US" sz="2200" dirty="0"/>
          </a:p>
        </p:txBody>
      </p:sp>
      <p:sp>
        <p:nvSpPr>
          <p:cNvPr id="26" name="Text 24"/>
          <p:cNvSpPr/>
          <p:nvPr/>
        </p:nvSpPr>
        <p:spPr>
          <a:xfrm>
            <a:off x="1645920" y="4846320"/>
            <a:ext cx="1737360" cy="36576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Administrator</a:t>
            </a:r>
            <a:endParaRPr lang="en-US" sz="1500" dirty="0"/>
          </a:p>
        </p:txBody>
      </p:sp>
      <p:sp>
        <p:nvSpPr>
          <p:cNvPr id="27" name="Text 25"/>
          <p:cNvSpPr/>
          <p:nvPr/>
        </p:nvSpPr>
        <p:spPr>
          <a:xfrm>
            <a:off x="1645920" y="5212080"/>
            <a:ext cx="1737360" cy="6858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Manage users, roles, and system policies.</a:t>
            </a:r>
            <a:endParaRPr lang="en-US" sz="1050" dirty="0"/>
          </a:p>
        </p:txBody>
      </p:sp>
      <p:sp>
        <p:nvSpPr>
          <p:cNvPr id="28" name="Shape 26"/>
          <p:cNvSpPr/>
          <p:nvPr/>
        </p:nvSpPr>
        <p:spPr>
          <a:xfrm>
            <a:off x="4937760" y="2880360"/>
            <a:ext cx="2377440" cy="1280160"/>
          </a:xfrm>
          <a:prstGeom prst="roundRect">
            <a:avLst>
              <a:gd name="adj" fmla="val 8571"/>
            </a:avLst>
          </a:prstGeom>
          <a:solidFill>
            <a:srgbClr val="0B2545"/>
          </a:solidFill>
          <a:ln w="12700">
            <a:solidFill>
              <a:srgbClr val="0B2545"/>
            </a:solidFill>
            <a:prstDash val="solid"/>
          </a:ln>
        </p:spPr>
        <p:txBody>
          <a:bodyPr/>
          <a:lstStyle/>
          <a:p>
            <a:endParaRPr lang="en-IN"/>
          </a:p>
        </p:txBody>
      </p:sp>
      <p:sp>
        <p:nvSpPr>
          <p:cNvPr id="29" name="Text 27"/>
          <p:cNvSpPr/>
          <p:nvPr/>
        </p:nvSpPr>
        <p:spPr>
          <a:xfrm>
            <a:off x="4937760" y="3063240"/>
            <a:ext cx="237744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University IAM</a:t>
            </a:r>
            <a:endParaRPr lang="en-US" sz="1400" dirty="0"/>
          </a:p>
        </p:txBody>
      </p:sp>
      <p:sp>
        <p:nvSpPr>
          <p:cNvPr id="30" name="Text 28"/>
          <p:cNvSpPr/>
          <p:nvPr/>
        </p:nvSpPr>
        <p:spPr>
          <a:xfrm>
            <a:off x="4937760" y="3429000"/>
            <a:ext cx="2377440" cy="274320"/>
          </a:xfrm>
          <a:prstGeom prst="rect">
            <a:avLst/>
          </a:prstGeom>
          <a:noFill/>
          <a:ln/>
        </p:spPr>
        <p:txBody>
          <a:bodyPr wrap="square" lIns="0" tIns="0" rIns="0" bIns="0" rtlCol="0" anchor="ctr"/>
          <a:lstStyle/>
          <a:p>
            <a:pPr marL="0" indent="0" algn="ctr">
              <a:buNone/>
            </a:pPr>
            <a:r>
              <a:rPr lang="en-US" sz="1000" dirty="0">
                <a:solidFill>
                  <a:srgbClr val="C6D4E8"/>
                </a:solidFill>
                <a:latin typeface="Calibri" pitchFamily="34" charset="0"/>
                <a:ea typeface="Calibri" pitchFamily="34" charset="-122"/>
                <a:cs typeface="Calibri" pitchFamily="34" charset="-120"/>
              </a:rPr>
              <a:t>Authenticate + Authorize</a:t>
            </a:r>
            <a:endParaRPr lang="en-US" sz="1000" dirty="0"/>
          </a:p>
        </p:txBody>
      </p:sp>
      <p:sp>
        <p:nvSpPr>
          <p:cNvPr id="31" name="Text 29"/>
          <p:cNvSpPr/>
          <p:nvPr/>
        </p:nvSpPr>
        <p:spPr>
          <a:xfrm>
            <a:off x="4937760" y="3703320"/>
            <a:ext cx="2377440" cy="320040"/>
          </a:xfrm>
          <a:prstGeom prst="rect">
            <a:avLst/>
          </a:prstGeom>
          <a:noFill/>
          <a:ln/>
        </p:spPr>
        <p:txBody>
          <a:bodyPr wrap="square" lIns="0" tIns="0" rIns="0" bIns="0" rtlCol="0" anchor="ctr"/>
          <a:lstStyle/>
          <a:p>
            <a:pPr marL="0" indent="0" algn="ctr">
              <a:buNone/>
            </a:pPr>
            <a:r>
              <a:rPr lang="en-US" sz="1100" b="1" dirty="0">
                <a:solidFill>
                  <a:srgbClr val="2E86DE"/>
                </a:solidFill>
                <a:latin typeface="Calibri" pitchFamily="34" charset="0"/>
                <a:ea typeface="Calibri" pitchFamily="34" charset="-122"/>
                <a:cs typeface="Calibri" pitchFamily="34" charset="-120"/>
              </a:rPr>
              <a:t>SSO • MFA • RBAC</a:t>
            </a:r>
            <a:endParaRPr lang="en-US" sz="1100" dirty="0"/>
          </a:p>
        </p:txBody>
      </p:sp>
      <p:sp>
        <p:nvSpPr>
          <p:cNvPr id="32" name="Shape 30"/>
          <p:cNvSpPr/>
          <p:nvPr/>
        </p:nvSpPr>
        <p:spPr>
          <a:xfrm>
            <a:off x="3474720" y="2468880"/>
            <a:ext cx="1463040" cy="1051560"/>
          </a:xfrm>
          <a:prstGeom prst="line">
            <a:avLst/>
          </a:prstGeom>
          <a:noFill/>
          <a:ln w="25400">
            <a:solidFill>
              <a:srgbClr val="2E86DE"/>
            </a:solidFill>
            <a:prstDash val="solid"/>
            <a:tailEnd type="triangle"/>
          </a:ln>
        </p:spPr>
        <p:txBody>
          <a:bodyPr/>
          <a:lstStyle/>
          <a:p>
            <a:endParaRPr lang="en-IN"/>
          </a:p>
        </p:txBody>
      </p:sp>
      <p:sp>
        <p:nvSpPr>
          <p:cNvPr id="33" name="Shape 31"/>
          <p:cNvSpPr/>
          <p:nvPr/>
        </p:nvSpPr>
        <p:spPr>
          <a:xfrm>
            <a:off x="3474720" y="3886200"/>
            <a:ext cx="1463040" cy="0"/>
          </a:xfrm>
          <a:prstGeom prst="line">
            <a:avLst/>
          </a:prstGeom>
          <a:noFill/>
          <a:ln w="25400">
            <a:solidFill>
              <a:srgbClr val="1E5AA8"/>
            </a:solidFill>
            <a:prstDash val="solid"/>
            <a:tailEnd type="triangle"/>
          </a:ln>
        </p:spPr>
        <p:txBody>
          <a:bodyPr/>
          <a:lstStyle/>
          <a:p>
            <a:endParaRPr lang="en-IN"/>
          </a:p>
        </p:txBody>
      </p:sp>
      <p:sp>
        <p:nvSpPr>
          <p:cNvPr id="34" name="Shape 32"/>
          <p:cNvSpPr/>
          <p:nvPr/>
        </p:nvSpPr>
        <p:spPr>
          <a:xfrm flipV="1">
            <a:off x="3474720" y="4206240"/>
            <a:ext cx="1463040" cy="1097280"/>
          </a:xfrm>
          <a:prstGeom prst="line">
            <a:avLst/>
          </a:prstGeom>
          <a:noFill/>
          <a:ln w="25400">
            <a:solidFill>
              <a:srgbClr val="0B2545"/>
            </a:solidFill>
            <a:prstDash val="solid"/>
            <a:tailEnd type="triangle"/>
          </a:ln>
        </p:spPr>
        <p:txBody>
          <a:bodyPr/>
          <a:lstStyle/>
          <a:p>
            <a:endParaRPr lang="en-IN"/>
          </a:p>
        </p:txBody>
      </p:sp>
      <p:sp>
        <p:nvSpPr>
          <p:cNvPr id="35" name="Shape 33"/>
          <p:cNvSpPr/>
          <p:nvPr/>
        </p:nvSpPr>
        <p:spPr>
          <a:xfrm>
            <a:off x="8321040" y="1828800"/>
            <a:ext cx="3291840" cy="91440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36" name="Shape 34"/>
          <p:cNvSpPr/>
          <p:nvPr/>
        </p:nvSpPr>
        <p:spPr>
          <a:xfrm>
            <a:off x="8321040" y="1828800"/>
            <a:ext cx="3291840" cy="54864"/>
          </a:xfrm>
          <a:prstGeom prst="rect">
            <a:avLst/>
          </a:prstGeom>
          <a:solidFill>
            <a:srgbClr val="2E86DE"/>
          </a:solidFill>
          <a:ln w="12700">
            <a:solidFill>
              <a:srgbClr val="2E86DE"/>
            </a:solidFill>
            <a:prstDash val="solid"/>
          </a:ln>
        </p:spPr>
        <p:txBody>
          <a:bodyPr/>
          <a:lstStyle/>
          <a:p>
            <a:endParaRPr lang="en-IN"/>
          </a:p>
        </p:txBody>
      </p:sp>
      <p:sp>
        <p:nvSpPr>
          <p:cNvPr id="37" name="Text 35"/>
          <p:cNvSpPr/>
          <p:nvPr/>
        </p:nvSpPr>
        <p:spPr>
          <a:xfrm>
            <a:off x="8503920" y="1965960"/>
            <a:ext cx="3017520" cy="32004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Assignments</a:t>
            </a:r>
            <a:endParaRPr lang="en-US" sz="1300" dirty="0"/>
          </a:p>
        </p:txBody>
      </p:sp>
      <p:sp>
        <p:nvSpPr>
          <p:cNvPr id="38" name="Text 36"/>
          <p:cNvSpPr/>
          <p:nvPr/>
        </p:nvSpPr>
        <p:spPr>
          <a:xfrm>
            <a:off x="8503920" y="2286000"/>
            <a:ext cx="3017520" cy="36576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Student read/write</a:t>
            </a:r>
            <a:endParaRPr lang="en-US" sz="1050" dirty="0"/>
          </a:p>
        </p:txBody>
      </p:sp>
      <p:sp>
        <p:nvSpPr>
          <p:cNvPr id="39" name="Shape 37"/>
          <p:cNvSpPr/>
          <p:nvPr/>
        </p:nvSpPr>
        <p:spPr>
          <a:xfrm>
            <a:off x="8321040" y="2880360"/>
            <a:ext cx="3291840" cy="91440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40" name="Shape 38"/>
          <p:cNvSpPr/>
          <p:nvPr/>
        </p:nvSpPr>
        <p:spPr>
          <a:xfrm>
            <a:off x="8321040" y="2880360"/>
            <a:ext cx="3291840" cy="54864"/>
          </a:xfrm>
          <a:prstGeom prst="rect">
            <a:avLst/>
          </a:prstGeom>
          <a:solidFill>
            <a:srgbClr val="2E86DE"/>
          </a:solidFill>
          <a:ln w="12700">
            <a:solidFill>
              <a:srgbClr val="2E86DE"/>
            </a:solidFill>
            <a:prstDash val="solid"/>
          </a:ln>
        </p:spPr>
        <p:txBody>
          <a:bodyPr/>
          <a:lstStyle/>
          <a:p>
            <a:endParaRPr lang="en-IN"/>
          </a:p>
        </p:txBody>
      </p:sp>
      <p:sp>
        <p:nvSpPr>
          <p:cNvPr id="41" name="Text 39"/>
          <p:cNvSpPr/>
          <p:nvPr/>
        </p:nvSpPr>
        <p:spPr>
          <a:xfrm>
            <a:off x="8503920" y="3017520"/>
            <a:ext cx="3017520" cy="32004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Grades DB</a:t>
            </a:r>
            <a:endParaRPr lang="en-US" sz="1300" dirty="0"/>
          </a:p>
        </p:txBody>
      </p:sp>
      <p:sp>
        <p:nvSpPr>
          <p:cNvPr id="42" name="Text 40"/>
          <p:cNvSpPr/>
          <p:nvPr/>
        </p:nvSpPr>
        <p:spPr>
          <a:xfrm>
            <a:off x="8503920" y="3337560"/>
            <a:ext cx="3017520" cy="36576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Faculty write, Student read</a:t>
            </a:r>
            <a:endParaRPr lang="en-US" sz="1050" dirty="0"/>
          </a:p>
        </p:txBody>
      </p:sp>
      <p:sp>
        <p:nvSpPr>
          <p:cNvPr id="43" name="Shape 41"/>
          <p:cNvSpPr/>
          <p:nvPr/>
        </p:nvSpPr>
        <p:spPr>
          <a:xfrm>
            <a:off x="8321040" y="3931920"/>
            <a:ext cx="3291840" cy="91440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44" name="Shape 42"/>
          <p:cNvSpPr/>
          <p:nvPr/>
        </p:nvSpPr>
        <p:spPr>
          <a:xfrm>
            <a:off x="8321040" y="3931920"/>
            <a:ext cx="3291840" cy="54864"/>
          </a:xfrm>
          <a:prstGeom prst="rect">
            <a:avLst/>
          </a:prstGeom>
          <a:solidFill>
            <a:srgbClr val="2E86DE"/>
          </a:solidFill>
          <a:ln w="12700">
            <a:solidFill>
              <a:srgbClr val="2E86DE"/>
            </a:solidFill>
            <a:prstDash val="solid"/>
          </a:ln>
        </p:spPr>
        <p:txBody>
          <a:bodyPr/>
          <a:lstStyle/>
          <a:p>
            <a:endParaRPr lang="en-IN"/>
          </a:p>
        </p:txBody>
      </p:sp>
      <p:sp>
        <p:nvSpPr>
          <p:cNvPr id="45" name="Text 43"/>
          <p:cNvSpPr/>
          <p:nvPr/>
        </p:nvSpPr>
        <p:spPr>
          <a:xfrm>
            <a:off x="8503920" y="4069080"/>
            <a:ext cx="3017520" cy="32004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User Directory</a:t>
            </a:r>
            <a:endParaRPr lang="en-US" sz="1300" dirty="0"/>
          </a:p>
        </p:txBody>
      </p:sp>
      <p:sp>
        <p:nvSpPr>
          <p:cNvPr id="46" name="Text 44"/>
          <p:cNvSpPr/>
          <p:nvPr/>
        </p:nvSpPr>
        <p:spPr>
          <a:xfrm>
            <a:off x="8503920" y="4389120"/>
            <a:ext cx="3017520" cy="36576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Admin only</a:t>
            </a:r>
            <a:endParaRPr lang="en-US" sz="1050" dirty="0"/>
          </a:p>
        </p:txBody>
      </p:sp>
      <p:sp>
        <p:nvSpPr>
          <p:cNvPr id="47" name="Shape 45"/>
          <p:cNvSpPr/>
          <p:nvPr/>
        </p:nvSpPr>
        <p:spPr>
          <a:xfrm>
            <a:off x="8321040" y="4983480"/>
            <a:ext cx="3291840" cy="91440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48" name="Shape 46"/>
          <p:cNvSpPr/>
          <p:nvPr/>
        </p:nvSpPr>
        <p:spPr>
          <a:xfrm>
            <a:off x="8321040" y="4983480"/>
            <a:ext cx="3291840" cy="54864"/>
          </a:xfrm>
          <a:prstGeom prst="rect">
            <a:avLst/>
          </a:prstGeom>
          <a:solidFill>
            <a:srgbClr val="2E86DE"/>
          </a:solidFill>
          <a:ln w="12700">
            <a:solidFill>
              <a:srgbClr val="2E86DE"/>
            </a:solidFill>
            <a:prstDash val="solid"/>
          </a:ln>
        </p:spPr>
        <p:txBody>
          <a:bodyPr/>
          <a:lstStyle/>
          <a:p>
            <a:endParaRPr lang="en-IN"/>
          </a:p>
        </p:txBody>
      </p:sp>
      <p:sp>
        <p:nvSpPr>
          <p:cNvPr id="49" name="Text 47"/>
          <p:cNvSpPr/>
          <p:nvPr/>
        </p:nvSpPr>
        <p:spPr>
          <a:xfrm>
            <a:off x="8503920" y="5120640"/>
            <a:ext cx="3017520" cy="32004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Course Content</a:t>
            </a:r>
            <a:endParaRPr lang="en-US" sz="1300" dirty="0"/>
          </a:p>
        </p:txBody>
      </p:sp>
      <p:sp>
        <p:nvSpPr>
          <p:cNvPr id="50" name="Text 48"/>
          <p:cNvSpPr/>
          <p:nvPr/>
        </p:nvSpPr>
        <p:spPr>
          <a:xfrm>
            <a:off x="8503920" y="5440680"/>
            <a:ext cx="3017520" cy="36576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Faculty write, all read</a:t>
            </a:r>
            <a:endParaRPr lang="en-US" sz="1050" dirty="0"/>
          </a:p>
        </p:txBody>
      </p:sp>
      <p:sp>
        <p:nvSpPr>
          <p:cNvPr id="51" name="Shape 49"/>
          <p:cNvSpPr/>
          <p:nvPr/>
        </p:nvSpPr>
        <p:spPr>
          <a:xfrm>
            <a:off x="7315200" y="3520440"/>
            <a:ext cx="1005840" cy="0"/>
          </a:xfrm>
          <a:prstGeom prst="line">
            <a:avLst/>
          </a:prstGeom>
          <a:noFill/>
          <a:ln w="38100">
            <a:solidFill>
              <a:srgbClr val="2E86DE"/>
            </a:solidFill>
            <a:prstDash val="solid"/>
            <a:tailEnd type="triangle"/>
          </a:ln>
        </p:spPr>
        <p:txBody>
          <a:bodyPr/>
          <a:lstStyle/>
          <a:p>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D"/>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B2545"/>
          </a:solidFill>
          <a:ln w="12700">
            <a:solidFill>
              <a:srgbClr val="0B2545"/>
            </a:solidFill>
            <a:prstDash val="solid"/>
          </a:ln>
        </p:spPr>
        <p:txBody>
          <a:bodyPr/>
          <a:lstStyle/>
          <a:p>
            <a:endParaRPr lang="en-IN"/>
          </a:p>
        </p:txBody>
      </p:sp>
      <p:sp>
        <p:nvSpPr>
          <p:cNvPr id="3" name="Shape 1"/>
          <p:cNvSpPr/>
          <p:nvPr/>
        </p:nvSpPr>
        <p:spPr>
          <a:xfrm>
            <a:off x="0" y="320040"/>
            <a:ext cx="12161520" cy="45720"/>
          </a:xfrm>
          <a:prstGeom prst="rect">
            <a:avLst/>
          </a:prstGeom>
          <a:solidFill>
            <a:srgbClr val="2E86DE"/>
          </a:solidFill>
          <a:ln w="12700">
            <a:solidFill>
              <a:srgbClr val="2E86DE"/>
            </a:solidFill>
            <a:prstDash val="solid"/>
          </a:ln>
        </p:spPr>
        <p:txBody>
          <a:bodyPr/>
          <a:lstStyle/>
          <a:p>
            <a:endParaRPr lang="en-IN"/>
          </a:p>
        </p:txBody>
      </p:sp>
      <p:sp>
        <p:nvSpPr>
          <p:cNvPr id="4" name="Text 2"/>
          <p:cNvSpPr/>
          <p:nvPr/>
        </p:nvSpPr>
        <p:spPr>
          <a:xfrm>
            <a:off x="548640" y="502920"/>
            <a:ext cx="7315200" cy="320040"/>
          </a:xfrm>
          <a:prstGeom prst="rect">
            <a:avLst/>
          </a:prstGeom>
          <a:noFill/>
          <a:ln/>
        </p:spPr>
        <p:txBody>
          <a:bodyPr wrap="square" lIns="0" tIns="0" rIns="0" bIns="0" rtlCol="0" anchor="ctr"/>
          <a:lstStyle/>
          <a:p>
            <a:pPr marL="0" indent="0">
              <a:buNone/>
            </a:pPr>
            <a:r>
              <a:rPr lang="en-US" sz="1100" b="1" kern="0" spc="400" dirty="0">
                <a:solidFill>
                  <a:srgbClr val="2E86DE"/>
                </a:solidFill>
                <a:latin typeface="Calibri" pitchFamily="34" charset="0"/>
                <a:ea typeface="Calibri" pitchFamily="34" charset="-122"/>
                <a:cs typeface="Calibri" pitchFamily="34" charset="-120"/>
              </a:rPr>
              <a:t>SLIDE 12</a:t>
            </a:r>
            <a:endParaRPr lang="en-US" sz="1100" dirty="0"/>
          </a:p>
        </p:txBody>
      </p:sp>
      <p:sp>
        <p:nvSpPr>
          <p:cNvPr id="5" name="Text 3"/>
          <p:cNvSpPr/>
          <p:nvPr/>
        </p:nvSpPr>
        <p:spPr>
          <a:xfrm>
            <a:off x="548640" y="777240"/>
            <a:ext cx="10972800" cy="64008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Challenges, Future Scope &amp; Conclusion</a:t>
            </a:r>
            <a:endParaRPr lang="en-US" sz="3000" dirty="0"/>
          </a:p>
        </p:txBody>
      </p:sp>
      <p:sp>
        <p:nvSpPr>
          <p:cNvPr id="6" name="Shape 4"/>
          <p:cNvSpPr/>
          <p:nvPr/>
        </p:nvSpPr>
        <p:spPr>
          <a:xfrm>
            <a:off x="548640" y="1463040"/>
            <a:ext cx="1097280" cy="0"/>
          </a:xfrm>
          <a:prstGeom prst="line">
            <a:avLst/>
          </a:prstGeom>
          <a:noFill/>
          <a:ln w="38100">
            <a:solidFill>
              <a:srgbClr val="2E86DE"/>
            </a:solidFill>
            <a:prstDash val="solid"/>
          </a:ln>
        </p:spPr>
        <p:txBody>
          <a:bodyPr/>
          <a:lstStyle/>
          <a:p>
            <a:endParaRPr lang="en-IN"/>
          </a:p>
        </p:txBody>
      </p:sp>
      <p:sp>
        <p:nvSpPr>
          <p:cNvPr id="7" name="Shape 5"/>
          <p:cNvSpPr/>
          <p:nvPr/>
        </p:nvSpPr>
        <p:spPr>
          <a:xfrm>
            <a:off x="0" y="6583680"/>
            <a:ext cx="12161520" cy="274320"/>
          </a:xfrm>
          <a:prstGeom prst="rect">
            <a:avLst/>
          </a:prstGeom>
          <a:solidFill>
            <a:srgbClr val="0B2545"/>
          </a:solidFill>
          <a:ln w="12700">
            <a:solidFill>
              <a:srgbClr val="0B2545"/>
            </a:solidFill>
            <a:prstDash val="solid"/>
          </a:ln>
        </p:spPr>
        <p:txBody>
          <a:bodyPr/>
          <a:lstStyle/>
          <a:p>
            <a:endParaRPr lang="en-IN"/>
          </a:p>
        </p:txBody>
      </p:sp>
      <p:sp>
        <p:nvSpPr>
          <p:cNvPr id="8" name="Text 6"/>
          <p:cNvSpPr/>
          <p:nvPr/>
        </p:nvSpPr>
        <p:spPr>
          <a:xfrm>
            <a:off x="548640" y="6583680"/>
            <a:ext cx="7315200" cy="27432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IAM in Cloud Environments  •  CSA15</a:t>
            </a:r>
            <a:endParaRPr lang="en-US" sz="900" dirty="0"/>
          </a:p>
        </p:txBody>
      </p:sp>
      <p:sp>
        <p:nvSpPr>
          <p:cNvPr id="9" name="Text 7"/>
          <p:cNvSpPr/>
          <p:nvPr/>
        </p:nvSpPr>
        <p:spPr>
          <a:xfrm>
            <a:off x="10789920" y="6583680"/>
            <a:ext cx="822960" cy="27432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12 / 12</a:t>
            </a:r>
            <a:endParaRPr lang="en-US" sz="900" dirty="0"/>
          </a:p>
        </p:txBody>
      </p:sp>
      <p:sp>
        <p:nvSpPr>
          <p:cNvPr id="10" name="Shape 8"/>
          <p:cNvSpPr/>
          <p:nvPr/>
        </p:nvSpPr>
        <p:spPr>
          <a:xfrm>
            <a:off x="548640" y="1828800"/>
            <a:ext cx="3657600" cy="420624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11" name="Shape 9"/>
          <p:cNvSpPr/>
          <p:nvPr/>
        </p:nvSpPr>
        <p:spPr>
          <a:xfrm>
            <a:off x="548640" y="1828800"/>
            <a:ext cx="73152" cy="4206240"/>
          </a:xfrm>
          <a:prstGeom prst="rect">
            <a:avLst/>
          </a:prstGeom>
          <a:solidFill>
            <a:srgbClr val="B45309"/>
          </a:solidFill>
          <a:ln w="12700">
            <a:solidFill>
              <a:srgbClr val="B45309"/>
            </a:solidFill>
            <a:prstDash val="solid"/>
          </a:ln>
        </p:spPr>
        <p:txBody>
          <a:bodyPr/>
          <a:lstStyle/>
          <a:p>
            <a:endParaRPr lang="en-IN"/>
          </a:p>
        </p:txBody>
      </p:sp>
      <p:sp>
        <p:nvSpPr>
          <p:cNvPr id="12" name="Text 10"/>
          <p:cNvSpPr/>
          <p:nvPr/>
        </p:nvSpPr>
        <p:spPr>
          <a:xfrm>
            <a:off x="731520" y="1965960"/>
            <a:ext cx="3383280" cy="320040"/>
          </a:xfrm>
          <a:prstGeom prst="rect">
            <a:avLst/>
          </a:prstGeom>
          <a:noFill/>
          <a:ln/>
        </p:spPr>
        <p:txBody>
          <a:bodyPr wrap="square" lIns="0" tIns="0" rIns="0" bIns="0" rtlCol="0" anchor="ctr"/>
          <a:lstStyle/>
          <a:p>
            <a:pPr marL="0" indent="0">
              <a:buNone/>
            </a:pPr>
            <a:r>
              <a:rPr lang="en-US" sz="1100" b="1" kern="0" spc="300" dirty="0">
                <a:solidFill>
                  <a:srgbClr val="B45309"/>
                </a:solidFill>
                <a:latin typeface="Calibri" pitchFamily="34" charset="0"/>
                <a:ea typeface="Calibri" pitchFamily="34" charset="-122"/>
                <a:cs typeface="Calibri" pitchFamily="34" charset="-120"/>
              </a:rPr>
              <a:t>CHALLENGES</a:t>
            </a:r>
            <a:endParaRPr lang="en-US" sz="1100" dirty="0"/>
          </a:p>
        </p:txBody>
      </p:sp>
      <p:sp>
        <p:nvSpPr>
          <p:cNvPr id="13" name="Text 11"/>
          <p:cNvSpPr/>
          <p:nvPr/>
        </p:nvSpPr>
        <p:spPr>
          <a:xfrm>
            <a:off x="731520" y="2240280"/>
            <a:ext cx="3383280" cy="365760"/>
          </a:xfrm>
          <a:prstGeom prst="rect">
            <a:avLst/>
          </a:prstGeom>
          <a:noFill/>
          <a:ln/>
        </p:spPr>
        <p:txBody>
          <a:bodyPr wrap="square" lIns="0" tIns="0" rIns="0" bIns="0"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Limitations of IAM</a:t>
            </a:r>
            <a:endParaRPr lang="en-US" sz="1600" dirty="0"/>
          </a:p>
        </p:txBody>
      </p:sp>
      <p:sp>
        <p:nvSpPr>
          <p:cNvPr id="14" name="Text 12"/>
          <p:cNvSpPr/>
          <p:nvPr/>
        </p:nvSpPr>
        <p:spPr>
          <a:xfrm>
            <a:off x="777240" y="2697480"/>
            <a:ext cx="3291840" cy="3291840"/>
          </a:xfrm>
          <a:prstGeom prst="rect">
            <a:avLst/>
          </a:prstGeom>
          <a:noFill/>
          <a:ln/>
        </p:spPr>
        <p:txBody>
          <a:bodyPr wrap="square" rtlCol="0" anchor="ctr"/>
          <a:lstStyle/>
          <a:p>
            <a:pPr marL="342900" indent="-342900">
              <a:spcAft>
                <a:spcPts val="600"/>
              </a:spcAft>
              <a:buSzPct val="100000"/>
              <a:buChar char="▪"/>
            </a:pPr>
            <a:r>
              <a:rPr lang="en-US" sz="1200" dirty="0">
                <a:solidFill>
                  <a:srgbClr val="1A202C"/>
                </a:solidFill>
                <a:latin typeface="Calibri" pitchFamily="34" charset="0"/>
                <a:ea typeface="Calibri" pitchFamily="34" charset="-122"/>
                <a:cs typeface="Calibri" pitchFamily="34" charset="-120"/>
              </a:rPr>
              <a:t>Complex policy management</a:t>
            </a:r>
            <a:endParaRPr lang="en-US" sz="1200" dirty="0"/>
          </a:p>
          <a:p>
            <a:pPr marL="342900" indent="-342900">
              <a:spcAft>
                <a:spcPts val="600"/>
              </a:spcAft>
              <a:buSzPct val="100000"/>
              <a:buChar char="▪"/>
            </a:pPr>
            <a:r>
              <a:rPr lang="en-US" sz="1200" dirty="0">
                <a:solidFill>
                  <a:srgbClr val="1A202C"/>
                </a:solidFill>
                <a:latin typeface="Calibri" pitchFamily="34" charset="0"/>
                <a:ea typeface="Calibri" pitchFamily="34" charset="-122"/>
                <a:cs typeface="Calibri" pitchFamily="34" charset="-120"/>
              </a:rPr>
              <a:t>Misconfigured permissions</a:t>
            </a:r>
            <a:endParaRPr lang="en-US" sz="1200" dirty="0"/>
          </a:p>
          <a:p>
            <a:pPr marL="342900" indent="-342900">
              <a:spcAft>
                <a:spcPts val="600"/>
              </a:spcAft>
              <a:buSzPct val="100000"/>
              <a:buChar char="▪"/>
            </a:pPr>
            <a:r>
              <a:rPr lang="en-US" sz="1200" dirty="0">
                <a:solidFill>
                  <a:srgbClr val="1A202C"/>
                </a:solidFill>
                <a:latin typeface="Calibri" pitchFamily="34" charset="0"/>
                <a:ea typeface="Calibri" pitchFamily="34" charset="-122"/>
                <a:cs typeface="Calibri" pitchFamily="34" charset="-120"/>
              </a:rPr>
              <a:t>Vendor lock-in / dependency</a:t>
            </a:r>
            <a:endParaRPr lang="en-US" sz="1200" dirty="0"/>
          </a:p>
          <a:p>
            <a:pPr marL="342900" indent="-342900">
              <a:spcAft>
                <a:spcPts val="600"/>
              </a:spcAft>
              <a:buSzPct val="100000"/>
              <a:buChar char="▪"/>
            </a:pPr>
            <a:r>
              <a:rPr lang="en-US" sz="1200" dirty="0">
                <a:solidFill>
                  <a:srgbClr val="1A202C"/>
                </a:solidFill>
                <a:latin typeface="Calibri" pitchFamily="34" charset="0"/>
                <a:ea typeface="Calibri" pitchFamily="34" charset="-122"/>
                <a:cs typeface="Calibri" pitchFamily="34" charset="-120"/>
              </a:rPr>
              <a:t>Identity-based attacks (phishing, token theft)</a:t>
            </a:r>
            <a:endParaRPr lang="en-US" sz="1200" dirty="0"/>
          </a:p>
          <a:p>
            <a:pPr marL="342900" indent="-342900">
              <a:spcAft>
                <a:spcPts val="600"/>
              </a:spcAft>
              <a:buSzPct val="100000"/>
              <a:buChar char="▪"/>
            </a:pPr>
            <a:r>
              <a:rPr lang="en-US" sz="1200" dirty="0">
                <a:solidFill>
                  <a:srgbClr val="1A202C"/>
                </a:solidFill>
                <a:latin typeface="Calibri" pitchFamily="34" charset="0"/>
                <a:ea typeface="Calibri" pitchFamily="34" charset="-122"/>
                <a:cs typeface="Calibri" pitchFamily="34" charset="-120"/>
              </a:rPr>
              <a:t>Scaling roles across teams</a:t>
            </a:r>
            <a:endParaRPr lang="en-US" sz="1200" dirty="0"/>
          </a:p>
        </p:txBody>
      </p:sp>
      <p:sp>
        <p:nvSpPr>
          <p:cNvPr id="15" name="Shape 13"/>
          <p:cNvSpPr/>
          <p:nvPr/>
        </p:nvSpPr>
        <p:spPr>
          <a:xfrm>
            <a:off x="4343400" y="1828800"/>
            <a:ext cx="3657600" cy="420624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16" name="Shape 14"/>
          <p:cNvSpPr/>
          <p:nvPr/>
        </p:nvSpPr>
        <p:spPr>
          <a:xfrm>
            <a:off x="4343400" y="1828800"/>
            <a:ext cx="73152" cy="4206240"/>
          </a:xfrm>
          <a:prstGeom prst="rect">
            <a:avLst/>
          </a:prstGeom>
          <a:solidFill>
            <a:srgbClr val="7C3AED"/>
          </a:solidFill>
          <a:ln w="12700">
            <a:solidFill>
              <a:srgbClr val="7C3AED"/>
            </a:solidFill>
            <a:prstDash val="solid"/>
          </a:ln>
        </p:spPr>
        <p:txBody>
          <a:bodyPr/>
          <a:lstStyle/>
          <a:p>
            <a:endParaRPr lang="en-IN"/>
          </a:p>
        </p:txBody>
      </p:sp>
      <p:sp>
        <p:nvSpPr>
          <p:cNvPr id="17" name="Text 15"/>
          <p:cNvSpPr/>
          <p:nvPr/>
        </p:nvSpPr>
        <p:spPr>
          <a:xfrm>
            <a:off x="4526280" y="1965960"/>
            <a:ext cx="3383280" cy="320040"/>
          </a:xfrm>
          <a:prstGeom prst="rect">
            <a:avLst/>
          </a:prstGeom>
          <a:noFill/>
          <a:ln/>
        </p:spPr>
        <p:txBody>
          <a:bodyPr wrap="square" lIns="0" tIns="0" rIns="0" bIns="0" rtlCol="0" anchor="ctr"/>
          <a:lstStyle/>
          <a:p>
            <a:pPr marL="0" indent="0">
              <a:buNone/>
            </a:pPr>
            <a:r>
              <a:rPr lang="en-US" sz="1100" b="1" kern="0" spc="300" dirty="0">
                <a:solidFill>
                  <a:srgbClr val="7C3AED"/>
                </a:solidFill>
                <a:latin typeface="Calibri" pitchFamily="34" charset="0"/>
                <a:ea typeface="Calibri" pitchFamily="34" charset="-122"/>
                <a:cs typeface="Calibri" pitchFamily="34" charset="-120"/>
              </a:rPr>
              <a:t>FUTURE SCOPE</a:t>
            </a:r>
            <a:endParaRPr lang="en-US" sz="1100" dirty="0"/>
          </a:p>
        </p:txBody>
      </p:sp>
      <p:sp>
        <p:nvSpPr>
          <p:cNvPr id="18" name="Text 16"/>
          <p:cNvSpPr/>
          <p:nvPr/>
        </p:nvSpPr>
        <p:spPr>
          <a:xfrm>
            <a:off x="4526280" y="2240280"/>
            <a:ext cx="3383280" cy="365760"/>
          </a:xfrm>
          <a:prstGeom prst="rect">
            <a:avLst/>
          </a:prstGeom>
          <a:noFill/>
          <a:ln/>
        </p:spPr>
        <p:txBody>
          <a:bodyPr wrap="square" lIns="0" tIns="0" rIns="0" bIns="0"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Where IAM is heading</a:t>
            </a:r>
            <a:endParaRPr lang="en-US" sz="1600" dirty="0"/>
          </a:p>
        </p:txBody>
      </p:sp>
      <p:sp>
        <p:nvSpPr>
          <p:cNvPr id="19" name="Text 17"/>
          <p:cNvSpPr/>
          <p:nvPr/>
        </p:nvSpPr>
        <p:spPr>
          <a:xfrm>
            <a:off x="4572000" y="2697480"/>
            <a:ext cx="3291840" cy="3291840"/>
          </a:xfrm>
          <a:prstGeom prst="rect">
            <a:avLst/>
          </a:prstGeom>
          <a:noFill/>
          <a:ln/>
        </p:spPr>
        <p:txBody>
          <a:bodyPr wrap="square" rtlCol="0" anchor="ctr"/>
          <a:lstStyle/>
          <a:p>
            <a:pPr marL="342900" indent="-342900">
              <a:spcAft>
                <a:spcPts val="600"/>
              </a:spcAft>
              <a:buSzPct val="100000"/>
              <a:buChar char="▪"/>
            </a:pPr>
            <a:r>
              <a:rPr lang="en-US" sz="1200" dirty="0">
                <a:solidFill>
                  <a:srgbClr val="1A202C"/>
                </a:solidFill>
                <a:latin typeface="Calibri" pitchFamily="34" charset="0"/>
                <a:ea typeface="Calibri" pitchFamily="34" charset="-122"/>
                <a:cs typeface="Calibri" pitchFamily="34" charset="-120"/>
              </a:rPr>
              <a:t>AI-powered identity management</a:t>
            </a:r>
            <a:endParaRPr lang="en-US" sz="1200" dirty="0"/>
          </a:p>
          <a:p>
            <a:pPr marL="342900" indent="-342900">
              <a:spcAft>
                <a:spcPts val="600"/>
              </a:spcAft>
              <a:buSzPct val="100000"/>
              <a:buChar char="▪"/>
            </a:pPr>
            <a:r>
              <a:rPr lang="en-US" sz="1200" dirty="0">
                <a:solidFill>
                  <a:srgbClr val="1A202C"/>
                </a:solidFill>
                <a:latin typeface="Calibri" pitchFamily="34" charset="0"/>
                <a:ea typeface="Calibri" pitchFamily="34" charset="-122"/>
                <a:cs typeface="Calibri" pitchFamily="34" charset="-120"/>
              </a:rPr>
              <a:t>Passwordless authentication</a:t>
            </a:r>
            <a:endParaRPr lang="en-US" sz="1200" dirty="0"/>
          </a:p>
          <a:p>
            <a:pPr marL="342900" indent="-342900">
              <a:spcAft>
                <a:spcPts val="600"/>
              </a:spcAft>
              <a:buSzPct val="100000"/>
              <a:buChar char="▪"/>
            </a:pPr>
            <a:r>
              <a:rPr lang="en-US" sz="1200" dirty="0">
                <a:solidFill>
                  <a:srgbClr val="1A202C"/>
                </a:solidFill>
                <a:latin typeface="Calibri" pitchFamily="34" charset="0"/>
                <a:ea typeface="Calibri" pitchFamily="34" charset="-122"/>
                <a:cs typeface="Calibri" pitchFamily="34" charset="-120"/>
              </a:rPr>
              <a:t>Behavior-based authentication</a:t>
            </a:r>
            <a:endParaRPr lang="en-US" sz="1200" dirty="0"/>
          </a:p>
          <a:p>
            <a:pPr marL="342900" indent="-342900">
              <a:spcAft>
                <a:spcPts val="600"/>
              </a:spcAft>
              <a:buSzPct val="100000"/>
              <a:buChar char="▪"/>
            </a:pPr>
            <a:r>
              <a:rPr lang="en-US" sz="1200" dirty="0">
                <a:solidFill>
                  <a:srgbClr val="1A202C"/>
                </a:solidFill>
                <a:latin typeface="Calibri" pitchFamily="34" charset="0"/>
                <a:ea typeface="Calibri" pitchFamily="34" charset="-122"/>
                <a:cs typeface="Calibri" pitchFamily="34" charset="-120"/>
              </a:rPr>
              <a:t>Zero Trust Architecture</a:t>
            </a:r>
            <a:endParaRPr lang="en-US" sz="1200" dirty="0"/>
          </a:p>
          <a:p>
            <a:pPr marL="342900" indent="-342900">
              <a:spcAft>
                <a:spcPts val="600"/>
              </a:spcAft>
              <a:buSzPct val="100000"/>
              <a:buChar char="▪"/>
            </a:pPr>
            <a:r>
              <a:rPr lang="en-US" sz="1200" dirty="0">
                <a:solidFill>
                  <a:srgbClr val="1A202C"/>
                </a:solidFill>
                <a:latin typeface="Calibri" pitchFamily="34" charset="0"/>
                <a:ea typeface="Calibri" pitchFamily="34" charset="-122"/>
                <a:cs typeface="Calibri" pitchFamily="34" charset="-120"/>
              </a:rPr>
              <a:t>Decentralized identity (blockchain)</a:t>
            </a:r>
            <a:endParaRPr lang="en-US" sz="1200" dirty="0"/>
          </a:p>
          <a:p>
            <a:pPr marL="342900" indent="-342900">
              <a:spcAft>
                <a:spcPts val="600"/>
              </a:spcAft>
              <a:buSzPct val="100000"/>
              <a:buChar char="▪"/>
            </a:pPr>
            <a:r>
              <a:rPr lang="en-US" sz="1200" dirty="0">
                <a:solidFill>
                  <a:srgbClr val="1A202C"/>
                </a:solidFill>
                <a:latin typeface="Calibri" pitchFamily="34" charset="0"/>
                <a:ea typeface="Calibri" pitchFamily="34" charset="-122"/>
                <a:cs typeface="Calibri" pitchFamily="34" charset="-120"/>
              </a:rPr>
              <a:t>Adaptive &amp; continuous authentication</a:t>
            </a:r>
            <a:endParaRPr lang="en-US" sz="1200" dirty="0"/>
          </a:p>
        </p:txBody>
      </p:sp>
      <p:sp>
        <p:nvSpPr>
          <p:cNvPr id="20" name="Shape 18"/>
          <p:cNvSpPr/>
          <p:nvPr/>
        </p:nvSpPr>
        <p:spPr>
          <a:xfrm>
            <a:off x="8138160" y="1828800"/>
            <a:ext cx="3474720" cy="4206240"/>
          </a:xfrm>
          <a:prstGeom prst="rect">
            <a:avLst/>
          </a:prstGeom>
          <a:solidFill>
            <a:srgbClr val="0B2545"/>
          </a:solidFill>
          <a:ln w="12700">
            <a:solidFill>
              <a:srgbClr val="0B2545"/>
            </a:solidFill>
            <a:prstDash val="solid"/>
          </a:ln>
        </p:spPr>
        <p:txBody>
          <a:bodyPr/>
          <a:lstStyle/>
          <a:p>
            <a:endParaRPr lang="en-IN"/>
          </a:p>
        </p:txBody>
      </p:sp>
      <p:sp>
        <p:nvSpPr>
          <p:cNvPr id="21" name="Shape 19"/>
          <p:cNvSpPr/>
          <p:nvPr/>
        </p:nvSpPr>
        <p:spPr>
          <a:xfrm>
            <a:off x="8138160" y="1828800"/>
            <a:ext cx="3474720" cy="73152"/>
          </a:xfrm>
          <a:prstGeom prst="rect">
            <a:avLst/>
          </a:prstGeom>
          <a:solidFill>
            <a:srgbClr val="2E86DE"/>
          </a:solidFill>
          <a:ln w="12700">
            <a:solidFill>
              <a:srgbClr val="2E86DE"/>
            </a:solidFill>
            <a:prstDash val="solid"/>
          </a:ln>
        </p:spPr>
        <p:txBody>
          <a:bodyPr/>
          <a:lstStyle/>
          <a:p>
            <a:endParaRPr lang="en-IN"/>
          </a:p>
        </p:txBody>
      </p:sp>
      <p:sp>
        <p:nvSpPr>
          <p:cNvPr id="22" name="Text 20"/>
          <p:cNvSpPr/>
          <p:nvPr/>
        </p:nvSpPr>
        <p:spPr>
          <a:xfrm>
            <a:off x="8321040" y="1965960"/>
            <a:ext cx="3200400" cy="320040"/>
          </a:xfrm>
          <a:prstGeom prst="rect">
            <a:avLst/>
          </a:prstGeom>
          <a:noFill/>
          <a:ln/>
        </p:spPr>
        <p:txBody>
          <a:bodyPr wrap="square" lIns="0" tIns="0" rIns="0" bIns="0" rtlCol="0" anchor="ctr"/>
          <a:lstStyle/>
          <a:p>
            <a:pPr marL="0" indent="0">
              <a:buNone/>
            </a:pPr>
            <a:r>
              <a:rPr lang="en-US" sz="1100" b="1" kern="0" spc="300" dirty="0">
                <a:solidFill>
                  <a:srgbClr val="2E86DE"/>
                </a:solidFill>
                <a:latin typeface="Calibri" pitchFamily="34" charset="0"/>
                <a:ea typeface="Calibri" pitchFamily="34" charset="-122"/>
                <a:cs typeface="Calibri" pitchFamily="34" charset="-120"/>
              </a:rPr>
              <a:t>CONCLUSION</a:t>
            </a:r>
            <a:endParaRPr lang="en-US" sz="1100" dirty="0"/>
          </a:p>
        </p:txBody>
      </p:sp>
      <p:sp>
        <p:nvSpPr>
          <p:cNvPr id="23" name="Text 21"/>
          <p:cNvSpPr/>
          <p:nvPr/>
        </p:nvSpPr>
        <p:spPr>
          <a:xfrm>
            <a:off x="8321040" y="2240280"/>
            <a:ext cx="32004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Key Takeaways</a:t>
            </a:r>
            <a:endParaRPr lang="en-US" sz="1600" dirty="0"/>
          </a:p>
        </p:txBody>
      </p:sp>
      <p:sp>
        <p:nvSpPr>
          <p:cNvPr id="24" name="Text 22"/>
          <p:cNvSpPr/>
          <p:nvPr/>
        </p:nvSpPr>
        <p:spPr>
          <a:xfrm>
            <a:off x="8366760" y="2697480"/>
            <a:ext cx="3200400" cy="3291840"/>
          </a:xfrm>
          <a:prstGeom prst="rect">
            <a:avLst/>
          </a:prstGeom>
          <a:noFill/>
          <a:ln/>
        </p:spPr>
        <p:txBody>
          <a:bodyPr wrap="square" rtlCol="0" anchor="ctr"/>
          <a:lstStyle/>
          <a:p>
            <a:pPr marL="342900" indent="-342900">
              <a:spcAft>
                <a:spcPts val="600"/>
              </a:spcAft>
              <a:buSzPct val="100000"/>
              <a:buChar char="▪"/>
            </a:pPr>
            <a:r>
              <a:rPr lang="en-US" sz="1200" dirty="0">
                <a:solidFill>
                  <a:srgbClr val="E8F1FB"/>
                </a:solidFill>
                <a:latin typeface="Calibri" pitchFamily="34" charset="0"/>
                <a:ea typeface="Calibri" pitchFamily="34" charset="-122"/>
                <a:cs typeface="Calibri" pitchFamily="34" charset="-120"/>
              </a:rPr>
              <a:t>IAM = right access, right user, right time.</a:t>
            </a:r>
            <a:endParaRPr lang="en-US" sz="1200" dirty="0"/>
          </a:p>
          <a:p>
            <a:pPr marL="342900" indent="-342900">
              <a:spcAft>
                <a:spcPts val="600"/>
              </a:spcAft>
              <a:buSzPct val="100000"/>
              <a:buChar char="▪"/>
            </a:pPr>
            <a:r>
              <a:rPr lang="en-US" sz="1200" dirty="0">
                <a:solidFill>
                  <a:srgbClr val="E8F1FB"/>
                </a:solidFill>
                <a:latin typeface="Calibri" pitchFamily="34" charset="0"/>
                <a:ea typeface="Calibri" pitchFamily="34" charset="-122"/>
                <a:cs typeface="Calibri" pitchFamily="34" charset="-120"/>
              </a:rPr>
              <a:t>Essential for securing cloud resources.</a:t>
            </a:r>
            <a:endParaRPr lang="en-US" sz="1200" dirty="0"/>
          </a:p>
          <a:p>
            <a:pPr marL="342900" indent="-342900">
              <a:spcAft>
                <a:spcPts val="600"/>
              </a:spcAft>
              <a:buSzPct val="100000"/>
              <a:buChar char="▪"/>
            </a:pPr>
            <a:r>
              <a:rPr lang="en-US" sz="1200" dirty="0">
                <a:solidFill>
                  <a:srgbClr val="E8F1FB"/>
                </a:solidFill>
                <a:latin typeface="Calibri" pitchFamily="34" charset="0"/>
                <a:ea typeface="Calibri" pitchFamily="34" charset="-122"/>
                <a:cs typeface="Calibri" pitchFamily="34" charset="-120"/>
              </a:rPr>
              <a:t>Enables compliance &amp; remote work.</a:t>
            </a:r>
            <a:endParaRPr lang="en-US" sz="1200" dirty="0"/>
          </a:p>
          <a:p>
            <a:pPr marL="342900" indent="-342900">
              <a:spcAft>
                <a:spcPts val="600"/>
              </a:spcAft>
              <a:buSzPct val="100000"/>
              <a:buChar char="▪"/>
            </a:pPr>
            <a:r>
              <a:rPr lang="en-US" sz="1200" dirty="0">
                <a:solidFill>
                  <a:srgbClr val="E8F1FB"/>
                </a:solidFill>
                <a:latin typeface="Calibri" pitchFamily="34" charset="0"/>
                <a:ea typeface="Calibri" pitchFamily="34" charset="-122"/>
                <a:cs typeface="Calibri" pitchFamily="34" charset="-120"/>
              </a:rPr>
              <a:t>Adopted by AWS, Azure, GCP, IBM Cloud.</a:t>
            </a:r>
            <a:endParaRPr lang="en-US" sz="1200" dirty="0"/>
          </a:p>
          <a:p>
            <a:pPr marL="342900" indent="-342900">
              <a:spcAft>
                <a:spcPts val="600"/>
              </a:spcAft>
              <a:buSzPct val="100000"/>
              <a:buChar char="▪"/>
            </a:pPr>
            <a:r>
              <a:rPr lang="en-US" sz="1200" dirty="0">
                <a:solidFill>
                  <a:srgbClr val="E8F1FB"/>
                </a:solidFill>
                <a:latin typeface="Calibri" pitchFamily="34" charset="0"/>
                <a:ea typeface="Calibri" pitchFamily="34" charset="-122"/>
                <a:cs typeface="Calibri" pitchFamily="34" charset="-120"/>
              </a:rPr>
              <a:t>Future = passwordless + Zero Trust + AI.</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D"/>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B2545"/>
          </a:solidFill>
          <a:ln w="12700">
            <a:solidFill>
              <a:srgbClr val="0B2545"/>
            </a:solidFill>
            <a:prstDash val="solid"/>
          </a:ln>
        </p:spPr>
        <p:txBody>
          <a:bodyPr/>
          <a:lstStyle/>
          <a:p>
            <a:endParaRPr lang="en-IN"/>
          </a:p>
        </p:txBody>
      </p:sp>
      <p:sp>
        <p:nvSpPr>
          <p:cNvPr id="3" name="Shape 1"/>
          <p:cNvSpPr/>
          <p:nvPr/>
        </p:nvSpPr>
        <p:spPr>
          <a:xfrm>
            <a:off x="0" y="320040"/>
            <a:ext cx="12161520" cy="45720"/>
          </a:xfrm>
          <a:prstGeom prst="rect">
            <a:avLst/>
          </a:prstGeom>
          <a:solidFill>
            <a:srgbClr val="2E86DE"/>
          </a:solidFill>
          <a:ln w="12700">
            <a:solidFill>
              <a:srgbClr val="2E86DE"/>
            </a:solidFill>
            <a:prstDash val="solid"/>
          </a:ln>
        </p:spPr>
        <p:txBody>
          <a:bodyPr/>
          <a:lstStyle/>
          <a:p>
            <a:endParaRPr lang="en-IN"/>
          </a:p>
        </p:txBody>
      </p:sp>
      <p:sp>
        <p:nvSpPr>
          <p:cNvPr id="4" name="Text 2"/>
          <p:cNvSpPr/>
          <p:nvPr/>
        </p:nvSpPr>
        <p:spPr>
          <a:xfrm>
            <a:off x="548640" y="502920"/>
            <a:ext cx="7315200" cy="320040"/>
          </a:xfrm>
          <a:prstGeom prst="rect">
            <a:avLst/>
          </a:prstGeom>
          <a:noFill/>
          <a:ln/>
        </p:spPr>
        <p:txBody>
          <a:bodyPr wrap="square" lIns="0" tIns="0" rIns="0" bIns="0" rtlCol="0" anchor="ctr"/>
          <a:lstStyle/>
          <a:p>
            <a:pPr marL="0" indent="0">
              <a:buNone/>
            </a:pPr>
            <a:r>
              <a:rPr lang="en-US" sz="1100" b="1" kern="0" spc="400" dirty="0">
                <a:solidFill>
                  <a:srgbClr val="2E86DE"/>
                </a:solidFill>
                <a:latin typeface="Calibri" pitchFamily="34" charset="0"/>
                <a:ea typeface="Calibri" pitchFamily="34" charset="-122"/>
                <a:cs typeface="Calibri" pitchFamily="34" charset="-120"/>
              </a:rPr>
              <a:t>BIBLIOGRAPHY</a:t>
            </a:r>
            <a:endParaRPr lang="en-US" sz="1100" dirty="0"/>
          </a:p>
        </p:txBody>
      </p:sp>
      <p:sp>
        <p:nvSpPr>
          <p:cNvPr id="5" name="Text 3"/>
          <p:cNvSpPr/>
          <p:nvPr/>
        </p:nvSpPr>
        <p:spPr>
          <a:xfrm>
            <a:off x="548640" y="777240"/>
            <a:ext cx="10972800" cy="64008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References</a:t>
            </a:r>
            <a:endParaRPr lang="en-US" sz="3000" dirty="0"/>
          </a:p>
        </p:txBody>
      </p:sp>
      <p:sp>
        <p:nvSpPr>
          <p:cNvPr id="6" name="Shape 4"/>
          <p:cNvSpPr/>
          <p:nvPr/>
        </p:nvSpPr>
        <p:spPr>
          <a:xfrm>
            <a:off x="548640" y="1463040"/>
            <a:ext cx="1097280" cy="0"/>
          </a:xfrm>
          <a:prstGeom prst="line">
            <a:avLst/>
          </a:prstGeom>
          <a:noFill/>
          <a:ln w="38100">
            <a:solidFill>
              <a:srgbClr val="2E86DE"/>
            </a:solidFill>
            <a:prstDash val="solid"/>
          </a:ln>
        </p:spPr>
        <p:txBody>
          <a:bodyPr/>
          <a:lstStyle/>
          <a:p>
            <a:endParaRPr lang="en-IN"/>
          </a:p>
        </p:txBody>
      </p:sp>
      <p:sp>
        <p:nvSpPr>
          <p:cNvPr id="7" name="Shape 5"/>
          <p:cNvSpPr/>
          <p:nvPr/>
        </p:nvSpPr>
        <p:spPr>
          <a:xfrm>
            <a:off x="0" y="6583680"/>
            <a:ext cx="12161520" cy="274320"/>
          </a:xfrm>
          <a:prstGeom prst="rect">
            <a:avLst/>
          </a:prstGeom>
          <a:solidFill>
            <a:srgbClr val="0B2545"/>
          </a:solidFill>
          <a:ln w="12700">
            <a:solidFill>
              <a:srgbClr val="0B2545"/>
            </a:solidFill>
            <a:prstDash val="solid"/>
          </a:ln>
        </p:spPr>
        <p:txBody>
          <a:bodyPr/>
          <a:lstStyle/>
          <a:p>
            <a:endParaRPr lang="en-IN"/>
          </a:p>
        </p:txBody>
      </p:sp>
      <p:sp>
        <p:nvSpPr>
          <p:cNvPr id="8" name="Text 6"/>
          <p:cNvSpPr/>
          <p:nvPr/>
        </p:nvSpPr>
        <p:spPr>
          <a:xfrm>
            <a:off x="548640" y="6583680"/>
            <a:ext cx="7315200" cy="27432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IAM in Cloud Environments  •  CSA15</a:t>
            </a:r>
            <a:endParaRPr lang="en-US" sz="900" dirty="0"/>
          </a:p>
        </p:txBody>
      </p:sp>
      <p:sp>
        <p:nvSpPr>
          <p:cNvPr id="9" name="Text 7"/>
          <p:cNvSpPr/>
          <p:nvPr/>
        </p:nvSpPr>
        <p:spPr>
          <a:xfrm>
            <a:off x="10789920" y="6583680"/>
            <a:ext cx="822960" cy="27432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13 / 13</a:t>
            </a:r>
            <a:endParaRPr lang="en-US" sz="900" dirty="0"/>
          </a:p>
        </p:txBody>
      </p:sp>
      <p:sp>
        <p:nvSpPr>
          <p:cNvPr id="10" name="Shape 8"/>
          <p:cNvSpPr/>
          <p:nvPr/>
        </p:nvSpPr>
        <p:spPr>
          <a:xfrm>
            <a:off x="548640" y="1828800"/>
            <a:ext cx="11064240" cy="68580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11" name="Shape 9"/>
          <p:cNvSpPr/>
          <p:nvPr/>
        </p:nvSpPr>
        <p:spPr>
          <a:xfrm>
            <a:off x="777240" y="1984248"/>
            <a:ext cx="365760" cy="365760"/>
          </a:xfrm>
          <a:prstGeom prst="ellipse">
            <a:avLst/>
          </a:prstGeom>
          <a:solidFill>
            <a:srgbClr val="2E86DE"/>
          </a:solidFill>
          <a:ln w="12700">
            <a:solidFill>
              <a:srgbClr val="2E86DE"/>
            </a:solidFill>
            <a:prstDash val="solid"/>
          </a:ln>
        </p:spPr>
        <p:txBody>
          <a:bodyPr/>
          <a:lstStyle/>
          <a:p>
            <a:endParaRPr lang="en-IN"/>
          </a:p>
        </p:txBody>
      </p:sp>
      <p:sp>
        <p:nvSpPr>
          <p:cNvPr id="12" name="Text 10"/>
          <p:cNvSpPr/>
          <p:nvPr/>
        </p:nvSpPr>
        <p:spPr>
          <a:xfrm>
            <a:off x="777240" y="198424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1280160" y="1920240"/>
            <a:ext cx="6400800" cy="50292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AWS IAM Documentation</a:t>
            </a:r>
            <a:endParaRPr lang="en-US" sz="1400" dirty="0"/>
          </a:p>
        </p:txBody>
      </p:sp>
      <p:sp>
        <p:nvSpPr>
          <p:cNvPr id="14" name="Text 12"/>
          <p:cNvSpPr/>
          <p:nvPr/>
        </p:nvSpPr>
        <p:spPr>
          <a:xfrm>
            <a:off x="7680960" y="1920240"/>
            <a:ext cx="3840480" cy="502920"/>
          </a:xfrm>
          <a:prstGeom prst="rect">
            <a:avLst/>
          </a:prstGeom>
          <a:noFill/>
          <a:ln/>
        </p:spPr>
        <p:txBody>
          <a:bodyPr wrap="square" lIns="0" tIns="0" rIns="0" bIns="0" rtlCol="0" anchor="ctr"/>
          <a:lstStyle/>
          <a:p>
            <a:pPr marL="0" indent="0" algn="r">
              <a:buNone/>
            </a:pPr>
            <a:r>
              <a:rPr lang="en-US" sz="1100" i="1" dirty="0">
                <a:solidFill>
                  <a:srgbClr val="4A5568"/>
                </a:solidFill>
                <a:latin typeface="Calibri" pitchFamily="34" charset="0"/>
                <a:ea typeface="Calibri" pitchFamily="34" charset="-122"/>
                <a:cs typeface="Calibri" pitchFamily="34" charset="-120"/>
              </a:rPr>
              <a:t>Amazon Web Services — docs.aws.amazon.com/IAM</a:t>
            </a:r>
            <a:endParaRPr lang="en-US" sz="1100" dirty="0"/>
          </a:p>
        </p:txBody>
      </p:sp>
      <p:sp>
        <p:nvSpPr>
          <p:cNvPr id="15" name="Shape 13"/>
          <p:cNvSpPr/>
          <p:nvPr/>
        </p:nvSpPr>
        <p:spPr>
          <a:xfrm>
            <a:off x="548640" y="2651760"/>
            <a:ext cx="11064240" cy="68580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16" name="Shape 14"/>
          <p:cNvSpPr/>
          <p:nvPr/>
        </p:nvSpPr>
        <p:spPr>
          <a:xfrm>
            <a:off x="777240" y="2807208"/>
            <a:ext cx="365760" cy="365760"/>
          </a:xfrm>
          <a:prstGeom prst="ellipse">
            <a:avLst/>
          </a:prstGeom>
          <a:solidFill>
            <a:srgbClr val="2E86DE"/>
          </a:solidFill>
          <a:ln w="12700">
            <a:solidFill>
              <a:srgbClr val="2E86DE"/>
            </a:solidFill>
            <a:prstDash val="solid"/>
          </a:ln>
        </p:spPr>
        <p:txBody>
          <a:bodyPr/>
          <a:lstStyle/>
          <a:p>
            <a:endParaRPr lang="en-IN"/>
          </a:p>
        </p:txBody>
      </p:sp>
      <p:sp>
        <p:nvSpPr>
          <p:cNvPr id="17" name="Text 15"/>
          <p:cNvSpPr/>
          <p:nvPr/>
        </p:nvSpPr>
        <p:spPr>
          <a:xfrm>
            <a:off x="777240" y="280720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1280160" y="2743200"/>
            <a:ext cx="6400800" cy="50292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Microsoft Entra ID Documentation</a:t>
            </a:r>
            <a:endParaRPr lang="en-US" sz="1400" dirty="0"/>
          </a:p>
        </p:txBody>
      </p:sp>
      <p:sp>
        <p:nvSpPr>
          <p:cNvPr id="19" name="Text 17"/>
          <p:cNvSpPr/>
          <p:nvPr/>
        </p:nvSpPr>
        <p:spPr>
          <a:xfrm>
            <a:off x="7680960" y="2743200"/>
            <a:ext cx="3840480" cy="502920"/>
          </a:xfrm>
          <a:prstGeom prst="rect">
            <a:avLst/>
          </a:prstGeom>
          <a:noFill/>
          <a:ln/>
        </p:spPr>
        <p:txBody>
          <a:bodyPr wrap="square" lIns="0" tIns="0" rIns="0" bIns="0" rtlCol="0" anchor="ctr"/>
          <a:lstStyle/>
          <a:p>
            <a:pPr marL="0" indent="0" algn="r">
              <a:buNone/>
            </a:pPr>
            <a:r>
              <a:rPr lang="en-US" sz="1100" i="1" dirty="0">
                <a:solidFill>
                  <a:srgbClr val="4A5568"/>
                </a:solidFill>
                <a:latin typeface="Calibri" pitchFamily="34" charset="0"/>
                <a:ea typeface="Calibri" pitchFamily="34" charset="-122"/>
                <a:cs typeface="Calibri" pitchFamily="34" charset="-120"/>
              </a:rPr>
              <a:t>Microsoft Learn — learn.microsoft.com/entra</a:t>
            </a:r>
            <a:endParaRPr lang="en-US" sz="1100" dirty="0"/>
          </a:p>
        </p:txBody>
      </p:sp>
      <p:sp>
        <p:nvSpPr>
          <p:cNvPr id="20" name="Shape 18"/>
          <p:cNvSpPr/>
          <p:nvPr/>
        </p:nvSpPr>
        <p:spPr>
          <a:xfrm>
            <a:off x="548640" y="3474720"/>
            <a:ext cx="11064240" cy="68580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21" name="Shape 19"/>
          <p:cNvSpPr/>
          <p:nvPr/>
        </p:nvSpPr>
        <p:spPr>
          <a:xfrm>
            <a:off x="777240" y="3630168"/>
            <a:ext cx="365760" cy="365760"/>
          </a:xfrm>
          <a:prstGeom prst="ellipse">
            <a:avLst/>
          </a:prstGeom>
          <a:solidFill>
            <a:srgbClr val="2E86DE"/>
          </a:solidFill>
          <a:ln w="12700">
            <a:solidFill>
              <a:srgbClr val="2E86DE"/>
            </a:solidFill>
            <a:prstDash val="solid"/>
          </a:ln>
        </p:spPr>
        <p:txBody>
          <a:bodyPr/>
          <a:lstStyle/>
          <a:p>
            <a:endParaRPr lang="en-IN"/>
          </a:p>
        </p:txBody>
      </p:sp>
      <p:sp>
        <p:nvSpPr>
          <p:cNvPr id="22" name="Text 20"/>
          <p:cNvSpPr/>
          <p:nvPr/>
        </p:nvSpPr>
        <p:spPr>
          <a:xfrm>
            <a:off x="777240" y="363016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1280160" y="3566160"/>
            <a:ext cx="6400800" cy="50292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Google Cloud IAM Documentation</a:t>
            </a:r>
            <a:endParaRPr lang="en-US" sz="1400" dirty="0"/>
          </a:p>
        </p:txBody>
      </p:sp>
      <p:sp>
        <p:nvSpPr>
          <p:cNvPr id="24" name="Text 22"/>
          <p:cNvSpPr/>
          <p:nvPr/>
        </p:nvSpPr>
        <p:spPr>
          <a:xfrm>
            <a:off x="7680960" y="3566160"/>
            <a:ext cx="3840480" cy="502920"/>
          </a:xfrm>
          <a:prstGeom prst="rect">
            <a:avLst/>
          </a:prstGeom>
          <a:noFill/>
          <a:ln/>
        </p:spPr>
        <p:txBody>
          <a:bodyPr wrap="square" lIns="0" tIns="0" rIns="0" bIns="0" rtlCol="0" anchor="ctr"/>
          <a:lstStyle/>
          <a:p>
            <a:pPr marL="0" indent="0" algn="r">
              <a:buNone/>
            </a:pPr>
            <a:r>
              <a:rPr lang="en-US" sz="1100" i="1" dirty="0">
                <a:solidFill>
                  <a:srgbClr val="4A5568"/>
                </a:solidFill>
                <a:latin typeface="Calibri" pitchFamily="34" charset="0"/>
                <a:ea typeface="Calibri" pitchFamily="34" charset="-122"/>
                <a:cs typeface="Calibri" pitchFamily="34" charset="-120"/>
              </a:rPr>
              <a:t>Google Cloud — cloud.google.com/iam/docs</a:t>
            </a:r>
            <a:endParaRPr lang="en-US" sz="1100" dirty="0"/>
          </a:p>
        </p:txBody>
      </p:sp>
      <p:sp>
        <p:nvSpPr>
          <p:cNvPr id="25" name="Shape 23"/>
          <p:cNvSpPr/>
          <p:nvPr/>
        </p:nvSpPr>
        <p:spPr>
          <a:xfrm>
            <a:off x="548640" y="4297680"/>
            <a:ext cx="11064240" cy="68580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26" name="Shape 24"/>
          <p:cNvSpPr/>
          <p:nvPr/>
        </p:nvSpPr>
        <p:spPr>
          <a:xfrm>
            <a:off x="777240" y="4453128"/>
            <a:ext cx="365760" cy="365760"/>
          </a:xfrm>
          <a:prstGeom prst="ellipse">
            <a:avLst/>
          </a:prstGeom>
          <a:solidFill>
            <a:srgbClr val="2E86DE"/>
          </a:solidFill>
          <a:ln w="12700">
            <a:solidFill>
              <a:srgbClr val="2E86DE"/>
            </a:solidFill>
            <a:prstDash val="solid"/>
          </a:ln>
        </p:spPr>
        <p:txBody>
          <a:bodyPr/>
          <a:lstStyle/>
          <a:p>
            <a:endParaRPr lang="en-IN"/>
          </a:p>
        </p:txBody>
      </p:sp>
      <p:sp>
        <p:nvSpPr>
          <p:cNvPr id="27" name="Text 25"/>
          <p:cNvSpPr/>
          <p:nvPr/>
        </p:nvSpPr>
        <p:spPr>
          <a:xfrm>
            <a:off x="777240" y="445312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1280160" y="4389120"/>
            <a:ext cx="6400800" cy="50292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IBM Cloud IAM Documentation</a:t>
            </a:r>
            <a:endParaRPr lang="en-US" sz="1400" dirty="0"/>
          </a:p>
        </p:txBody>
      </p:sp>
      <p:sp>
        <p:nvSpPr>
          <p:cNvPr id="29" name="Text 27"/>
          <p:cNvSpPr/>
          <p:nvPr/>
        </p:nvSpPr>
        <p:spPr>
          <a:xfrm>
            <a:off x="7680960" y="4389120"/>
            <a:ext cx="3840480" cy="502920"/>
          </a:xfrm>
          <a:prstGeom prst="rect">
            <a:avLst/>
          </a:prstGeom>
          <a:noFill/>
          <a:ln/>
        </p:spPr>
        <p:txBody>
          <a:bodyPr wrap="square" lIns="0" tIns="0" rIns="0" bIns="0" rtlCol="0" anchor="ctr"/>
          <a:lstStyle/>
          <a:p>
            <a:pPr marL="0" indent="0" algn="r">
              <a:buNone/>
            </a:pPr>
            <a:r>
              <a:rPr lang="en-US" sz="1100" i="1" dirty="0">
                <a:solidFill>
                  <a:srgbClr val="4A5568"/>
                </a:solidFill>
                <a:latin typeface="Calibri" pitchFamily="34" charset="0"/>
                <a:ea typeface="Calibri" pitchFamily="34" charset="-122"/>
                <a:cs typeface="Calibri" pitchFamily="34" charset="-120"/>
              </a:rPr>
              <a:t>IBM Cloud — cloud.ibm.com/docs/account</a:t>
            </a:r>
            <a:endParaRPr lang="en-US" sz="1100" dirty="0"/>
          </a:p>
        </p:txBody>
      </p:sp>
      <p:sp>
        <p:nvSpPr>
          <p:cNvPr id="30" name="Shape 28"/>
          <p:cNvSpPr/>
          <p:nvPr/>
        </p:nvSpPr>
        <p:spPr>
          <a:xfrm>
            <a:off x="548640" y="5120640"/>
            <a:ext cx="11064240" cy="685800"/>
          </a:xfrm>
          <a:prstGeom prst="rect">
            <a:avLst/>
          </a:prstGeom>
          <a:solidFill>
            <a:srgbClr val="FFFFFF"/>
          </a:solidFill>
          <a:ln w="12700">
            <a:solidFill>
              <a:srgbClr val="D8E2EE"/>
            </a:solidFill>
            <a:prstDash val="solid"/>
          </a:ln>
          <a:effectLst>
            <a:outerShdw blurRad="101600" dist="25400" dir="5400000" algn="bl" rotWithShape="0">
              <a:srgbClr val="0B2545">
                <a:alpha val="8000"/>
              </a:srgbClr>
            </a:outerShdw>
          </a:effectLst>
        </p:spPr>
        <p:txBody>
          <a:bodyPr/>
          <a:lstStyle/>
          <a:p>
            <a:endParaRPr lang="en-IN"/>
          </a:p>
        </p:txBody>
      </p:sp>
      <p:sp>
        <p:nvSpPr>
          <p:cNvPr id="31" name="Shape 29"/>
          <p:cNvSpPr/>
          <p:nvPr/>
        </p:nvSpPr>
        <p:spPr>
          <a:xfrm>
            <a:off x="777240" y="5276088"/>
            <a:ext cx="365760" cy="365760"/>
          </a:xfrm>
          <a:prstGeom prst="ellipse">
            <a:avLst/>
          </a:prstGeom>
          <a:solidFill>
            <a:srgbClr val="2E86DE"/>
          </a:solidFill>
          <a:ln w="12700">
            <a:solidFill>
              <a:srgbClr val="2E86DE"/>
            </a:solidFill>
            <a:prstDash val="solid"/>
          </a:ln>
        </p:spPr>
        <p:txBody>
          <a:bodyPr/>
          <a:lstStyle/>
          <a:p>
            <a:endParaRPr lang="en-IN"/>
          </a:p>
        </p:txBody>
      </p:sp>
      <p:sp>
        <p:nvSpPr>
          <p:cNvPr id="32" name="Text 30"/>
          <p:cNvSpPr/>
          <p:nvPr/>
        </p:nvSpPr>
        <p:spPr>
          <a:xfrm>
            <a:off x="777240" y="527608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3" name="Text 31"/>
          <p:cNvSpPr/>
          <p:nvPr/>
        </p:nvSpPr>
        <p:spPr>
          <a:xfrm>
            <a:off x="1280160" y="5212080"/>
            <a:ext cx="6400800" cy="50292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NIST Digital Identity Guidelines</a:t>
            </a:r>
            <a:endParaRPr lang="en-US" sz="1400" dirty="0"/>
          </a:p>
        </p:txBody>
      </p:sp>
      <p:sp>
        <p:nvSpPr>
          <p:cNvPr id="34" name="Text 32"/>
          <p:cNvSpPr/>
          <p:nvPr/>
        </p:nvSpPr>
        <p:spPr>
          <a:xfrm>
            <a:off x="7680960" y="5212080"/>
            <a:ext cx="3840480" cy="502920"/>
          </a:xfrm>
          <a:prstGeom prst="rect">
            <a:avLst/>
          </a:prstGeom>
          <a:noFill/>
          <a:ln/>
        </p:spPr>
        <p:txBody>
          <a:bodyPr wrap="square" lIns="0" tIns="0" rIns="0" bIns="0" rtlCol="0" anchor="ctr"/>
          <a:lstStyle/>
          <a:p>
            <a:pPr marL="0" indent="0" algn="r">
              <a:buNone/>
            </a:pPr>
            <a:r>
              <a:rPr lang="en-US" sz="1100" i="1" dirty="0">
                <a:solidFill>
                  <a:srgbClr val="4A5568"/>
                </a:solidFill>
                <a:latin typeface="Calibri" pitchFamily="34" charset="0"/>
                <a:ea typeface="Calibri" pitchFamily="34" charset="-122"/>
                <a:cs typeface="Calibri" pitchFamily="34" charset="-120"/>
              </a:rPr>
              <a:t>NIST Special Publication 800-63</a:t>
            </a:r>
            <a:endParaRPr lang="en-US" sz="1100" dirty="0"/>
          </a:p>
        </p:txBody>
      </p:sp>
      <p:sp>
        <p:nvSpPr>
          <p:cNvPr id="35" name="Shape 33"/>
          <p:cNvSpPr/>
          <p:nvPr/>
        </p:nvSpPr>
        <p:spPr>
          <a:xfrm>
            <a:off x="548640" y="6126480"/>
            <a:ext cx="11064240" cy="457200"/>
          </a:xfrm>
          <a:prstGeom prst="rect">
            <a:avLst/>
          </a:prstGeom>
          <a:solidFill>
            <a:srgbClr val="0B2545"/>
          </a:solidFill>
          <a:ln w="12700">
            <a:solidFill>
              <a:srgbClr val="0B2545"/>
            </a:solidFill>
            <a:prstDash val="solid"/>
          </a:ln>
        </p:spPr>
        <p:txBody>
          <a:bodyPr/>
          <a:lstStyle/>
          <a:p>
            <a:endParaRPr lang="en-IN"/>
          </a:p>
        </p:txBody>
      </p:sp>
      <p:sp>
        <p:nvSpPr>
          <p:cNvPr id="36" name="Text 34"/>
          <p:cNvSpPr/>
          <p:nvPr/>
        </p:nvSpPr>
        <p:spPr>
          <a:xfrm>
            <a:off x="548640" y="6126480"/>
            <a:ext cx="1106424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Thank you — Questions?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5D0889-3094-8B77-054E-7BC4A87ADC8D}"/>
              </a:ext>
            </a:extLst>
          </p:cNvPr>
          <p:cNvPicPr>
            <a:picLocks noChangeAspect="1"/>
          </p:cNvPicPr>
          <p:nvPr/>
        </p:nvPicPr>
        <p:blipFill>
          <a:blip r:embed="rId2"/>
          <a:stretch>
            <a:fillRect/>
          </a:stretch>
        </p:blipFill>
        <p:spPr>
          <a:xfrm>
            <a:off x="1526857" y="81280"/>
            <a:ext cx="9138285" cy="6614160"/>
          </a:xfrm>
          <a:prstGeom prst="rect">
            <a:avLst/>
          </a:prstGeom>
        </p:spPr>
      </p:pic>
    </p:spTree>
    <p:extLst>
      <p:ext uri="{BB962C8B-B14F-4D97-AF65-F5344CB8AC3E}">
        <p14:creationId xmlns:p14="http://schemas.microsoft.com/office/powerpoint/2010/main" val="19303953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115</TotalTime>
  <Words>1866</Words>
  <Application>Microsoft Office PowerPoint</Application>
  <PresentationFormat>Widescreen</PresentationFormat>
  <Paragraphs>329</Paragraphs>
  <Slides>14</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IAM in Cloud Environments</dc:title>
  <dc:subject>PptxGenJS Presentation</dc:subject>
  <dc:creator>B.Tech CSA15</dc:creator>
  <cp:lastModifiedBy>Kodanda Tarigonda</cp:lastModifiedBy>
  <cp:revision>3</cp:revision>
  <dcterms:created xsi:type="dcterms:W3CDTF">2026-07-20T15:11:27Z</dcterms:created>
  <dcterms:modified xsi:type="dcterms:W3CDTF">2026-07-21T06:28:59Z</dcterms:modified>
</cp:coreProperties>
</file>